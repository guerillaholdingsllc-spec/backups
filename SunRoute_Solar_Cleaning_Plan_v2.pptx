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autoTitleDeleted val="1"/>
    <c:plotArea>
      <c:layout/>
      <c:barChart>
        <c:barDir val="col"/>
        <c:grouping val="clustered"/>
        <c:varyColors val="0"/>
        <c:ser>
          <c:idx val="0"/>
          <c:order val="0"/>
          <c:tx>
            <c:strRef>
              <c:f>Sheet1!$B$1</c:f>
              <c:strCache>
                <c:ptCount val="1"/>
                <c:pt idx="0">
                  <c:v>Gross Revenue</c:v>
                </c:pt>
              </c:strCache>
            </c:strRef>
          </c:tx>
          <c:spPr>
            <a:solidFill>
              <a:srgbClr val="028090"/>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Q1'26</c:v>
                  </c:pt>
                  <c:pt idx="1">
                    <c:v>Q2'26</c:v>
                  </c:pt>
                  <c:pt idx="2">
                    <c:v>Q3'26</c:v>
                  </c:pt>
                  <c:pt idx="3">
                    <c:v>Q4'26</c:v>
                  </c:pt>
                  <c:pt idx="4">
                    <c:v>Q1'27</c:v>
                  </c:pt>
                  <c:pt idx="5">
                    <c:v>Q2'27</c:v>
                  </c:pt>
                  <c:pt idx="6">
                    <c:v>Q3'27</c:v>
                  </c:pt>
                  <c:pt idx="7">
                    <c:v>Q4'27</c:v>
                  </c:pt>
                  <c:pt idx="8">
                    <c:v>Q1'28</c:v>
                  </c:pt>
                  <c:pt idx="9">
                    <c:v>Q2'28</c:v>
                  </c:pt>
                  <c:pt idx="10">
                    <c:v>Q3'28</c:v>
                  </c:pt>
                  <c:pt idx="11">
                    <c:v>Q4'28</c:v>
                  </c:pt>
                </c:lvl>
              </c:multiLvlStrCache>
            </c:multiLvlStrRef>
          </c:cat>
          <c:val>
            <c:numRef>
              <c:f>Sheet1!$B$2:$B$13</c:f>
              <c:numCache>
                <c:formatCode>General</c:formatCode>
                <c:ptCount val="12"/>
                <c:pt idx="0">
                  <c:v>4200</c:v>
                </c:pt>
                <c:pt idx="1">
                  <c:v>8500</c:v>
                </c:pt>
                <c:pt idx="2">
                  <c:v>14000</c:v>
                </c:pt>
                <c:pt idx="3">
                  <c:v>18500</c:v>
                </c:pt>
                <c:pt idx="4">
                  <c:v>22000</c:v>
                </c:pt>
                <c:pt idx="5">
                  <c:v>26000</c:v>
                </c:pt>
                <c:pt idx="6">
                  <c:v>30000</c:v>
                </c:pt>
                <c:pt idx="7">
                  <c:v>36000</c:v>
                </c:pt>
                <c:pt idx="8">
                  <c:v>45000</c:v>
                </c:pt>
                <c:pt idx="9">
                  <c:v>55000</c:v>
                </c:pt>
                <c:pt idx="10">
                  <c:v>68000</c:v>
                </c:pt>
                <c:pt idx="11">
                  <c:v>78000</c:v>
                </c:pt>
              </c:numCache>
            </c:numRef>
          </c:val>
        </c:ser>
        <c:ser>
          <c:idx val="1"/>
          <c:order val="1"/>
          <c:tx>
            <c:strRef>
              <c:f>Sheet1!$C$1</c:f>
              <c:strCache>
                <c:ptCount val="1"/>
                <c:pt idx="0">
                  <c:v>Net Profit</c:v>
                </c:pt>
              </c:strCache>
            </c:strRef>
          </c:tx>
          <c:spPr>
            <a:solidFill>
              <a:srgbClr val="F4B942"/>
            </a:solidFill>
            <a:effectLst/>
          </c:spPr>
          <c:invertIfNegative val="0"/>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cat>
            <c:multiLvlStrRef>
              <c:f>Sheet1!$A$2:$A$13</c:f>
              <c:multiLvlStrCache>
                <c:ptCount val="12"/>
                <c:lvl>
                  <c:pt idx="0">
                    <c:v>Q1'26</c:v>
                  </c:pt>
                  <c:pt idx="1">
                    <c:v>Q2'26</c:v>
                  </c:pt>
                  <c:pt idx="2">
                    <c:v>Q3'26</c:v>
                  </c:pt>
                  <c:pt idx="3">
                    <c:v>Q4'26</c:v>
                  </c:pt>
                  <c:pt idx="4">
                    <c:v>Q1'27</c:v>
                  </c:pt>
                  <c:pt idx="5">
                    <c:v>Q2'27</c:v>
                  </c:pt>
                  <c:pt idx="6">
                    <c:v>Q3'27</c:v>
                  </c:pt>
                  <c:pt idx="7">
                    <c:v>Q4'27</c:v>
                  </c:pt>
                  <c:pt idx="8">
                    <c:v>Q1'28</c:v>
                  </c:pt>
                  <c:pt idx="9">
                    <c:v>Q2'28</c:v>
                  </c:pt>
                  <c:pt idx="10">
                    <c:v>Q3'28</c:v>
                  </c:pt>
                  <c:pt idx="11">
                    <c:v>Q4'28</c:v>
                  </c:pt>
                </c:lvl>
              </c:multiLvlStrCache>
            </c:multiLvlStrRef>
          </c:cat>
          <c:val>
            <c:numRef>
              <c:f>Sheet1!$C$2:$C$13</c:f>
              <c:numCache>
                <c:formatCode>General</c:formatCode>
                <c:ptCount val="12"/>
                <c:pt idx="0">
                  <c:v>1200</c:v>
                </c:pt>
                <c:pt idx="1">
                  <c:v>3800</c:v>
                </c:pt>
                <c:pt idx="2">
                  <c:v>7000</c:v>
                </c:pt>
                <c:pt idx="3">
                  <c:v>9500</c:v>
                </c:pt>
                <c:pt idx="4">
                  <c:v>10500</c:v>
                </c:pt>
                <c:pt idx="5">
                  <c:v>12000</c:v>
                </c:pt>
                <c:pt idx="6">
                  <c:v>14000</c:v>
                </c:pt>
                <c:pt idx="7">
                  <c:v>17000</c:v>
                </c:pt>
                <c:pt idx="8">
                  <c:v>20000</c:v>
                </c:pt>
                <c:pt idx="9">
                  <c:v>25000</c:v>
                </c:pt>
                <c:pt idx="10">
                  <c:v>32000</c:v>
                </c:pt>
                <c:pt idx="11">
                  <c:v>36000</c:v>
                </c:pt>
              </c:numCache>
            </c:numRef>
          </c:val>
        </c:ser>
        <c:dLbls>
          <c:numFmt formatCode="#,##0" sourceLinked="0"/>
          <c:txPr>
            <a:bodyPr/>
            <a:lstStyle/>
            <a:p>
              <a:pPr>
                <a:defRPr b="0" i="0" strike="noStrike" sz="1200" u="none">
                  <a:solidFill>
                    <a:srgbClr val="000000"/>
                  </a:solidFill>
                  <a:latin typeface="Arial"/>
                </a:defRPr>
              </a:pPr>
            </a:p>
          </c:txPr>
          <c:showLegendKey val="0"/>
          <c:showVal val="0"/>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2"/>
        <c:crosses val="autoZero"/>
        <c:auto val="1"/>
        <c:lblAlgn val="ctr"/>
        <c:noMultiLvlLbl val="1"/>
      </c:catAx>
      <c:valAx>
        <c:axId val="2094734552"/>
        <c:scaling>
          <c:orientation val="minMax"/>
        </c:scaling>
        <c:delete val="0"/>
        <c:axPos val="l"/>
        <c:majorGridlines>
          <c:spPr>
            <a:ln w="6350" cap="flat">
              <a:solidFill>
                <a:srgbClr val="E2E8F0"/>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Arial"/>
              </a:defRPr>
            </a:pPr>
            <a:endParaRPr lang="en-US"/>
          </a:p>
        </c:txPr>
        <c:crossAx val="2094734554"/>
        <c:crosses val="autoZero"/>
        <c:crossBetween val="between"/>
      </c:valAx>
      <c:spPr>
        <a:noFill/>
        <a:ln>
          <a:noFill/>
        </a:ln>
        <a:effectLst/>
      </c:spPr>
    </c:plotArea>
    <c:legend>
      <c:legendPos val="t"/>
      <c:overlay val="0"/>
      <c:txPr>
        <a:bodyPr/>
        <a:lstStyle/>
        <a:p>
          <a:pPr>
            <a:defRPr sz="1000">      </a:defRPr>
          </a:pPr>
          <a:endParaRPr lang="en-US"/>
        </a:p>
      </c:txPr>
    </c:legend>
    <c:plotVisOnly val="1"/>
    <c:dispBlanksAs val="span"/>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164592" cy="5143500"/>
          </a:xfrm>
          <a:prstGeom prst="rect">
            <a:avLst/>
          </a:prstGeom>
          <a:solidFill>
            <a:srgbClr val="F4B942"/>
          </a:solidFill>
          <a:ln w="12700">
            <a:solidFill>
              <a:srgbClr val="F4B942"/>
            </a:solidFill>
            <a:prstDash val="solid"/>
          </a:ln>
        </p:spPr>
      </p:sp>
      <p:sp>
        <p:nvSpPr>
          <p:cNvPr id="3" name="Shape 1"/>
          <p:cNvSpPr/>
          <p:nvPr/>
        </p:nvSpPr>
        <p:spPr>
          <a:xfrm>
            <a:off x="6858000" y="-731520"/>
            <a:ext cx="3657600" cy="3657600"/>
          </a:xfrm>
          <a:prstGeom prst="ellipse">
            <a:avLst/>
          </a:prstGeom>
          <a:solidFill>
            <a:srgbClr val="F4B942">
              <a:alpha val="12000"/>
            </a:srgbClr>
          </a:solidFill>
          <a:ln w="12700">
            <a:solidFill>
              <a:srgbClr val="F4B942">
                <a:alpha val="30000"/>
              </a:srgbClr>
            </a:solidFill>
            <a:prstDash val="solid"/>
          </a:ln>
        </p:spPr>
      </p:sp>
      <p:sp>
        <p:nvSpPr>
          <p:cNvPr id="4" name="Shape 2"/>
          <p:cNvSpPr/>
          <p:nvPr/>
        </p:nvSpPr>
        <p:spPr>
          <a:xfrm>
            <a:off x="7406640" y="-182880"/>
            <a:ext cx="2560320" cy="2560320"/>
          </a:xfrm>
          <a:prstGeom prst="ellipse">
            <a:avLst/>
          </a:prstGeom>
          <a:solidFill>
            <a:srgbClr val="F4B942">
              <a:alpha val="24000"/>
            </a:srgbClr>
          </a:solidFill>
          <a:ln w="12700">
            <a:solidFill>
              <a:srgbClr val="F4B942">
                <a:alpha val="42000"/>
              </a:srgbClr>
            </a:solidFill>
            <a:prstDash val="solid"/>
          </a:ln>
        </p:spPr>
      </p:sp>
      <p:sp>
        <p:nvSpPr>
          <p:cNvPr id="5" name="Shape 3"/>
          <p:cNvSpPr/>
          <p:nvPr/>
        </p:nvSpPr>
        <p:spPr>
          <a:xfrm>
            <a:off x="0" y="4846320"/>
            <a:ext cx="9144000" cy="292608"/>
          </a:xfrm>
          <a:prstGeom prst="rect">
            <a:avLst/>
          </a:prstGeom>
          <a:solidFill>
            <a:srgbClr val="028090"/>
          </a:solidFill>
          <a:ln w="12700">
            <a:solidFill>
              <a:srgbClr val="028090"/>
            </a:solidFill>
            <a:prstDash val="solid"/>
          </a:ln>
        </p:spPr>
      </p:sp>
      <p:sp>
        <p:nvSpPr>
          <p:cNvPr id="6" name="Text 4"/>
          <p:cNvSpPr/>
          <p:nvPr/>
        </p:nvSpPr>
        <p:spPr>
          <a:xfrm>
            <a:off x="411480" y="1097280"/>
            <a:ext cx="6400800" cy="365760"/>
          </a:xfrm>
          <a:prstGeom prst="rect">
            <a:avLst/>
          </a:prstGeom>
          <a:noFill/>
          <a:ln/>
        </p:spPr>
        <p:txBody>
          <a:bodyPr wrap="square" lIns="0" tIns="0" rIns="0" bIns="0" rtlCol="0" anchor="ctr"/>
          <a:lstStyle/>
          <a:p>
            <a:pPr indent="0" marL="0">
              <a:buNone/>
            </a:pPr>
            <a:r>
              <a:rPr lang="en-US" sz="1200" b="1" spc="800" kern="0" dirty="0">
                <a:solidFill>
                  <a:srgbClr val="F4B942"/>
                </a:solidFill>
              </a:rPr>
              <a:t>SUNROUTE</a:t>
            </a:r>
            <a:endParaRPr lang="en-US" sz="1200" dirty="0"/>
          </a:p>
        </p:txBody>
      </p:sp>
      <p:sp>
        <p:nvSpPr>
          <p:cNvPr id="7" name="Text 5"/>
          <p:cNvSpPr/>
          <p:nvPr/>
        </p:nvSpPr>
        <p:spPr>
          <a:xfrm>
            <a:off x="411480" y="1508760"/>
            <a:ext cx="8229600" cy="1554480"/>
          </a:xfrm>
          <a:prstGeom prst="rect">
            <a:avLst/>
          </a:prstGeom>
          <a:noFill/>
          <a:ln/>
        </p:spPr>
        <p:txBody>
          <a:bodyPr wrap="square" lIns="0" tIns="0" rIns="0" bIns="0" rtlCol="0" anchor="ctr"/>
          <a:lstStyle/>
          <a:p>
            <a:pPr indent="0" marL="0">
              <a:buNone/>
            </a:pPr>
            <a:r>
              <a:rPr lang="en-US" sz="5000" b="1" dirty="0">
                <a:solidFill>
                  <a:srgbClr val="FFFFFF"/>
                </a:solidFill>
                <a:latin typeface="Calibri" pitchFamily="34" charset="0"/>
                <a:ea typeface="Calibri" pitchFamily="34" charset="-122"/>
                <a:cs typeface="Calibri" pitchFamily="34" charset="-120"/>
              </a:rPr>
              <a:t>Solar Panel</a:t>
            </a:r>
            <a:endParaRPr lang="en-US" sz="5000" dirty="0"/>
          </a:p>
          <a:p>
            <a:pPr indent="0" marL="0">
              <a:buNone/>
            </a:pPr>
            <a:r>
              <a:rPr lang="en-US" sz="5000" b="1" dirty="0">
                <a:solidFill>
                  <a:srgbClr val="FFFFFF"/>
                </a:solidFill>
                <a:latin typeface="Calibri" pitchFamily="34" charset="0"/>
                <a:ea typeface="Calibri" pitchFamily="34" charset="-122"/>
                <a:cs typeface="Calibri" pitchFamily="34" charset="-120"/>
              </a:rPr>
              <a:t>Cleaning Co.</a:t>
            </a:r>
            <a:endParaRPr lang="en-US" sz="5000" dirty="0"/>
          </a:p>
        </p:txBody>
      </p:sp>
      <p:sp>
        <p:nvSpPr>
          <p:cNvPr id="8" name="Text 6"/>
          <p:cNvSpPr/>
          <p:nvPr/>
        </p:nvSpPr>
        <p:spPr>
          <a:xfrm>
            <a:off x="411480" y="3127248"/>
            <a:ext cx="7772400" cy="365760"/>
          </a:xfrm>
          <a:prstGeom prst="rect">
            <a:avLst/>
          </a:prstGeom>
          <a:noFill/>
          <a:ln/>
        </p:spPr>
        <p:txBody>
          <a:bodyPr wrap="square" lIns="0" tIns="0" rIns="0" bIns="0" rtlCol="0" anchor="ctr"/>
          <a:lstStyle/>
          <a:p>
            <a:pPr indent="0" marL="0">
              <a:buNone/>
            </a:pPr>
            <a:r>
              <a:rPr lang="en-US" sz="1500" dirty="0">
                <a:solidFill>
                  <a:srgbClr val="02C39A"/>
                </a:solidFill>
              </a:rPr>
              <a:t>Full Competitive Intelligence + 3-Year Business Plan</a:t>
            </a:r>
            <a:endParaRPr lang="en-US" sz="1500" dirty="0"/>
          </a:p>
        </p:txBody>
      </p:sp>
      <p:sp>
        <p:nvSpPr>
          <p:cNvPr id="9" name="Text 7"/>
          <p:cNvSpPr/>
          <p:nvPr/>
        </p:nvSpPr>
        <p:spPr>
          <a:xfrm>
            <a:off x="411480" y="4462272"/>
            <a:ext cx="8229600" cy="274320"/>
          </a:xfrm>
          <a:prstGeom prst="rect">
            <a:avLst/>
          </a:prstGeom>
          <a:noFill/>
          <a:ln/>
        </p:spPr>
        <p:txBody>
          <a:bodyPr wrap="square" lIns="0" tIns="0" rIns="0" bIns="0" rtlCol="0" anchor="ctr"/>
          <a:lstStyle/>
          <a:p>
            <a:pPr indent="0" marL="0">
              <a:buNone/>
            </a:pPr>
            <a:r>
              <a:rPr lang="en-US" sz="1000" dirty="0">
                <a:solidFill>
                  <a:srgbClr val="94A3B8"/>
                </a:solidFill>
              </a:rPr>
              <a:t>Version 2.0  ·  All local competitors mapped  ·  All gaps identified  ·  Rocklin/Roseville/Lincoln CA  ·  May 2026</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E74C3C"/>
          </a:solidFill>
          <a:ln w="12700">
            <a:solidFill>
              <a:srgbClr val="E74C3C"/>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150" b="1" spc="300" kern="0" dirty="0">
                <a:solidFill>
                  <a:srgbClr val="FFFFFF"/>
                </a:solidFill>
              </a:rPr>
              <a:t>LOCAL COMPETITION INTELLIGENCE — ROCKLIN / ROSEVILLE / SACRAMENTO</a:t>
            </a:r>
            <a:endParaRPr lang="en-US" sz="1150" dirty="0"/>
          </a:p>
        </p:txBody>
      </p:sp>
      <p:sp>
        <p:nvSpPr>
          <p:cNvPr id="4" name="Shape 2"/>
          <p:cNvSpPr/>
          <p:nvPr/>
        </p:nvSpPr>
        <p:spPr>
          <a:xfrm>
            <a:off x="274320" y="749808"/>
            <a:ext cx="8595360" cy="292608"/>
          </a:xfrm>
          <a:prstGeom prst="rect">
            <a:avLst/>
          </a:prstGeom>
          <a:solidFill>
            <a:srgbClr val="0B1F3A"/>
          </a:solidFill>
          <a:ln w="12700">
            <a:solidFill>
              <a:srgbClr val="0B1F3A"/>
            </a:solidFill>
            <a:prstDash val="solid"/>
          </a:ln>
        </p:spPr>
      </p:sp>
      <p:sp>
        <p:nvSpPr>
          <p:cNvPr id="5" name="Text 3"/>
          <p:cNvSpPr/>
          <p:nvPr/>
        </p:nvSpPr>
        <p:spPr>
          <a:xfrm>
            <a:off x="320040" y="768096"/>
            <a:ext cx="1051560" cy="256032"/>
          </a:xfrm>
          <a:prstGeom prst="rect">
            <a:avLst/>
          </a:prstGeom>
          <a:noFill/>
          <a:ln/>
        </p:spPr>
        <p:txBody>
          <a:bodyPr wrap="square" lIns="0" tIns="0" rIns="0" bIns="0" rtlCol="0" anchor="ctr"/>
          <a:lstStyle/>
          <a:p>
            <a:pPr indent="0" marL="0">
              <a:buNone/>
            </a:pPr>
            <a:r>
              <a:rPr lang="en-US" sz="850" b="1" dirty="0">
                <a:solidFill>
                  <a:srgbClr val="FFFFFF"/>
                </a:solidFill>
              </a:rPr>
              <a:t>Competitor</a:t>
            </a:r>
            <a:endParaRPr lang="en-US" sz="850" dirty="0"/>
          </a:p>
        </p:txBody>
      </p:sp>
      <p:sp>
        <p:nvSpPr>
          <p:cNvPr id="6" name="Text 4"/>
          <p:cNvSpPr/>
          <p:nvPr/>
        </p:nvSpPr>
        <p:spPr>
          <a:xfrm>
            <a:off x="1417320" y="768096"/>
            <a:ext cx="777240" cy="256032"/>
          </a:xfrm>
          <a:prstGeom prst="rect">
            <a:avLst/>
          </a:prstGeom>
          <a:noFill/>
          <a:ln/>
        </p:spPr>
        <p:txBody>
          <a:bodyPr wrap="square" lIns="0" tIns="0" rIns="0" bIns="0" rtlCol="0" anchor="ctr"/>
          <a:lstStyle/>
          <a:p>
            <a:pPr indent="0" marL="0">
              <a:buNone/>
            </a:pPr>
            <a:r>
              <a:rPr lang="en-US" sz="850" b="1" dirty="0">
                <a:solidFill>
                  <a:srgbClr val="FFFFFF"/>
                </a:solidFill>
              </a:rPr>
              <a:t>Base</a:t>
            </a:r>
            <a:endParaRPr lang="en-US" sz="850" dirty="0"/>
          </a:p>
        </p:txBody>
      </p:sp>
      <p:sp>
        <p:nvSpPr>
          <p:cNvPr id="7" name="Text 5"/>
          <p:cNvSpPr/>
          <p:nvPr/>
        </p:nvSpPr>
        <p:spPr>
          <a:xfrm>
            <a:off x="2240280" y="768096"/>
            <a:ext cx="3291840" cy="256032"/>
          </a:xfrm>
          <a:prstGeom prst="rect">
            <a:avLst/>
          </a:prstGeom>
          <a:noFill/>
          <a:ln/>
        </p:spPr>
        <p:txBody>
          <a:bodyPr wrap="square" lIns="0" tIns="0" rIns="0" bIns="0" rtlCol="0" anchor="ctr"/>
          <a:lstStyle/>
          <a:p>
            <a:pPr indent="0" marL="0">
              <a:buNone/>
            </a:pPr>
            <a:r>
              <a:rPr lang="en-US" sz="850" b="1" dirty="0">
                <a:solidFill>
                  <a:srgbClr val="FFFFFF"/>
                </a:solidFill>
              </a:rPr>
              <a:t>Strengths</a:t>
            </a:r>
            <a:endParaRPr lang="en-US" sz="850" dirty="0"/>
          </a:p>
        </p:txBody>
      </p:sp>
      <p:sp>
        <p:nvSpPr>
          <p:cNvPr id="8" name="Text 6"/>
          <p:cNvSpPr/>
          <p:nvPr/>
        </p:nvSpPr>
        <p:spPr>
          <a:xfrm>
            <a:off x="5577840" y="768096"/>
            <a:ext cx="2606040" cy="256032"/>
          </a:xfrm>
          <a:prstGeom prst="rect">
            <a:avLst/>
          </a:prstGeom>
          <a:noFill/>
          <a:ln/>
        </p:spPr>
        <p:txBody>
          <a:bodyPr wrap="square" lIns="0" tIns="0" rIns="0" bIns="0" rtlCol="0" anchor="ctr"/>
          <a:lstStyle/>
          <a:p>
            <a:pPr indent="0" marL="0">
              <a:buNone/>
            </a:pPr>
            <a:r>
              <a:rPr lang="en-US" sz="850" b="1" dirty="0">
                <a:solidFill>
                  <a:srgbClr val="FFFFFF"/>
                </a:solidFill>
              </a:rPr>
              <a:t>Weaknesses (Roger's gap)</a:t>
            </a:r>
            <a:endParaRPr lang="en-US" sz="850" dirty="0"/>
          </a:p>
        </p:txBody>
      </p:sp>
      <p:sp>
        <p:nvSpPr>
          <p:cNvPr id="9" name="Text 7"/>
          <p:cNvSpPr/>
          <p:nvPr/>
        </p:nvSpPr>
        <p:spPr>
          <a:xfrm>
            <a:off x="8229600" y="768096"/>
            <a:ext cx="594360" cy="256032"/>
          </a:xfrm>
          <a:prstGeom prst="rect">
            <a:avLst/>
          </a:prstGeom>
          <a:noFill/>
          <a:ln/>
        </p:spPr>
        <p:txBody>
          <a:bodyPr wrap="square" lIns="0" tIns="0" rIns="0" bIns="0" rtlCol="0" anchor="ctr"/>
          <a:lstStyle/>
          <a:p>
            <a:pPr indent="0" marL="0">
              <a:buNone/>
            </a:pPr>
            <a:r>
              <a:rPr lang="en-US" sz="850" b="1" dirty="0">
                <a:solidFill>
                  <a:srgbClr val="FFFFFF"/>
                </a:solidFill>
              </a:rPr>
              <a:t>Threat</a:t>
            </a:r>
            <a:endParaRPr lang="en-US" sz="850" dirty="0"/>
          </a:p>
        </p:txBody>
      </p:sp>
      <p:sp>
        <p:nvSpPr>
          <p:cNvPr id="10" name="Shape 8"/>
          <p:cNvSpPr/>
          <p:nvPr/>
        </p:nvSpPr>
        <p:spPr>
          <a:xfrm>
            <a:off x="274320" y="1078992"/>
            <a:ext cx="8595360" cy="475488"/>
          </a:xfrm>
          <a:prstGeom prst="rect">
            <a:avLst/>
          </a:prstGeom>
          <a:solidFill>
            <a:srgbClr val="FFFFFF"/>
          </a:solidFill>
          <a:ln w="6350">
            <a:solidFill>
              <a:srgbClr val="E2E8F0"/>
            </a:solidFill>
            <a:prstDash val="solid"/>
          </a:ln>
        </p:spPr>
      </p:sp>
      <p:sp>
        <p:nvSpPr>
          <p:cNvPr id="11" name="Text 9"/>
          <p:cNvSpPr/>
          <p:nvPr/>
        </p:nvSpPr>
        <p:spPr>
          <a:xfrm>
            <a:off x="320040" y="1097280"/>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Pure Solar Clean</a:t>
            </a:r>
            <a:endParaRPr lang="en-US" sz="850" dirty="0"/>
          </a:p>
        </p:txBody>
      </p:sp>
      <p:sp>
        <p:nvSpPr>
          <p:cNvPr id="12" name="Text 10"/>
          <p:cNvSpPr/>
          <p:nvPr/>
        </p:nvSpPr>
        <p:spPr>
          <a:xfrm>
            <a:off x="1417320" y="1097280"/>
            <a:ext cx="777240" cy="438912"/>
          </a:xfrm>
          <a:prstGeom prst="rect">
            <a:avLst/>
          </a:prstGeom>
          <a:noFill/>
          <a:ln/>
        </p:spPr>
        <p:txBody>
          <a:bodyPr wrap="square" lIns="0" tIns="0" rIns="0" bIns="0" rtlCol="0" anchor="ctr"/>
          <a:lstStyle/>
          <a:p>
            <a:pPr indent="0" marL="0">
              <a:buNone/>
            </a:pPr>
            <a:r>
              <a:rPr lang="en-US" sz="850" dirty="0">
                <a:solidFill>
                  <a:srgbClr val="334155"/>
                </a:solidFill>
              </a:rPr>
              <a:t>Rocklin</a:t>
            </a:r>
            <a:endParaRPr lang="en-US" sz="850" dirty="0"/>
          </a:p>
        </p:txBody>
      </p:sp>
      <p:sp>
        <p:nvSpPr>
          <p:cNvPr id="13" name="Text 11"/>
          <p:cNvSpPr/>
          <p:nvPr/>
        </p:nvSpPr>
        <p:spPr>
          <a:xfrm>
            <a:off x="2240280" y="1097280"/>
            <a:ext cx="3291840" cy="438912"/>
          </a:xfrm>
          <a:prstGeom prst="rect">
            <a:avLst/>
          </a:prstGeom>
          <a:noFill/>
          <a:ln/>
        </p:spPr>
        <p:txBody>
          <a:bodyPr wrap="square" lIns="0" tIns="0" rIns="0" bIns="0" rtlCol="0" anchor="ctr"/>
          <a:lstStyle/>
          <a:p>
            <a:pPr indent="0" marL="0">
              <a:buNone/>
            </a:pPr>
            <a:r>
              <a:rPr lang="en-US" sz="780" dirty="0">
                <a:solidFill>
                  <a:srgbClr val="334155"/>
                </a:solidFill>
              </a:rPr>
              <a:t>312 reviews, 5★, DI water, bird proofing, gutter add-ons, strong SEO</a:t>
            </a:r>
            <a:endParaRPr lang="en-US" sz="780" dirty="0"/>
          </a:p>
        </p:txBody>
      </p:sp>
      <p:sp>
        <p:nvSpPr>
          <p:cNvPr id="14" name="Text 12"/>
          <p:cNvSpPr/>
          <p:nvPr/>
        </p:nvSpPr>
        <p:spPr>
          <a:xfrm>
            <a:off x="5577840" y="1097280"/>
            <a:ext cx="2606040" cy="438912"/>
          </a:xfrm>
          <a:prstGeom prst="rect">
            <a:avLst/>
          </a:prstGeom>
          <a:noFill/>
          <a:ln/>
        </p:spPr>
        <p:txBody>
          <a:bodyPr wrap="square" lIns="0" tIns="0" rIns="0" bIns="0" rtlCol="0" anchor="ctr"/>
          <a:lstStyle/>
          <a:p>
            <a:pPr indent="0" marL="0">
              <a:buNone/>
            </a:pPr>
            <a:r>
              <a:rPr lang="en-US" sz="780" dirty="0">
                <a:solidFill>
                  <a:srgbClr val="334155"/>
                </a:solidFill>
              </a:rPr>
              <a:t>No subscription model visible · No online booking · Primarily call-in quotes · Not targeting new subdivisions · No HOA contracts listed</a:t>
            </a:r>
            <a:endParaRPr lang="en-US" sz="780" dirty="0"/>
          </a:p>
        </p:txBody>
      </p:sp>
      <p:sp>
        <p:nvSpPr>
          <p:cNvPr id="15" name="Shape 13"/>
          <p:cNvSpPr/>
          <p:nvPr/>
        </p:nvSpPr>
        <p:spPr>
          <a:xfrm>
            <a:off x="8275320" y="1170432"/>
            <a:ext cx="530352" cy="274320"/>
          </a:xfrm>
          <a:prstGeom prst="rect">
            <a:avLst/>
          </a:prstGeom>
          <a:solidFill>
            <a:srgbClr val="E74C3C"/>
          </a:solidFill>
          <a:ln w="12700">
            <a:solidFill>
              <a:srgbClr val="E74C3C"/>
            </a:solidFill>
            <a:prstDash val="solid"/>
          </a:ln>
        </p:spPr>
      </p:sp>
      <p:sp>
        <p:nvSpPr>
          <p:cNvPr id="16" name="Text 14"/>
          <p:cNvSpPr/>
          <p:nvPr/>
        </p:nvSpPr>
        <p:spPr>
          <a:xfrm>
            <a:off x="8275320" y="1170432"/>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HIGH</a:t>
            </a:r>
            <a:endParaRPr lang="en-US" sz="750" dirty="0"/>
          </a:p>
        </p:txBody>
      </p:sp>
      <p:sp>
        <p:nvSpPr>
          <p:cNvPr id="17" name="Shape 15"/>
          <p:cNvSpPr/>
          <p:nvPr/>
        </p:nvSpPr>
        <p:spPr>
          <a:xfrm>
            <a:off x="274320" y="1577340"/>
            <a:ext cx="8595360" cy="475488"/>
          </a:xfrm>
          <a:prstGeom prst="rect">
            <a:avLst/>
          </a:prstGeom>
          <a:solidFill>
            <a:srgbClr val="F7F9FB"/>
          </a:solidFill>
          <a:ln w="6350">
            <a:solidFill>
              <a:srgbClr val="E2E8F0"/>
            </a:solidFill>
            <a:prstDash val="solid"/>
          </a:ln>
        </p:spPr>
      </p:sp>
      <p:sp>
        <p:nvSpPr>
          <p:cNvPr id="18" name="Text 16"/>
          <p:cNvSpPr/>
          <p:nvPr/>
        </p:nvSpPr>
        <p:spPr>
          <a:xfrm>
            <a:off x="320040" y="1595628"/>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Suns Solar Cleaning</a:t>
            </a:r>
            <a:endParaRPr lang="en-US" sz="850" dirty="0"/>
          </a:p>
        </p:txBody>
      </p:sp>
      <p:sp>
        <p:nvSpPr>
          <p:cNvPr id="19" name="Text 17"/>
          <p:cNvSpPr/>
          <p:nvPr/>
        </p:nvSpPr>
        <p:spPr>
          <a:xfrm>
            <a:off x="1417320" y="1595628"/>
            <a:ext cx="777240" cy="438912"/>
          </a:xfrm>
          <a:prstGeom prst="rect">
            <a:avLst/>
          </a:prstGeom>
          <a:noFill/>
          <a:ln/>
        </p:spPr>
        <p:txBody>
          <a:bodyPr wrap="square" lIns="0" tIns="0" rIns="0" bIns="0" rtlCol="0" anchor="ctr"/>
          <a:lstStyle/>
          <a:p>
            <a:pPr indent="0" marL="0">
              <a:buNone/>
            </a:pPr>
            <a:r>
              <a:rPr lang="en-US" sz="850" dirty="0">
                <a:solidFill>
                  <a:srgbClr val="334155"/>
                </a:solidFill>
              </a:rPr>
              <a:t>Rocklin/Sac</a:t>
            </a:r>
            <a:endParaRPr lang="en-US" sz="850" dirty="0"/>
          </a:p>
        </p:txBody>
      </p:sp>
      <p:sp>
        <p:nvSpPr>
          <p:cNvPr id="20" name="Text 18"/>
          <p:cNvSpPr/>
          <p:nvPr/>
        </p:nvSpPr>
        <p:spPr>
          <a:xfrm>
            <a:off x="2240280" y="1595628"/>
            <a:ext cx="3291840" cy="438912"/>
          </a:xfrm>
          <a:prstGeom prst="rect">
            <a:avLst/>
          </a:prstGeom>
          <a:noFill/>
          <a:ln/>
        </p:spPr>
        <p:txBody>
          <a:bodyPr wrap="square" lIns="0" tIns="0" rIns="0" bIns="0" rtlCol="0" anchor="ctr"/>
          <a:lstStyle/>
          <a:p>
            <a:pPr indent="0" marL="0">
              <a:buNone/>
            </a:pPr>
            <a:r>
              <a:rPr lang="en-US" sz="780" dirty="0">
                <a:solidFill>
                  <a:srgbClr val="334155"/>
                </a:solidFill>
              </a:rPr>
              <a:t>Paint overspray removal, pigeon proofing, inspection included, rotating brushes</a:t>
            </a:r>
            <a:endParaRPr lang="en-US" sz="780" dirty="0"/>
          </a:p>
        </p:txBody>
      </p:sp>
      <p:sp>
        <p:nvSpPr>
          <p:cNvPr id="21" name="Text 19"/>
          <p:cNvSpPr/>
          <p:nvPr/>
        </p:nvSpPr>
        <p:spPr>
          <a:xfrm>
            <a:off x="5577840" y="1595628"/>
            <a:ext cx="2606040" cy="438912"/>
          </a:xfrm>
          <a:prstGeom prst="rect">
            <a:avLst/>
          </a:prstGeom>
          <a:noFill/>
          <a:ln/>
        </p:spPr>
        <p:txBody>
          <a:bodyPr wrap="square" lIns="0" tIns="0" rIns="0" bIns="0" rtlCol="0" anchor="ctr"/>
          <a:lstStyle/>
          <a:p>
            <a:pPr indent="0" marL="0">
              <a:buNone/>
            </a:pPr>
            <a:r>
              <a:rPr lang="en-US" sz="780" dirty="0">
                <a:solidFill>
                  <a:srgbClr val="334155"/>
                </a:solidFill>
              </a:rPr>
              <a:t>No subscription model · Quote-only workflow · No AI/automation · Limited neighborhood targeting</a:t>
            </a:r>
            <a:endParaRPr lang="en-US" sz="780" dirty="0"/>
          </a:p>
        </p:txBody>
      </p:sp>
      <p:sp>
        <p:nvSpPr>
          <p:cNvPr id="22" name="Shape 20"/>
          <p:cNvSpPr/>
          <p:nvPr/>
        </p:nvSpPr>
        <p:spPr>
          <a:xfrm>
            <a:off x="8275320" y="1668780"/>
            <a:ext cx="530352" cy="274320"/>
          </a:xfrm>
          <a:prstGeom prst="rect">
            <a:avLst/>
          </a:prstGeom>
          <a:solidFill>
            <a:srgbClr val="E67E22"/>
          </a:solidFill>
          <a:ln w="12700">
            <a:solidFill>
              <a:srgbClr val="E67E22"/>
            </a:solidFill>
            <a:prstDash val="solid"/>
          </a:ln>
        </p:spPr>
      </p:sp>
      <p:sp>
        <p:nvSpPr>
          <p:cNvPr id="23" name="Text 21"/>
          <p:cNvSpPr/>
          <p:nvPr/>
        </p:nvSpPr>
        <p:spPr>
          <a:xfrm>
            <a:off x="8275320" y="1668780"/>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MED</a:t>
            </a:r>
            <a:endParaRPr lang="en-US" sz="750" dirty="0"/>
          </a:p>
        </p:txBody>
      </p:sp>
      <p:sp>
        <p:nvSpPr>
          <p:cNvPr id="24" name="Shape 22"/>
          <p:cNvSpPr/>
          <p:nvPr/>
        </p:nvSpPr>
        <p:spPr>
          <a:xfrm>
            <a:off x="274320" y="2075688"/>
            <a:ext cx="8595360" cy="475488"/>
          </a:xfrm>
          <a:prstGeom prst="rect">
            <a:avLst/>
          </a:prstGeom>
          <a:solidFill>
            <a:srgbClr val="FFFFFF"/>
          </a:solidFill>
          <a:ln w="6350">
            <a:solidFill>
              <a:srgbClr val="E2E8F0"/>
            </a:solidFill>
            <a:prstDash val="solid"/>
          </a:ln>
        </p:spPr>
      </p:sp>
      <p:sp>
        <p:nvSpPr>
          <p:cNvPr id="25" name="Text 23"/>
          <p:cNvSpPr/>
          <p:nvPr/>
        </p:nvSpPr>
        <p:spPr>
          <a:xfrm>
            <a:off x="320040" y="2093976"/>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Bailey Boys Services</a:t>
            </a:r>
            <a:endParaRPr lang="en-US" sz="850" dirty="0"/>
          </a:p>
        </p:txBody>
      </p:sp>
      <p:sp>
        <p:nvSpPr>
          <p:cNvPr id="26" name="Text 24"/>
          <p:cNvSpPr/>
          <p:nvPr/>
        </p:nvSpPr>
        <p:spPr>
          <a:xfrm>
            <a:off x="1417320" y="2093976"/>
            <a:ext cx="777240" cy="438912"/>
          </a:xfrm>
          <a:prstGeom prst="rect">
            <a:avLst/>
          </a:prstGeom>
          <a:noFill/>
          <a:ln/>
        </p:spPr>
        <p:txBody>
          <a:bodyPr wrap="square" lIns="0" tIns="0" rIns="0" bIns="0" rtlCol="0" anchor="ctr"/>
          <a:lstStyle/>
          <a:p>
            <a:pPr indent="0" marL="0">
              <a:buNone/>
            </a:pPr>
            <a:r>
              <a:rPr lang="en-US" sz="850" dirty="0">
                <a:solidFill>
                  <a:srgbClr val="334155"/>
                </a:solidFill>
              </a:rPr>
              <a:t>Sacramento</a:t>
            </a:r>
            <a:endParaRPr lang="en-US" sz="850" dirty="0"/>
          </a:p>
        </p:txBody>
      </p:sp>
      <p:sp>
        <p:nvSpPr>
          <p:cNvPr id="27" name="Text 25"/>
          <p:cNvSpPr/>
          <p:nvPr/>
        </p:nvSpPr>
        <p:spPr>
          <a:xfrm>
            <a:off x="2240280" y="2093976"/>
            <a:ext cx="3291840" cy="438912"/>
          </a:xfrm>
          <a:prstGeom prst="rect">
            <a:avLst/>
          </a:prstGeom>
          <a:noFill/>
          <a:ln/>
        </p:spPr>
        <p:txBody>
          <a:bodyPr wrap="square" lIns="0" tIns="0" rIns="0" bIns="0" rtlCol="0" anchor="ctr"/>
          <a:lstStyle/>
          <a:p>
            <a:pPr indent="0" marL="0">
              <a:buNone/>
            </a:pPr>
            <a:r>
              <a:rPr lang="en-US" sz="780" dirty="0">
                <a:solidFill>
                  <a:srgbClr val="334155"/>
                </a:solidFill>
              </a:rPr>
              <a:t>Since 2005, family-owned, strong reviews, does solar + gutters + roof combo</a:t>
            </a:r>
            <a:endParaRPr lang="en-US" sz="780" dirty="0"/>
          </a:p>
        </p:txBody>
      </p:sp>
      <p:sp>
        <p:nvSpPr>
          <p:cNvPr id="28" name="Text 26"/>
          <p:cNvSpPr/>
          <p:nvPr/>
        </p:nvSpPr>
        <p:spPr>
          <a:xfrm>
            <a:off x="5577840" y="2093976"/>
            <a:ext cx="2606040" cy="438912"/>
          </a:xfrm>
          <a:prstGeom prst="rect">
            <a:avLst/>
          </a:prstGeom>
          <a:noFill/>
          <a:ln/>
        </p:spPr>
        <p:txBody>
          <a:bodyPr wrap="square" lIns="0" tIns="0" rIns="0" bIns="0" rtlCol="0" anchor="ctr"/>
          <a:lstStyle/>
          <a:p>
            <a:pPr indent="0" marL="0">
              <a:buNone/>
            </a:pPr>
            <a:r>
              <a:rPr lang="en-US" sz="780" dirty="0">
                <a:solidFill>
                  <a:srgbClr val="334155"/>
                </a:solidFill>
              </a:rPr>
              <a:t>Solar is a side service — not their core · Older brand, slow digital presence · No new neighborhood strategy</a:t>
            </a:r>
            <a:endParaRPr lang="en-US" sz="780" dirty="0"/>
          </a:p>
        </p:txBody>
      </p:sp>
      <p:sp>
        <p:nvSpPr>
          <p:cNvPr id="29" name="Shape 27"/>
          <p:cNvSpPr/>
          <p:nvPr/>
        </p:nvSpPr>
        <p:spPr>
          <a:xfrm>
            <a:off x="8275320" y="2167128"/>
            <a:ext cx="530352" cy="274320"/>
          </a:xfrm>
          <a:prstGeom prst="rect">
            <a:avLst/>
          </a:prstGeom>
          <a:solidFill>
            <a:srgbClr val="E67E22"/>
          </a:solidFill>
          <a:ln w="12700">
            <a:solidFill>
              <a:srgbClr val="E67E22"/>
            </a:solidFill>
            <a:prstDash val="solid"/>
          </a:ln>
        </p:spPr>
      </p:sp>
      <p:sp>
        <p:nvSpPr>
          <p:cNvPr id="30" name="Text 28"/>
          <p:cNvSpPr/>
          <p:nvPr/>
        </p:nvSpPr>
        <p:spPr>
          <a:xfrm>
            <a:off x="8275320" y="2167128"/>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MED</a:t>
            </a:r>
            <a:endParaRPr lang="en-US" sz="750" dirty="0"/>
          </a:p>
        </p:txBody>
      </p:sp>
      <p:sp>
        <p:nvSpPr>
          <p:cNvPr id="31" name="Shape 29"/>
          <p:cNvSpPr/>
          <p:nvPr/>
        </p:nvSpPr>
        <p:spPr>
          <a:xfrm>
            <a:off x="274320" y="2574036"/>
            <a:ext cx="8595360" cy="475488"/>
          </a:xfrm>
          <a:prstGeom prst="rect">
            <a:avLst/>
          </a:prstGeom>
          <a:solidFill>
            <a:srgbClr val="F7F9FB"/>
          </a:solidFill>
          <a:ln w="6350">
            <a:solidFill>
              <a:srgbClr val="E2E8F0"/>
            </a:solidFill>
            <a:prstDash val="solid"/>
          </a:ln>
        </p:spPr>
      </p:sp>
      <p:sp>
        <p:nvSpPr>
          <p:cNvPr id="32" name="Text 30"/>
          <p:cNvSpPr/>
          <p:nvPr/>
        </p:nvSpPr>
        <p:spPr>
          <a:xfrm>
            <a:off x="320040" y="2592324"/>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Sierra Vista Maintenance</a:t>
            </a:r>
            <a:endParaRPr lang="en-US" sz="850" dirty="0"/>
          </a:p>
        </p:txBody>
      </p:sp>
      <p:sp>
        <p:nvSpPr>
          <p:cNvPr id="33" name="Text 31"/>
          <p:cNvSpPr/>
          <p:nvPr/>
        </p:nvSpPr>
        <p:spPr>
          <a:xfrm>
            <a:off x="1417320" y="2592324"/>
            <a:ext cx="777240" cy="438912"/>
          </a:xfrm>
          <a:prstGeom prst="rect">
            <a:avLst/>
          </a:prstGeom>
          <a:noFill/>
          <a:ln/>
        </p:spPr>
        <p:txBody>
          <a:bodyPr wrap="square" lIns="0" tIns="0" rIns="0" bIns="0" rtlCol="0" anchor="ctr"/>
          <a:lstStyle/>
          <a:p>
            <a:pPr indent="0" marL="0">
              <a:buNone/>
            </a:pPr>
            <a:r>
              <a:rPr lang="en-US" sz="850" dirty="0">
                <a:solidFill>
                  <a:srgbClr val="334155"/>
                </a:solidFill>
              </a:rPr>
              <a:t>Sacramento</a:t>
            </a:r>
            <a:endParaRPr lang="en-US" sz="850" dirty="0"/>
          </a:p>
        </p:txBody>
      </p:sp>
      <p:sp>
        <p:nvSpPr>
          <p:cNvPr id="34" name="Text 32"/>
          <p:cNvSpPr/>
          <p:nvPr/>
        </p:nvSpPr>
        <p:spPr>
          <a:xfrm>
            <a:off x="2240280" y="2592324"/>
            <a:ext cx="3291840" cy="438912"/>
          </a:xfrm>
          <a:prstGeom prst="rect">
            <a:avLst/>
          </a:prstGeom>
          <a:noFill/>
          <a:ln/>
        </p:spPr>
        <p:txBody>
          <a:bodyPr wrap="square" lIns="0" tIns="0" rIns="0" bIns="0" rtlCol="0" anchor="ctr"/>
          <a:lstStyle/>
          <a:p>
            <a:pPr indent="0" marL="0">
              <a:buNone/>
            </a:pPr>
            <a:r>
              <a:rPr lang="en-US" sz="780" dirty="0">
                <a:solidFill>
                  <a:srgbClr val="334155"/>
                </a:solidFill>
              </a:rPr>
              <a:t>Licensed/bonded/insured, since 2010, DI water, panel inspection included</a:t>
            </a:r>
            <a:endParaRPr lang="en-US" sz="780" dirty="0"/>
          </a:p>
        </p:txBody>
      </p:sp>
      <p:sp>
        <p:nvSpPr>
          <p:cNvPr id="35" name="Text 33"/>
          <p:cNvSpPr/>
          <p:nvPr/>
        </p:nvSpPr>
        <p:spPr>
          <a:xfrm>
            <a:off x="5577840" y="2592324"/>
            <a:ext cx="2606040" cy="438912"/>
          </a:xfrm>
          <a:prstGeom prst="rect">
            <a:avLst/>
          </a:prstGeom>
          <a:noFill/>
          <a:ln/>
        </p:spPr>
        <p:txBody>
          <a:bodyPr wrap="square" lIns="0" tIns="0" rIns="0" bIns="0" rtlCol="0" anchor="ctr"/>
          <a:lstStyle/>
          <a:p>
            <a:pPr indent="0" marL="0">
              <a:buNone/>
            </a:pPr>
            <a:r>
              <a:rPr lang="en-US" sz="780" dirty="0">
                <a:solidFill>
                  <a:srgbClr val="334155"/>
                </a:solidFill>
              </a:rPr>
              <a:t>No online booking · Broad service area thins focus · No subscription or recurring contract model</a:t>
            </a:r>
            <a:endParaRPr lang="en-US" sz="780" dirty="0"/>
          </a:p>
        </p:txBody>
      </p:sp>
      <p:sp>
        <p:nvSpPr>
          <p:cNvPr id="36" name="Shape 34"/>
          <p:cNvSpPr/>
          <p:nvPr/>
        </p:nvSpPr>
        <p:spPr>
          <a:xfrm>
            <a:off x="8275320" y="2665476"/>
            <a:ext cx="530352" cy="274320"/>
          </a:xfrm>
          <a:prstGeom prst="rect">
            <a:avLst/>
          </a:prstGeom>
          <a:solidFill>
            <a:srgbClr val="E67E22"/>
          </a:solidFill>
          <a:ln w="12700">
            <a:solidFill>
              <a:srgbClr val="E67E22"/>
            </a:solidFill>
            <a:prstDash val="solid"/>
          </a:ln>
        </p:spPr>
      </p:sp>
      <p:sp>
        <p:nvSpPr>
          <p:cNvPr id="37" name="Text 35"/>
          <p:cNvSpPr/>
          <p:nvPr/>
        </p:nvSpPr>
        <p:spPr>
          <a:xfrm>
            <a:off x="8275320" y="2665476"/>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MED</a:t>
            </a:r>
            <a:endParaRPr lang="en-US" sz="750" dirty="0"/>
          </a:p>
        </p:txBody>
      </p:sp>
      <p:sp>
        <p:nvSpPr>
          <p:cNvPr id="38" name="Shape 36"/>
          <p:cNvSpPr/>
          <p:nvPr/>
        </p:nvSpPr>
        <p:spPr>
          <a:xfrm>
            <a:off x="274320" y="3072384"/>
            <a:ext cx="8595360" cy="475488"/>
          </a:xfrm>
          <a:prstGeom prst="rect">
            <a:avLst/>
          </a:prstGeom>
          <a:solidFill>
            <a:srgbClr val="FFFFFF"/>
          </a:solidFill>
          <a:ln w="6350">
            <a:solidFill>
              <a:srgbClr val="E2E8F0"/>
            </a:solidFill>
            <a:prstDash val="solid"/>
          </a:ln>
        </p:spPr>
      </p:sp>
      <p:sp>
        <p:nvSpPr>
          <p:cNvPr id="39" name="Text 37"/>
          <p:cNvSpPr/>
          <p:nvPr/>
        </p:nvSpPr>
        <p:spPr>
          <a:xfrm>
            <a:off x="320040" y="3090672"/>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NorCal Solar &amp; Gutter</a:t>
            </a:r>
            <a:endParaRPr lang="en-US" sz="850" dirty="0"/>
          </a:p>
        </p:txBody>
      </p:sp>
      <p:sp>
        <p:nvSpPr>
          <p:cNvPr id="40" name="Text 38"/>
          <p:cNvSpPr/>
          <p:nvPr/>
        </p:nvSpPr>
        <p:spPr>
          <a:xfrm>
            <a:off x="1417320" y="3090672"/>
            <a:ext cx="777240" cy="438912"/>
          </a:xfrm>
          <a:prstGeom prst="rect">
            <a:avLst/>
          </a:prstGeom>
          <a:noFill/>
          <a:ln/>
        </p:spPr>
        <p:txBody>
          <a:bodyPr wrap="square" lIns="0" tIns="0" rIns="0" bIns="0" rtlCol="0" anchor="ctr"/>
          <a:lstStyle/>
          <a:p>
            <a:pPr indent="0" marL="0">
              <a:buNone/>
            </a:pPr>
            <a:r>
              <a:rPr lang="en-US" sz="850" dirty="0">
                <a:solidFill>
                  <a:srgbClr val="334155"/>
                </a:solidFill>
              </a:rPr>
              <a:t>Roseville</a:t>
            </a:r>
            <a:endParaRPr lang="en-US" sz="850" dirty="0"/>
          </a:p>
        </p:txBody>
      </p:sp>
      <p:sp>
        <p:nvSpPr>
          <p:cNvPr id="41" name="Text 39"/>
          <p:cNvSpPr/>
          <p:nvPr/>
        </p:nvSpPr>
        <p:spPr>
          <a:xfrm>
            <a:off x="2240280" y="3090672"/>
            <a:ext cx="3291840" cy="438912"/>
          </a:xfrm>
          <a:prstGeom prst="rect">
            <a:avLst/>
          </a:prstGeom>
          <a:noFill/>
          <a:ln/>
        </p:spPr>
        <p:txBody>
          <a:bodyPr wrap="square" lIns="0" tIns="0" rIns="0" bIns="0" rtlCol="0" anchor="ctr"/>
          <a:lstStyle/>
          <a:p>
            <a:pPr indent="0" marL="0">
              <a:buNone/>
            </a:pPr>
            <a:r>
              <a:rPr lang="en-US" sz="780" dirty="0">
                <a:solidFill>
                  <a:srgbClr val="334155"/>
                </a:solidFill>
              </a:rPr>
              <a:t>Roseville-focused, residential + large commercial NorCal coverage</a:t>
            </a:r>
            <a:endParaRPr lang="en-US" sz="780" dirty="0"/>
          </a:p>
        </p:txBody>
      </p:sp>
      <p:sp>
        <p:nvSpPr>
          <p:cNvPr id="42" name="Text 40"/>
          <p:cNvSpPr/>
          <p:nvPr/>
        </p:nvSpPr>
        <p:spPr>
          <a:xfrm>
            <a:off x="5577840" y="3090672"/>
            <a:ext cx="2606040" cy="438912"/>
          </a:xfrm>
          <a:prstGeom prst="rect">
            <a:avLst/>
          </a:prstGeom>
          <a:noFill/>
          <a:ln/>
        </p:spPr>
        <p:txBody>
          <a:bodyPr wrap="square" lIns="0" tIns="0" rIns="0" bIns="0" rtlCol="0" anchor="ctr"/>
          <a:lstStyle/>
          <a:p>
            <a:pPr indent="0" marL="0">
              <a:buNone/>
            </a:pPr>
            <a:r>
              <a:rPr lang="en-US" sz="780" dirty="0">
                <a:solidFill>
                  <a:srgbClr val="334155"/>
                </a:solidFill>
              </a:rPr>
              <a:t>April–November seasonal only · No year-round service · No HOA partnerships · Limited digital</a:t>
            </a:r>
            <a:endParaRPr lang="en-US" sz="780" dirty="0"/>
          </a:p>
        </p:txBody>
      </p:sp>
      <p:sp>
        <p:nvSpPr>
          <p:cNvPr id="43" name="Shape 41"/>
          <p:cNvSpPr/>
          <p:nvPr/>
        </p:nvSpPr>
        <p:spPr>
          <a:xfrm>
            <a:off x="8275320" y="3163824"/>
            <a:ext cx="530352" cy="274320"/>
          </a:xfrm>
          <a:prstGeom prst="rect">
            <a:avLst/>
          </a:prstGeom>
          <a:solidFill>
            <a:srgbClr val="E67E22"/>
          </a:solidFill>
          <a:ln w="12700">
            <a:solidFill>
              <a:srgbClr val="E67E22"/>
            </a:solidFill>
            <a:prstDash val="solid"/>
          </a:ln>
        </p:spPr>
      </p:sp>
      <p:sp>
        <p:nvSpPr>
          <p:cNvPr id="44" name="Text 42"/>
          <p:cNvSpPr/>
          <p:nvPr/>
        </p:nvSpPr>
        <p:spPr>
          <a:xfrm>
            <a:off x="8275320" y="3163824"/>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MED</a:t>
            </a:r>
            <a:endParaRPr lang="en-US" sz="750" dirty="0"/>
          </a:p>
        </p:txBody>
      </p:sp>
      <p:sp>
        <p:nvSpPr>
          <p:cNvPr id="45" name="Shape 43"/>
          <p:cNvSpPr/>
          <p:nvPr/>
        </p:nvSpPr>
        <p:spPr>
          <a:xfrm>
            <a:off x="274320" y="3570732"/>
            <a:ext cx="8595360" cy="475488"/>
          </a:xfrm>
          <a:prstGeom prst="rect">
            <a:avLst/>
          </a:prstGeom>
          <a:solidFill>
            <a:srgbClr val="F7F9FB"/>
          </a:solidFill>
          <a:ln w="6350">
            <a:solidFill>
              <a:srgbClr val="E2E8F0"/>
            </a:solidFill>
            <a:prstDash val="solid"/>
          </a:ln>
        </p:spPr>
      </p:sp>
      <p:sp>
        <p:nvSpPr>
          <p:cNvPr id="46" name="Text 44"/>
          <p:cNvSpPr/>
          <p:nvPr/>
        </p:nvSpPr>
        <p:spPr>
          <a:xfrm>
            <a:off x="320040" y="3589020"/>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Primetime Cleaning</a:t>
            </a:r>
            <a:endParaRPr lang="en-US" sz="850" dirty="0"/>
          </a:p>
        </p:txBody>
      </p:sp>
      <p:sp>
        <p:nvSpPr>
          <p:cNvPr id="47" name="Text 45"/>
          <p:cNvSpPr/>
          <p:nvPr/>
        </p:nvSpPr>
        <p:spPr>
          <a:xfrm>
            <a:off x="1417320" y="3589020"/>
            <a:ext cx="777240" cy="438912"/>
          </a:xfrm>
          <a:prstGeom prst="rect">
            <a:avLst/>
          </a:prstGeom>
          <a:noFill/>
          <a:ln/>
        </p:spPr>
        <p:txBody>
          <a:bodyPr wrap="square" lIns="0" tIns="0" rIns="0" bIns="0" rtlCol="0" anchor="ctr"/>
          <a:lstStyle/>
          <a:p>
            <a:pPr indent="0" marL="0">
              <a:buNone/>
            </a:pPr>
            <a:r>
              <a:rPr lang="en-US" sz="850" dirty="0">
                <a:solidFill>
                  <a:srgbClr val="334155"/>
                </a:solidFill>
              </a:rPr>
              <a:t>Rocklin/Roseville</a:t>
            </a:r>
            <a:endParaRPr lang="en-US" sz="850" dirty="0"/>
          </a:p>
        </p:txBody>
      </p:sp>
      <p:sp>
        <p:nvSpPr>
          <p:cNvPr id="48" name="Text 46"/>
          <p:cNvSpPr/>
          <p:nvPr/>
        </p:nvSpPr>
        <p:spPr>
          <a:xfrm>
            <a:off x="2240280" y="3589020"/>
            <a:ext cx="3291840" cy="438912"/>
          </a:xfrm>
          <a:prstGeom prst="rect">
            <a:avLst/>
          </a:prstGeom>
          <a:noFill/>
          <a:ln/>
        </p:spPr>
        <p:txBody>
          <a:bodyPr wrap="square" lIns="0" tIns="0" rIns="0" bIns="0" rtlCol="0" anchor="ctr"/>
          <a:lstStyle/>
          <a:p>
            <a:pPr indent="0" marL="0">
              <a:buNone/>
            </a:pPr>
            <a:r>
              <a:rPr lang="en-US" sz="780" dirty="0">
                <a:solidFill>
                  <a:srgbClr val="334155"/>
                </a:solidFill>
              </a:rPr>
              <a:t>Top Yelp positioning, price transparent, friendly service, gutter combo</a:t>
            </a:r>
            <a:endParaRPr lang="en-US" sz="780" dirty="0"/>
          </a:p>
        </p:txBody>
      </p:sp>
      <p:sp>
        <p:nvSpPr>
          <p:cNvPr id="49" name="Text 47"/>
          <p:cNvSpPr/>
          <p:nvPr/>
        </p:nvSpPr>
        <p:spPr>
          <a:xfrm>
            <a:off x="5577840" y="3589020"/>
            <a:ext cx="2606040" cy="438912"/>
          </a:xfrm>
          <a:prstGeom prst="rect">
            <a:avLst/>
          </a:prstGeom>
          <a:noFill/>
          <a:ln/>
        </p:spPr>
        <p:txBody>
          <a:bodyPr wrap="square" lIns="0" tIns="0" rIns="0" bIns="0" rtlCol="0" anchor="ctr"/>
          <a:lstStyle/>
          <a:p>
            <a:pPr indent="0" marL="0">
              <a:buNone/>
            </a:pPr>
            <a:r>
              <a:rPr lang="en-US" sz="780" dirty="0">
                <a:solidFill>
                  <a:srgbClr val="334155"/>
                </a:solidFill>
              </a:rPr>
              <a:t>Inconsistent pricing (roof pitch surprises customers) · No dedicated solar focus · No neighborhood route strategy</a:t>
            </a:r>
            <a:endParaRPr lang="en-US" sz="780" dirty="0"/>
          </a:p>
        </p:txBody>
      </p:sp>
      <p:sp>
        <p:nvSpPr>
          <p:cNvPr id="50" name="Shape 48"/>
          <p:cNvSpPr/>
          <p:nvPr/>
        </p:nvSpPr>
        <p:spPr>
          <a:xfrm>
            <a:off x="8275320" y="3662172"/>
            <a:ext cx="530352" cy="274320"/>
          </a:xfrm>
          <a:prstGeom prst="rect">
            <a:avLst/>
          </a:prstGeom>
          <a:solidFill>
            <a:srgbClr val="27AE60"/>
          </a:solidFill>
          <a:ln w="12700">
            <a:solidFill>
              <a:srgbClr val="27AE60"/>
            </a:solidFill>
            <a:prstDash val="solid"/>
          </a:ln>
        </p:spPr>
      </p:sp>
      <p:sp>
        <p:nvSpPr>
          <p:cNvPr id="51" name="Text 49"/>
          <p:cNvSpPr/>
          <p:nvPr/>
        </p:nvSpPr>
        <p:spPr>
          <a:xfrm>
            <a:off x="8275320" y="3662172"/>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LOW-MED</a:t>
            </a:r>
            <a:endParaRPr lang="en-US" sz="750" dirty="0"/>
          </a:p>
        </p:txBody>
      </p:sp>
      <p:sp>
        <p:nvSpPr>
          <p:cNvPr id="52" name="Shape 50"/>
          <p:cNvSpPr/>
          <p:nvPr/>
        </p:nvSpPr>
        <p:spPr>
          <a:xfrm>
            <a:off x="274320" y="4069080"/>
            <a:ext cx="8595360" cy="475488"/>
          </a:xfrm>
          <a:prstGeom prst="rect">
            <a:avLst/>
          </a:prstGeom>
          <a:solidFill>
            <a:srgbClr val="FFFFFF"/>
          </a:solidFill>
          <a:ln w="6350">
            <a:solidFill>
              <a:srgbClr val="E2E8F0"/>
            </a:solidFill>
            <a:prstDash val="solid"/>
          </a:ln>
        </p:spPr>
      </p:sp>
      <p:sp>
        <p:nvSpPr>
          <p:cNvPr id="53" name="Text 51"/>
          <p:cNvSpPr/>
          <p:nvPr/>
        </p:nvSpPr>
        <p:spPr>
          <a:xfrm>
            <a:off x="320040" y="4087368"/>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All One Solar Shine</a:t>
            </a:r>
            <a:endParaRPr lang="en-US" sz="850" dirty="0"/>
          </a:p>
        </p:txBody>
      </p:sp>
      <p:sp>
        <p:nvSpPr>
          <p:cNvPr id="54" name="Text 52"/>
          <p:cNvSpPr/>
          <p:nvPr/>
        </p:nvSpPr>
        <p:spPr>
          <a:xfrm>
            <a:off x="1417320" y="4087368"/>
            <a:ext cx="777240" cy="438912"/>
          </a:xfrm>
          <a:prstGeom prst="rect">
            <a:avLst/>
          </a:prstGeom>
          <a:noFill/>
          <a:ln/>
        </p:spPr>
        <p:txBody>
          <a:bodyPr wrap="square" lIns="0" tIns="0" rIns="0" bIns="0" rtlCol="0" anchor="ctr"/>
          <a:lstStyle/>
          <a:p>
            <a:pPr indent="0" marL="0">
              <a:buNone/>
            </a:pPr>
            <a:r>
              <a:rPr lang="en-US" sz="850" dirty="0">
                <a:solidFill>
                  <a:srgbClr val="334155"/>
                </a:solidFill>
              </a:rPr>
              <a:t>Gilroy/Sacramento</a:t>
            </a:r>
            <a:endParaRPr lang="en-US" sz="850" dirty="0"/>
          </a:p>
        </p:txBody>
      </p:sp>
      <p:sp>
        <p:nvSpPr>
          <p:cNvPr id="55" name="Text 53"/>
          <p:cNvSpPr/>
          <p:nvPr/>
        </p:nvSpPr>
        <p:spPr>
          <a:xfrm>
            <a:off x="2240280" y="4087368"/>
            <a:ext cx="3291840" cy="438912"/>
          </a:xfrm>
          <a:prstGeom prst="rect">
            <a:avLst/>
          </a:prstGeom>
          <a:noFill/>
          <a:ln/>
        </p:spPr>
        <p:txBody>
          <a:bodyPr wrap="square" lIns="0" tIns="0" rIns="0" bIns="0" rtlCol="0" anchor="ctr"/>
          <a:lstStyle/>
          <a:p>
            <a:pPr indent="0" marL="0">
              <a:buNone/>
            </a:pPr>
            <a:r>
              <a:rPr lang="en-US" sz="780" dirty="0">
                <a:solidFill>
                  <a:srgbClr val="334155"/>
                </a:solidFill>
              </a:rPr>
              <a:t>Expanding into Sacramento, bird proofing, commercial, eco-friendly</a:t>
            </a:r>
            <a:endParaRPr lang="en-US" sz="780" dirty="0"/>
          </a:p>
        </p:txBody>
      </p:sp>
      <p:sp>
        <p:nvSpPr>
          <p:cNvPr id="56" name="Text 54"/>
          <p:cNvSpPr/>
          <p:nvPr/>
        </p:nvSpPr>
        <p:spPr>
          <a:xfrm>
            <a:off x="5577840" y="4087368"/>
            <a:ext cx="2606040" cy="438912"/>
          </a:xfrm>
          <a:prstGeom prst="rect">
            <a:avLst/>
          </a:prstGeom>
          <a:noFill/>
          <a:ln/>
        </p:spPr>
        <p:txBody>
          <a:bodyPr wrap="square" lIns="0" tIns="0" rIns="0" bIns="0" rtlCol="0" anchor="ctr"/>
          <a:lstStyle/>
          <a:p>
            <a:pPr indent="0" marL="0">
              <a:buNone/>
            </a:pPr>
            <a:r>
              <a:rPr lang="en-US" sz="780" dirty="0">
                <a:solidFill>
                  <a:srgbClr val="334155"/>
                </a:solidFill>
              </a:rPr>
              <a:t>Based in Gilroy — long drive time, slow response · Not embedded in Rocklin community · No neighborhood targeting</a:t>
            </a:r>
            <a:endParaRPr lang="en-US" sz="780" dirty="0"/>
          </a:p>
        </p:txBody>
      </p:sp>
      <p:sp>
        <p:nvSpPr>
          <p:cNvPr id="57" name="Shape 55"/>
          <p:cNvSpPr/>
          <p:nvPr/>
        </p:nvSpPr>
        <p:spPr>
          <a:xfrm>
            <a:off x="8275320" y="4160520"/>
            <a:ext cx="530352" cy="274320"/>
          </a:xfrm>
          <a:prstGeom prst="rect">
            <a:avLst/>
          </a:prstGeom>
          <a:solidFill>
            <a:srgbClr val="27AE60"/>
          </a:solidFill>
          <a:ln w="12700">
            <a:solidFill>
              <a:srgbClr val="27AE60"/>
            </a:solidFill>
            <a:prstDash val="solid"/>
          </a:ln>
        </p:spPr>
      </p:sp>
      <p:sp>
        <p:nvSpPr>
          <p:cNvPr id="58" name="Text 56"/>
          <p:cNvSpPr/>
          <p:nvPr/>
        </p:nvSpPr>
        <p:spPr>
          <a:xfrm>
            <a:off x="8275320" y="4160520"/>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
        <p:nvSpPr>
          <p:cNvPr id="59" name="Shape 57"/>
          <p:cNvSpPr/>
          <p:nvPr/>
        </p:nvSpPr>
        <p:spPr>
          <a:xfrm>
            <a:off x="274320" y="4567428"/>
            <a:ext cx="8595360" cy="475488"/>
          </a:xfrm>
          <a:prstGeom prst="rect">
            <a:avLst/>
          </a:prstGeom>
          <a:solidFill>
            <a:srgbClr val="F7F9FB"/>
          </a:solidFill>
          <a:ln w="6350">
            <a:solidFill>
              <a:srgbClr val="E2E8F0"/>
            </a:solidFill>
            <a:prstDash val="solid"/>
          </a:ln>
        </p:spPr>
      </p:sp>
      <p:sp>
        <p:nvSpPr>
          <p:cNvPr id="60" name="Text 58"/>
          <p:cNvSpPr/>
          <p:nvPr/>
        </p:nvSpPr>
        <p:spPr>
          <a:xfrm>
            <a:off x="320040" y="4585716"/>
            <a:ext cx="1051560" cy="438912"/>
          </a:xfrm>
          <a:prstGeom prst="rect">
            <a:avLst/>
          </a:prstGeom>
          <a:noFill/>
          <a:ln/>
        </p:spPr>
        <p:txBody>
          <a:bodyPr wrap="square" lIns="0" tIns="0" rIns="0" bIns="0" rtlCol="0" anchor="ctr"/>
          <a:lstStyle/>
          <a:p>
            <a:pPr indent="0" marL="0">
              <a:buNone/>
            </a:pPr>
            <a:r>
              <a:rPr lang="en-US" sz="850" b="1" dirty="0">
                <a:solidFill>
                  <a:srgbClr val="0B1F3A"/>
                </a:solidFill>
              </a:rPr>
              <a:t>Eco Solar Cleaning</a:t>
            </a:r>
            <a:endParaRPr lang="en-US" sz="850" dirty="0"/>
          </a:p>
        </p:txBody>
      </p:sp>
      <p:sp>
        <p:nvSpPr>
          <p:cNvPr id="61" name="Text 59"/>
          <p:cNvSpPr/>
          <p:nvPr/>
        </p:nvSpPr>
        <p:spPr>
          <a:xfrm>
            <a:off x="1417320" y="4585716"/>
            <a:ext cx="777240" cy="438912"/>
          </a:xfrm>
          <a:prstGeom prst="rect">
            <a:avLst/>
          </a:prstGeom>
          <a:noFill/>
          <a:ln/>
        </p:spPr>
        <p:txBody>
          <a:bodyPr wrap="square" lIns="0" tIns="0" rIns="0" bIns="0" rtlCol="0" anchor="ctr"/>
          <a:lstStyle/>
          <a:p>
            <a:pPr indent="0" marL="0">
              <a:buNone/>
            </a:pPr>
            <a:r>
              <a:rPr lang="en-US" sz="850" dirty="0">
                <a:solidFill>
                  <a:srgbClr val="334155"/>
                </a:solidFill>
              </a:rPr>
              <a:t>Sacramento</a:t>
            </a:r>
            <a:endParaRPr lang="en-US" sz="850" dirty="0"/>
          </a:p>
        </p:txBody>
      </p:sp>
      <p:sp>
        <p:nvSpPr>
          <p:cNvPr id="62" name="Text 60"/>
          <p:cNvSpPr/>
          <p:nvPr/>
        </p:nvSpPr>
        <p:spPr>
          <a:xfrm>
            <a:off x="2240280" y="4585716"/>
            <a:ext cx="3291840" cy="438912"/>
          </a:xfrm>
          <a:prstGeom prst="rect">
            <a:avLst/>
          </a:prstGeom>
          <a:noFill/>
          <a:ln/>
        </p:spPr>
        <p:txBody>
          <a:bodyPr wrap="square" lIns="0" tIns="0" rIns="0" bIns="0" rtlCol="0" anchor="ctr"/>
          <a:lstStyle/>
          <a:p>
            <a:pPr indent="0" marL="0">
              <a:buNone/>
            </a:pPr>
            <a:r>
              <a:rPr lang="en-US" sz="780" dirty="0">
                <a:solidFill>
                  <a:srgbClr val="334155"/>
                </a:solidFill>
              </a:rPr>
              <a:t>Decade of solar industry experience, pest exclusion, residential + commercial</a:t>
            </a:r>
            <a:endParaRPr lang="en-US" sz="780" dirty="0"/>
          </a:p>
        </p:txBody>
      </p:sp>
      <p:sp>
        <p:nvSpPr>
          <p:cNvPr id="63" name="Text 61"/>
          <p:cNvSpPr/>
          <p:nvPr/>
        </p:nvSpPr>
        <p:spPr>
          <a:xfrm>
            <a:off x="5577840" y="4585716"/>
            <a:ext cx="2606040" cy="438912"/>
          </a:xfrm>
          <a:prstGeom prst="rect">
            <a:avLst/>
          </a:prstGeom>
          <a:noFill/>
          <a:ln/>
        </p:spPr>
        <p:txBody>
          <a:bodyPr wrap="square" lIns="0" tIns="0" rIns="0" bIns="0" rtlCol="0" anchor="ctr"/>
          <a:lstStyle/>
          <a:p>
            <a:pPr indent="0" marL="0">
              <a:buNone/>
            </a:pPr>
            <a:r>
              <a:rPr lang="en-US" sz="780" dirty="0">
                <a:solidFill>
                  <a:srgbClr val="334155"/>
                </a:solidFill>
              </a:rPr>
              <a:t>No visible online booking · No subscription model · No AI or automation advantage</a:t>
            </a:r>
            <a:endParaRPr lang="en-US" sz="780" dirty="0"/>
          </a:p>
        </p:txBody>
      </p:sp>
      <p:sp>
        <p:nvSpPr>
          <p:cNvPr id="64" name="Shape 62"/>
          <p:cNvSpPr/>
          <p:nvPr/>
        </p:nvSpPr>
        <p:spPr>
          <a:xfrm>
            <a:off x="8275320" y="4658868"/>
            <a:ext cx="530352" cy="274320"/>
          </a:xfrm>
          <a:prstGeom prst="rect">
            <a:avLst/>
          </a:prstGeom>
          <a:solidFill>
            <a:srgbClr val="27AE60"/>
          </a:solidFill>
          <a:ln w="12700">
            <a:solidFill>
              <a:srgbClr val="27AE60"/>
            </a:solidFill>
            <a:prstDash val="solid"/>
          </a:ln>
        </p:spPr>
      </p:sp>
      <p:sp>
        <p:nvSpPr>
          <p:cNvPr id="65" name="Text 63"/>
          <p:cNvSpPr/>
          <p:nvPr/>
        </p:nvSpPr>
        <p:spPr>
          <a:xfrm>
            <a:off x="8275320" y="4658868"/>
            <a:ext cx="530352" cy="274320"/>
          </a:xfrm>
          <a:prstGeom prst="rect">
            <a:avLst/>
          </a:prstGeom>
          <a:noFill/>
          <a:ln/>
        </p:spPr>
        <p:txBody>
          <a:bodyPr wrap="square" lIns="0" tIns="0" rIns="0" bIns="0" rtlCol="0" anchor="ctr"/>
          <a:lstStyle/>
          <a:p>
            <a:pPr algn="ctr" indent="0" marL="0">
              <a:buNone/>
            </a:pPr>
            <a:r>
              <a:rPr lang="en-US" sz="750" b="1" dirty="0">
                <a:solidFill>
                  <a:srgbClr val="FFFFFF"/>
                </a:solidFill>
              </a:rPr>
              <a:t>LOW</a:t>
            </a:r>
            <a:endParaRPr lang="en-US" sz="7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200" b="1" spc="300" kern="0" dirty="0">
                <a:solidFill>
                  <a:srgbClr val="F4B942"/>
                </a:solidFill>
              </a:rPr>
              <a:t>GAP ANALYSIS — WHAT COMPETITORS ARE MISSING &amp; ROGER OWNS</a:t>
            </a:r>
            <a:endParaRPr lang="en-US" sz="1200" dirty="0"/>
          </a:p>
        </p:txBody>
      </p:sp>
      <p:sp>
        <p:nvSpPr>
          <p:cNvPr id="4" name="Shape 2"/>
          <p:cNvSpPr/>
          <p:nvPr/>
        </p:nvSpPr>
        <p:spPr>
          <a:xfrm>
            <a:off x="274320" y="777240"/>
            <a:ext cx="8595360" cy="658368"/>
          </a:xfrm>
          <a:prstGeom prst="rect">
            <a:avLst/>
          </a:prstGeom>
          <a:solidFill>
            <a:srgbClr val="FFFFFF"/>
          </a:solidFill>
          <a:ln w="6350">
            <a:solidFill>
              <a:srgbClr val="E2E8F0"/>
            </a:solidFill>
            <a:prstDash val="solid"/>
          </a:ln>
        </p:spPr>
      </p:sp>
      <p:sp>
        <p:nvSpPr>
          <p:cNvPr id="5" name="Shape 3"/>
          <p:cNvSpPr/>
          <p:nvPr/>
        </p:nvSpPr>
        <p:spPr>
          <a:xfrm>
            <a:off x="274320" y="777240"/>
            <a:ext cx="91440" cy="658368"/>
          </a:xfrm>
          <a:prstGeom prst="rect">
            <a:avLst/>
          </a:prstGeom>
          <a:solidFill>
            <a:srgbClr val="F4B942"/>
          </a:solidFill>
          <a:ln w="12700">
            <a:solidFill>
              <a:srgbClr val="F4B942"/>
            </a:solidFill>
            <a:prstDash val="solid"/>
          </a:ln>
        </p:spPr>
      </p:sp>
      <p:sp>
        <p:nvSpPr>
          <p:cNvPr id="6" name="Shape 4"/>
          <p:cNvSpPr/>
          <p:nvPr/>
        </p:nvSpPr>
        <p:spPr>
          <a:xfrm>
            <a:off x="274320" y="777240"/>
            <a:ext cx="2103120" cy="658368"/>
          </a:xfrm>
          <a:prstGeom prst="rect">
            <a:avLst/>
          </a:prstGeom>
          <a:solidFill>
            <a:srgbClr val="FFFBF0"/>
          </a:solidFill>
          <a:ln w="6350">
            <a:solidFill>
              <a:srgbClr val="E2E8F0"/>
            </a:solidFill>
            <a:prstDash val="solid"/>
          </a:ln>
        </p:spPr>
      </p:sp>
      <p:sp>
        <p:nvSpPr>
          <p:cNvPr id="7" name="Text 5"/>
          <p:cNvSpPr/>
          <p:nvPr/>
        </p:nvSpPr>
        <p:spPr>
          <a:xfrm>
            <a:off x="411480" y="850392"/>
            <a:ext cx="1920240" cy="502920"/>
          </a:xfrm>
          <a:prstGeom prst="rect">
            <a:avLst/>
          </a:prstGeom>
          <a:noFill/>
          <a:ln/>
        </p:spPr>
        <p:txBody>
          <a:bodyPr wrap="square" lIns="0" tIns="0" rIns="0" bIns="0" rtlCol="0" anchor="t"/>
          <a:lstStyle/>
          <a:p>
            <a:pPr indent="0" marL="0">
              <a:buNone/>
            </a:pPr>
            <a:r>
              <a:rPr lang="en-US" sz="1000" b="1" dirty="0">
                <a:solidFill>
                  <a:srgbClr val="0B1F3A"/>
                </a:solidFill>
              </a:rPr>
              <a:t>No one has a subscription model</a:t>
            </a:r>
            <a:endParaRPr lang="en-US" sz="1000" dirty="0"/>
          </a:p>
        </p:txBody>
      </p:sp>
      <p:sp>
        <p:nvSpPr>
          <p:cNvPr id="8" name="Text 6"/>
          <p:cNvSpPr/>
          <p:nvPr/>
        </p:nvSpPr>
        <p:spPr>
          <a:xfrm>
            <a:off x="2423160" y="813816"/>
            <a:ext cx="4114800" cy="585216"/>
          </a:xfrm>
          <a:prstGeom prst="rect">
            <a:avLst/>
          </a:prstGeom>
          <a:noFill/>
          <a:ln/>
        </p:spPr>
        <p:txBody>
          <a:bodyPr wrap="square" lIns="0" tIns="0" rIns="0" bIns="0" rtlCol="0" anchor="t"/>
          <a:lstStyle/>
          <a:p>
            <a:pPr indent="0" marL="0">
              <a:buNone/>
            </a:pPr>
            <a:r>
              <a:rPr lang="en-US" sz="900" dirty="0">
                <a:solidFill>
                  <a:srgbClr val="334155"/>
                </a:solidFill>
              </a:rPr>
              <a:t>ZERO competitors offer a bi-annual or quarterly recurring plan. Every player is transactional — one-time quotes. Roger introduces the first subscription in the Rocklin market and locks recurring revenue competitors can't touch.</a:t>
            </a:r>
            <a:endParaRPr lang="en-US" sz="900" dirty="0"/>
          </a:p>
        </p:txBody>
      </p:sp>
      <p:sp>
        <p:nvSpPr>
          <p:cNvPr id="9" name="Shape 7"/>
          <p:cNvSpPr/>
          <p:nvPr/>
        </p:nvSpPr>
        <p:spPr>
          <a:xfrm>
            <a:off x="6583680" y="777240"/>
            <a:ext cx="2286000" cy="658368"/>
          </a:xfrm>
          <a:prstGeom prst="rect">
            <a:avLst/>
          </a:prstGeom>
          <a:solidFill>
            <a:srgbClr val="EAF9F0"/>
          </a:solidFill>
          <a:ln w="6350">
            <a:solidFill>
              <a:srgbClr val="E2E8F0"/>
            </a:solidFill>
            <a:prstDash val="solid"/>
          </a:ln>
        </p:spPr>
      </p:sp>
      <p:sp>
        <p:nvSpPr>
          <p:cNvPr id="10" name="Text 8"/>
          <p:cNvSpPr/>
          <p:nvPr/>
        </p:nvSpPr>
        <p:spPr>
          <a:xfrm>
            <a:off x="6629400" y="850392"/>
            <a:ext cx="2176272" cy="512064"/>
          </a:xfrm>
          <a:prstGeom prst="rect">
            <a:avLst/>
          </a:prstGeom>
          <a:noFill/>
          <a:ln/>
        </p:spPr>
        <p:txBody>
          <a:bodyPr wrap="square" lIns="0" tIns="0" rIns="0" bIns="0" rtlCol="0" anchor="t"/>
          <a:lstStyle/>
          <a:p>
            <a:pPr indent="0" marL="0">
              <a:buNone/>
            </a:pPr>
            <a:r>
              <a:rPr lang="en-US" sz="850" b="1" dirty="0">
                <a:solidFill>
                  <a:srgbClr val="1A6B3C"/>
                </a:solidFill>
              </a:rPr>
              <a:t>$99–120/yr per home × 200 homes = $19,800–24,000 ARR locked by Month 8</a:t>
            </a:r>
            <a:endParaRPr lang="en-US" sz="850" dirty="0"/>
          </a:p>
        </p:txBody>
      </p:sp>
      <p:sp>
        <p:nvSpPr>
          <p:cNvPr id="11" name="Shape 9"/>
          <p:cNvSpPr/>
          <p:nvPr/>
        </p:nvSpPr>
        <p:spPr>
          <a:xfrm>
            <a:off x="274320" y="1490472"/>
            <a:ext cx="8595360" cy="658368"/>
          </a:xfrm>
          <a:prstGeom prst="rect">
            <a:avLst/>
          </a:prstGeom>
          <a:solidFill>
            <a:srgbClr val="FFFFFF"/>
          </a:solidFill>
          <a:ln w="6350">
            <a:solidFill>
              <a:srgbClr val="E2E8F0"/>
            </a:solidFill>
            <a:prstDash val="solid"/>
          </a:ln>
        </p:spPr>
      </p:sp>
      <p:sp>
        <p:nvSpPr>
          <p:cNvPr id="12" name="Shape 10"/>
          <p:cNvSpPr/>
          <p:nvPr/>
        </p:nvSpPr>
        <p:spPr>
          <a:xfrm>
            <a:off x="274320" y="1490472"/>
            <a:ext cx="91440" cy="658368"/>
          </a:xfrm>
          <a:prstGeom prst="rect">
            <a:avLst/>
          </a:prstGeom>
          <a:solidFill>
            <a:srgbClr val="F4B942"/>
          </a:solidFill>
          <a:ln w="12700">
            <a:solidFill>
              <a:srgbClr val="F4B942"/>
            </a:solidFill>
            <a:prstDash val="solid"/>
          </a:ln>
        </p:spPr>
      </p:sp>
      <p:sp>
        <p:nvSpPr>
          <p:cNvPr id="13" name="Shape 11"/>
          <p:cNvSpPr/>
          <p:nvPr/>
        </p:nvSpPr>
        <p:spPr>
          <a:xfrm>
            <a:off x="274320" y="1490472"/>
            <a:ext cx="2103120" cy="658368"/>
          </a:xfrm>
          <a:prstGeom prst="rect">
            <a:avLst/>
          </a:prstGeom>
          <a:solidFill>
            <a:srgbClr val="FFFBF0"/>
          </a:solidFill>
          <a:ln w="6350">
            <a:solidFill>
              <a:srgbClr val="E2E8F0"/>
            </a:solidFill>
            <a:prstDash val="solid"/>
          </a:ln>
        </p:spPr>
      </p:sp>
      <p:sp>
        <p:nvSpPr>
          <p:cNvPr id="14" name="Text 12"/>
          <p:cNvSpPr/>
          <p:nvPr/>
        </p:nvSpPr>
        <p:spPr>
          <a:xfrm>
            <a:off x="411480" y="1563624"/>
            <a:ext cx="1920240" cy="502920"/>
          </a:xfrm>
          <a:prstGeom prst="rect">
            <a:avLst/>
          </a:prstGeom>
          <a:noFill/>
          <a:ln/>
        </p:spPr>
        <p:txBody>
          <a:bodyPr wrap="square" lIns="0" tIns="0" rIns="0" bIns="0" rtlCol="0" anchor="t"/>
          <a:lstStyle/>
          <a:p>
            <a:pPr indent="0" marL="0">
              <a:buNone/>
            </a:pPr>
            <a:r>
              <a:rPr lang="en-US" sz="1000" b="1" dirty="0">
                <a:solidFill>
                  <a:srgbClr val="0B1F3A"/>
                </a:solidFill>
              </a:rPr>
              <a:t>No competitor targets new subdivisions</a:t>
            </a:r>
            <a:endParaRPr lang="en-US" sz="1000" dirty="0"/>
          </a:p>
        </p:txBody>
      </p:sp>
      <p:sp>
        <p:nvSpPr>
          <p:cNvPr id="15" name="Text 13"/>
          <p:cNvSpPr/>
          <p:nvPr/>
        </p:nvSpPr>
        <p:spPr>
          <a:xfrm>
            <a:off x="2423160" y="1527048"/>
            <a:ext cx="4114800" cy="585216"/>
          </a:xfrm>
          <a:prstGeom prst="rect">
            <a:avLst/>
          </a:prstGeom>
          <a:noFill/>
          <a:ln/>
        </p:spPr>
        <p:txBody>
          <a:bodyPr wrap="square" lIns="0" tIns="0" rIns="0" bIns="0" rtlCol="0" anchor="t"/>
          <a:lstStyle/>
          <a:p>
            <a:pPr indent="0" marL="0">
              <a:buNone/>
            </a:pPr>
            <a:r>
              <a:rPr lang="en-US" sz="900" dirty="0">
                <a:solidFill>
                  <a:srgbClr val="334155"/>
                </a:solidFill>
              </a:rPr>
              <a:t>All local players respond to inbound leads. None are proactively targeting Placer One, Winding Creek, Amoruso Ranch, Whitney Ranch, and Crowne Point — communities with mandatory state-code solar on every home and zero established cleaning relationships.</a:t>
            </a:r>
            <a:endParaRPr lang="en-US" sz="900" dirty="0"/>
          </a:p>
        </p:txBody>
      </p:sp>
      <p:sp>
        <p:nvSpPr>
          <p:cNvPr id="16" name="Shape 14"/>
          <p:cNvSpPr/>
          <p:nvPr/>
        </p:nvSpPr>
        <p:spPr>
          <a:xfrm>
            <a:off x="6583680" y="1490472"/>
            <a:ext cx="2286000" cy="658368"/>
          </a:xfrm>
          <a:prstGeom prst="rect">
            <a:avLst/>
          </a:prstGeom>
          <a:solidFill>
            <a:srgbClr val="EAF9F0"/>
          </a:solidFill>
          <a:ln w="6350">
            <a:solidFill>
              <a:srgbClr val="E2E8F0"/>
            </a:solidFill>
            <a:prstDash val="solid"/>
          </a:ln>
        </p:spPr>
      </p:sp>
      <p:sp>
        <p:nvSpPr>
          <p:cNvPr id="17" name="Text 15"/>
          <p:cNvSpPr/>
          <p:nvPr/>
        </p:nvSpPr>
        <p:spPr>
          <a:xfrm>
            <a:off x="6629400" y="1563624"/>
            <a:ext cx="2176272" cy="512064"/>
          </a:xfrm>
          <a:prstGeom prst="rect">
            <a:avLst/>
          </a:prstGeom>
          <a:noFill/>
          <a:ln/>
        </p:spPr>
        <p:txBody>
          <a:bodyPr wrap="square" lIns="0" tIns="0" rIns="0" bIns="0" rtlCol="0" anchor="t"/>
          <a:lstStyle/>
          <a:p>
            <a:pPr indent="0" marL="0">
              <a:buNone/>
            </a:pPr>
            <a:r>
              <a:rPr lang="en-US" sz="850" b="1" dirty="0">
                <a:solidFill>
                  <a:srgbClr val="1A6B3C"/>
                </a:solidFill>
              </a:rPr>
              <a:t>Placer County: 2,000+ new homes/yr all with owned solar = untapped moat</a:t>
            </a:r>
            <a:endParaRPr lang="en-US" sz="850" dirty="0"/>
          </a:p>
        </p:txBody>
      </p:sp>
      <p:sp>
        <p:nvSpPr>
          <p:cNvPr id="18" name="Shape 16"/>
          <p:cNvSpPr/>
          <p:nvPr/>
        </p:nvSpPr>
        <p:spPr>
          <a:xfrm>
            <a:off x="274320" y="2203704"/>
            <a:ext cx="8595360" cy="658368"/>
          </a:xfrm>
          <a:prstGeom prst="rect">
            <a:avLst/>
          </a:prstGeom>
          <a:solidFill>
            <a:srgbClr val="FFFFFF"/>
          </a:solidFill>
          <a:ln w="6350">
            <a:solidFill>
              <a:srgbClr val="E2E8F0"/>
            </a:solidFill>
            <a:prstDash val="solid"/>
          </a:ln>
        </p:spPr>
      </p:sp>
      <p:sp>
        <p:nvSpPr>
          <p:cNvPr id="19" name="Shape 17"/>
          <p:cNvSpPr/>
          <p:nvPr/>
        </p:nvSpPr>
        <p:spPr>
          <a:xfrm>
            <a:off x="274320" y="2203704"/>
            <a:ext cx="91440" cy="658368"/>
          </a:xfrm>
          <a:prstGeom prst="rect">
            <a:avLst/>
          </a:prstGeom>
          <a:solidFill>
            <a:srgbClr val="F4B942"/>
          </a:solidFill>
          <a:ln w="12700">
            <a:solidFill>
              <a:srgbClr val="F4B942"/>
            </a:solidFill>
            <a:prstDash val="solid"/>
          </a:ln>
        </p:spPr>
      </p:sp>
      <p:sp>
        <p:nvSpPr>
          <p:cNvPr id="20" name="Shape 18"/>
          <p:cNvSpPr/>
          <p:nvPr/>
        </p:nvSpPr>
        <p:spPr>
          <a:xfrm>
            <a:off x="274320" y="2203704"/>
            <a:ext cx="2103120" cy="658368"/>
          </a:xfrm>
          <a:prstGeom prst="rect">
            <a:avLst/>
          </a:prstGeom>
          <a:solidFill>
            <a:srgbClr val="FFFBF0"/>
          </a:solidFill>
          <a:ln w="6350">
            <a:solidFill>
              <a:srgbClr val="E2E8F0"/>
            </a:solidFill>
            <a:prstDash val="solid"/>
          </a:ln>
        </p:spPr>
      </p:sp>
      <p:sp>
        <p:nvSpPr>
          <p:cNvPr id="21" name="Text 19"/>
          <p:cNvSpPr/>
          <p:nvPr/>
        </p:nvSpPr>
        <p:spPr>
          <a:xfrm>
            <a:off x="411480" y="2276856"/>
            <a:ext cx="1920240" cy="502920"/>
          </a:xfrm>
          <a:prstGeom prst="rect">
            <a:avLst/>
          </a:prstGeom>
          <a:noFill/>
          <a:ln/>
        </p:spPr>
        <p:txBody>
          <a:bodyPr wrap="square" lIns="0" tIns="0" rIns="0" bIns="0" rtlCol="0" anchor="t"/>
          <a:lstStyle/>
          <a:p>
            <a:pPr indent="0" marL="0">
              <a:buNone/>
            </a:pPr>
            <a:r>
              <a:rPr lang="en-US" sz="1000" b="1" dirty="0">
                <a:solidFill>
                  <a:srgbClr val="0B1F3A"/>
                </a:solidFill>
              </a:rPr>
              <a:t>No online instant booking</a:t>
            </a:r>
            <a:endParaRPr lang="en-US" sz="1000" dirty="0"/>
          </a:p>
        </p:txBody>
      </p:sp>
      <p:sp>
        <p:nvSpPr>
          <p:cNvPr id="22" name="Text 20"/>
          <p:cNvSpPr/>
          <p:nvPr/>
        </p:nvSpPr>
        <p:spPr>
          <a:xfrm>
            <a:off x="2423160" y="2240280"/>
            <a:ext cx="4114800" cy="585216"/>
          </a:xfrm>
          <a:prstGeom prst="rect">
            <a:avLst/>
          </a:prstGeom>
          <a:noFill/>
          <a:ln/>
        </p:spPr>
        <p:txBody>
          <a:bodyPr wrap="square" lIns="0" tIns="0" rIns="0" bIns="0" rtlCol="0" anchor="t"/>
          <a:lstStyle/>
          <a:p>
            <a:pPr indent="0" marL="0">
              <a:buNone/>
            </a:pPr>
            <a:r>
              <a:rPr lang="en-US" sz="900" dirty="0">
                <a:solidFill>
                  <a:srgbClr val="334155"/>
                </a:solidFill>
              </a:rPr>
              <a:t>Every competitor forces phone calls or contact form waits. Roger deploys an AI chatbot that gives an instant quote and books in &lt;60 seconds. First mover on digital conversion in this local market.</a:t>
            </a:r>
            <a:endParaRPr lang="en-US" sz="900" dirty="0"/>
          </a:p>
        </p:txBody>
      </p:sp>
      <p:sp>
        <p:nvSpPr>
          <p:cNvPr id="23" name="Shape 21"/>
          <p:cNvSpPr/>
          <p:nvPr/>
        </p:nvSpPr>
        <p:spPr>
          <a:xfrm>
            <a:off x="6583680" y="2203704"/>
            <a:ext cx="2286000" cy="658368"/>
          </a:xfrm>
          <a:prstGeom prst="rect">
            <a:avLst/>
          </a:prstGeom>
          <a:solidFill>
            <a:srgbClr val="EAF9F0"/>
          </a:solidFill>
          <a:ln w="6350">
            <a:solidFill>
              <a:srgbClr val="E2E8F0"/>
            </a:solidFill>
            <a:prstDash val="solid"/>
          </a:ln>
        </p:spPr>
      </p:sp>
      <p:sp>
        <p:nvSpPr>
          <p:cNvPr id="24" name="Text 22"/>
          <p:cNvSpPr/>
          <p:nvPr/>
        </p:nvSpPr>
        <p:spPr>
          <a:xfrm>
            <a:off x="6629400" y="2276856"/>
            <a:ext cx="2176272" cy="512064"/>
          </a:xfrm>
          <a:prstGeom prst="rect">
            <a:avLst/>
          </a:prstGeom>
          <a:noFill/>
          <a:ln/>
        </p:spPr>
        <p:txBody>
          <a:bodyPr wrap="square" lIns="0" tIns="0" rIns="0" bIns="0" rtlCol="0" anchor="t"/>
          <a:lstStyle/>
          <a:p>
            <a:pPr indent="0" marL="0">
              <a:buNone/>
            </a:pPr>
            <a:r>
              <a:rPr lang="en-US" sz="850" b="1" dirty="0">
                <a:solidFill>
                  <a:srgbClr val="1A6B3C"/>
                </a:solidFill>
              </a:rPr>
              <a:t>Converts 2–3× more website visitors. CAC drops to &lt;$10 per booked job</a:t>
            </a:r>
            <a:endParaRPr lang="en-US" sz="850" dirty="0"/>
          </a:p>
        </p:txBody>
      </p:sp>
      <p:sp>
        <p:nvSpPr>
          <p:cNvPr id="25" name="Shape 23"/>
          <p:cNvSpPr/>
          <p:nvPr/>
        </p:nvSpPr>
        <p:spPr>
          <a:xfrm>
            <a:off x="274320" y="2916936"/>
            <a:ext cx="8595360" cy="658368"/>
          </a:xfrm>
          <a:prstGeom prst="rect">
            <a:avLst/>
          </a:prstGeom>
          <a:solidFill>
            <a:srgbClr val="FFFFFF"/>
          </a:solidFill>
          <a:ln w="6350">
            <a:solidFill>
              <a:srgbClr val="E2E8F0"/>
            </a:solidFill>
            <a:prstDash val="solid"/>
          </a:ln>
        </p:spPr>
      </p:sp>
      <p:sp>
        <p:nvSpPr>
          <p:cNvPr id="26" name="Shape 24"/>
          <p:cNvSpPr/>
          <p:nvPr/>
        </p:nvSpPr>
        <p:spPr>
          <a:xfrm>
            <a:off x="274320" y="2916936"/>
            <a:ext cx="91440" cy="658368"/>
          </a:xfrm>
          <a:prstGeom prst="rect">
            <a:avLst/>
          </a:prstGeom>
          <a:solidFill>
            <a:srgbClr val="F4B942"/>
          </a:solidFill>
          <a:ln w="12700">
            <a:solidFill>
              <a:srgbClr val="F4B942"/>
            </a:solidFill>
            <a:prstDash val="solid"/>
          </a:ln>
        </p:spPr>
      </p:sp>
      <p:sp>
        <p:nvSpPr>
          <p:cNvPr id="27" name="Shape 25"/>
          <p:cNvSpPr/>
          <p:nvPr/>
        </p:nvSpPr>
        <p:spPr>
          <a:xfrm>
            <a:off x="274320" y="2916936"/>
            <a:ext cx="2103120" cy="658368"/>
          </a:xfrm>
          <a:prstGeom prst="rect">
            <a:avLst/>
          </a:prstGeom>
          <a:solidFill>
            <a:srgbClr val="FFFBF0"/>
          </a:solidFill>
          <a:ln w="6350">
            <a:solidFill>
              <a:srgbClr val="E2E8F0"/>
            </a:solidFill>
            <a:prstDash val="solid"/>
          </a:ln>
        </p:spPr>
      </p:sp>
      <p:sp>
        <p:nvSpPr>
          <p:cNvPr id="28" name="Text 26"/>
          <p:cNvSpPr/>
          <p:nvPr/>
        </p:nvSpPr>
        <p:spPr>
          <a:xfrm>
            <a:off x="411480" y="2990088"/>
            <a:ext cx="1920240" cy="502920"/>
          </a:xfrm>
          <a:prstGeom prst="rect">
            <a:avLst/>
          </a:prstGeom>
          <a:noFill/>
          <a:ln/>
        </p:spPr>
        <p:txBody>
          <a:bodyPr wrap="square" lIns="0" tIns="0" rIns="0" bIns="0" rtlCol="0" anchor="t"/>
          <a:lstStyle/>
          <a:p>
            <a:pPr indent="0" marL="0">
              <a:buNone/>
            </a:pPr>
            <a:r>
              <a:rPr lang="en-US" sz="1000" b="1" dirty="0">
                <a:solidFill>
                  <a:srgbClr val="0B1F3A"/>
                </a:solidFill>
              </a:rPr>
              <a:t>No HOA partnership contracts</a:t>
            </a:r>
            <a:endParaRPr lang="en-US" sz="1000" dirty="0"/>
          </a:p>
        </p:txBody>
      </p:sp>
      <p:sp>
        <p:nvSpPr>
          <p:cNvPr id="29" name="Text 27"/>
          <p:cNvSpPr/>
          <p:nvPr/>
        </p:nvSpPr>
        <p:spPr>
          <a:xfrm>
            <a:off x="2423160" y="2953512"/>
            <a:ext cx="4114800" cy="585216"/>
          </a:xfrm>
          <a:prstGeom prst="rect">
            <a:avLst/>
          </a:prstGeom>
          <a:noFill/>
          <a:ln/>
        </p:spPr>
        <p:txBody>
          <a:bodyPr wrap="square" lIns="0" tIns="0" rIns="0" bIns="0" rtlCol="0" anchor="t"/>
          <a:lstStyle/>
          <a:p>
            <a:pPr indent="0" marL="0">
              <a:buNone/>
            </a:pPr>
            <a:r>
              <a:rPr lang="en-US" sz="900" dirty="0">
                <a:solidFill>
                  <a:srgbClr val="334155"/>
                </a:solidFill>
              </a:rPr>
              <a:t>None of the 8 competitors have publicly listed HOA contracts or community-level service agreements. Sun City Lincoln Hills alone has thousands of homes with solar and active HOA boards. Roger pitches before anyone else thinks to.</a:t>
            </a:r>
            <a:endParaRPr lang="en-US" sz="900" dirty="0"/>
          </a:p>
        </p:txBody>
      </p:sp>
      <p:sp>
        <p:nvSpPr>
          <p:cNvPr id="30" name="Shape 28"/>
          <p:cNvSpPr/>
          <p:nvPr/>
        </p:nvSpPr>
        <p:spPr>
          <a:xfrm>
            <a:off x="6583680" y="2916936"/>
            <a:ext cx="2286000" cy="658368"/>
          </a:xfrm>
          <a:prstGeom prst="rect">
            <a:avLst/>
          </a:prstGeom>
          <a:solidFill>
            <a:srgbClr val="EAF9F0"/>
          </a:solidFill>
          <a:ln w="6350">
            <a:solidFill>
              <a:srgbClr val="E2E8F0"/>
            </a:solidFill>
            <a:prstDash val="solid"/>
          </a:ln>
        </p:spPr>
      </p:sp>
      <p:sp>
        <p:nvSpPr>
          <p:cNvPr id="31" name="Text 29"/>
          <p:cNvSpPr/>
          <p:nvPr/>
        </p:nvSpPr>
        <p:spPr>
          <a:xfrm>
            <a:off x="6629400" y="2990088"/>
            <a:ext cx="2176272" cy="512064"/>
          </a:xfrm>
          <a:prstGeom prst="rect">
            <a:avLst/>
          </a:prstGeom>
          <a:noFill/>
          <a:ln/>
        </p:spPr>
        <p:txBody>
          <a:bodyPr wrap="square" lIns="0" tIns="0" rIns="0" bIns="0" rtlCol="0" anchor="t"/>
          <a:lstStyle/>
          <a:p>
            <a:pPr indent="0" marL="0">
              <a:buNone/>
            </a:pPr>
            <a:r>
              <a:rPr lang="en-US" sz="850" b="1" dirty="0">
                <a:solidFill>
                  <a:srgbClr val="1A6B3C"/>
                </a:solidFill>
              </a:rPr>
              <a:t>1 HOA contract = 50–300 homes × $75/clean × 2/yr = $7,500–$45,000/contract</a:t>
            </a:r>
            <a:endParaRPr lang="en-US" sz="850" dirty="0"/>
          </a:p>
        </p:txBody>
      </p:sp>
      <p:sp>
        <p:nvSpPr>
          <p:cNvPr id="32" name="Shape 30"/>
          <p:cNvSpPr/>
          <p:nvPr/>
        </p:nvSpPr>
        <p:spPr>
          <a:xfrm>
            <a:off x="274320" y="3630168"/>
            <a:ext cx="8595360" cy="658368"/>
          </a:xfrm>
          <a:prstGeom prst="rect">
            <a:avLst/>
          </a:prstGeom>
          <a:solidFill>
            <a:srgbClr val="FFFFFF"/>
          </a:solidFill>
          <a:ln w="6350">
            <a:solidFill>
              <a:srgbClr val="E2E8F0"/>
            </a:solidFill>
            <a:prstDash val="solid"/>
          </a:ln>
        </p:spPr>
      </p:sp>
      <p:sp>
        <p:nvSpPr>
          <p:cNvPr id="33" name="Shape 31"/>
          <p:cNvSpPr/>
          <p:nvPr/>
        </p:nvSpPr>
        <p:spPr>
          <a:xfrm>
            <a:off x="274320" y="3630168"/>
            <a:ext cx="91440" cy="658368"/>
          </a:xfrm>
          <a:prstGeom prst="rect">
            <a:avLst/>
          </a:prstGeom>
          <a:solidFill>
            <a:srgbClr val="F4B942"/>
          </a:solidFill>
          <a:ln w="12700">
            <a:solidFill>
              <a:srgbClr val="F4B942"/>
            </a:solidFill>
            <a:prstDash val="solid"/>
          </a:ln>
        </p:spPr>
      </p:sp>
      <p:sp>
        <p:nvSpPr>
          <p:cNvPr id="34" name="Shape 32"/>
          <p:cNvSpPr/>
          <p:nvPr/>
        </p:nvSpPr>
        <p:spPr>
          <a:xfrm>
            <a:off x="274320" y="3630168"/>
            <a:ext cx="2103120" cy="658368"/>
          </a:xfrm>
          <a:prstGeom prst="rect">
            <a:avLst/>
          </a:prstGeom>
          <a:solidFill>
            <a:srgbClr val="FFFBF0"/>
          </a:solidFill>
          <a:ln w="6350">
            <a:solidFill>
              <a:srgbClr val="E2E8F0"/>
            </a:solidFill>
            <a:prstDash val="solid"/>
          </a:ln>
        </p:spPr>
      </p:sp>
      <p:sp>
        <p:nvSpPr>
          <p:cNvPr id="35" name="Text 33"/>
          <p:cNvSpPr/>
          <p:nvPr/>
        </p:nvSpPr>
        <p:spPr>
          <a:xfrm>
            <a:off x="411480" y="3703320"/>
            <a:ext cx="1920240" cy="502920"/>
          </a:xfrm>
          <a:prstGeom prst="rect">
            <a:avLst/>
          </a:prstGeom>
          <a:noFill/>
          <a:ln/>
        </p:spPr>
        <p:txBody>
          <a:bodyPr wrap="square" lIns="0" tIns="0" rIns="0" bIns="0" rtlCol="0" anchor="t"/>
          <a:lstStyle/>
          <a:p>
            <a:pPr indent="0" marL="0">
              <a:buNone/>
            </a:pPr>
            <a:r>
              <a:rPr lang="en-US" sz="1000" b="1" dirty="0">
                <a:solidFill>
                  <a:srgbClr val="0B1F3A"/>
                </a:solidFill>
              </a:rPr>
              <a:t>Seasonal-only service (NorCal Solar Clean)</a:t>
            </a:r>
            <a:endParaRPr lang="en-US" sz="1000" dirty="0"/>
          </a:p>
        </p:txBody>
      </p:sp>
      <p:sp>
        <p:nvSpPr>
          <p:cNvPr id="36" name="Text 34"/>
          <p:cNvSpPr/>
          <p:nvPr/>
        </p:nvSpPr>
        <p:spPr>
          <a:xfrm>
            <a:off x="2423160" y="3666744"/>
            <a:ext cx="4114800" cy="585216"/>
          </a:xfrm>
          <a:prstGeom prst="rect">
            <a:avLst/>
          </a:prstGeom>
          <a:noFill/>
          <a:ln/>
        </p:spPr>
        <p:txBody>
          <a:bodyPr wrap="square" lIns="0" tIns="0" rIns="0" bIns="0" rtlCol="0" anchor="t"/>
          <a:lstStyle/>
          <a:p>
            <a:pPr indent="0" marL="0">
              <a:buNone/>
            </a:pPr>
            <a:r>
              <a:rPr lang="en-US" sz="900" dirty="0">
                <a:solidFill>
                  <a:srgbClr val="334155"/>
                </a:solidFill>
              </a:rPr>
              <a:t>NorCal Solar Clean runs April–November only. This is a declared gap in winter months. Roger stays open year-round — post-storm dirty panels are actually high-urgency (insurance documentation, warranty compliance).</a:t>
            </a:r>
            <a:endParaRPr lang="en-US" sz="900" dirty="0"/>
          </a:p>
        </p:txBody>
      </p:sp>
      <p:sp>
        <p:nvSpPr>
          <p:cNvPr id="37" name="Shape 35"/>
          <p:cNvSpPr/>
          <p:nvPr/>
        </p:nvSpPr>
        <p:spPr>
          <a:xfrm>
            <a:off x="6583680" y="3630168"/>
            <a:ext cx="2286000" cy="658368"/>
          </a:xfrm>
          <a:prstGeom prst="rect">
            <a:avLst/>
          </a:prstGeom>
          <a:solidFill>
            <a:srgbClr val="EAF9F0"/>
          </a:solidFill>
          <a:ln w="6350">
            <a:solidFill>
              <a:srgbClr val="E2E8F0"/>
            </a:solidFill>
            <a:prstDash val="solid"/>
          </a:ln>
        </p:spPr>
      </p:sp>
      <p:sp>
        <p:nvSpPr>
          <p:cNvPr id="38" name="Text 36"/>
          <p:cNvSpPr/>
          <p:nvPr/>
        </p:nvSpPr>
        <p:spPr>
          <a:xfrm>
            <a:off x="6629400" y="3703320"/>
            <a:ext cx="2176272" cy="512064"/>
          </a:xfrm>
          <a:prstGeom prst="rect">
            <a:avLst/>
          </a:prstGeom>
          <a:noFill/>
          <a:ln/>
        </p:spPr>
        <p:txBody>
          <a:bodyPr wrap="square" lIns="0" tIns="0" rIns="0" bIns="0" rtlCol="0" anchor="t"/>
          <a:lstStyle/>
          <a:p>
            <a:pPr indent="0" marL="0">
              <a:buNone/>
            </a:pPr>
            <a:r>
              <a:rPr lang="en-US" sz="850" b="1" dirty="0">
                <a:solidFill>
                  <a:srgbClr val="1A6B3C"/>
                </a:solidFill>
              </a:rPr>
              <a:t>4 winter months × ~30 jobs = $6,000–$9,000 that competitor leaves on table</a:t>
            </a:r>
            <a:endParaRPr lang="en-US" sz="850" dirty="0"/>
          </a:p>
        </p:txBody>
      </p:sp>
      <p:sp>
        <p:nvSpPr>
          <p:cNvPr id="39" name="Shape 37"/>
          <p:cNvSpPr/>
          <p:nvPr/>
        </p:nvSpPr>
        <p:spPr>
          <a:xfrm>
            <a:off x="274320" y="4343400"/>
            <a:ext cx="8595360" cy="658368"/>
          </a:xfrm>
          <a:prstGeom prst="rect">
            <a:avLst/>
          </a:prstGeom>
          <a:solidFill>
            <a:srgbClr val="FFFFFF"/>
          </a:solidFill>
          <a:ln w="6350">
            <a:solidFill>
              <a:srgbClr val="E2E8F0"/>
            </a:solidFill>
            <a:prstDash val="solid"/>
          </a:ln>
        </p:spPr>
      </p:sp>
      <p:sp>
        <p:nvSpPr>
          <p:cNvPr id="40" name="Shape 38"/>
          <p:cNvSpPr/>
          <p:nvPr/>
        </p:nvSpPr>
        <p:spPr>
          <a:xfrm>
            <a:off x="274320" y="4343400"/>
            <a:ext cx="91440" cy="658368"/>
          </a:xfrm>
          <a:prstGeom prst="rect">
            <a:avLst/>
          </a:prstGeom>
          <a:solidFill>
            <a:srgbClr val="F4B942"/>
          </a:solidFill>
          <a:ln w="12700">
            <a:solidFill>
              <a:srgbClr val="F4B942"/>
            </a:solidFill>
            <a:prstDash val="solid"/>
          </a:ln>
        </p:spPr>
      </p:sp>
      <p:sp>
        <p:nvSpPr>
          <p:cNvPr id="41" name="Shape 39"/>
          <p:cNvSpPr/>
          <p:nvPr/>
        </p:nvSpPr>
        <p:spPr>
          <a:xfrm>
            <a:off x="274320" y="4343400"/>
            <a:ext cx="2103120" cy="658368"/>
          </a:xfrm>
          <a:prstGeom prst="rect">
            <a:avLst/>
          </a:prstGeom>
          <a:solidFill>
            <a:srgbClr val="FFFBF0"/>
          </a:solidFill>
          <a:ln w="6350">
            <a:solidFill>
              <a:srgbClr val="E2E8F0"/>
            </a:solidFill>
            <a:prstDash val="solid"/>
          </a:ln>
        </p:spPr>
      </p:sp>
      <p:sp>
        <p:nvSpPr>
          <p:cNvPr id="42" name="Text 40"/>
          <p:cNvSpPr/>
          <p:nvPr/>
        </p:nvSpPr>
        <p:spPr>
          <a:xfrm>
            <a:off x="411480" y="4416552"/>
            <a:ext cx="1920240" cy="502920"/>
          </a:xfrm>
          <a:prstGeom prst="rect">
            <a:avLst/>
          </a:prstGeom>
          <a:noFill/>
          <a:ln/>
        </p:spPr>
        <p:txBody>
          <a:bodyPr wrap="square" lIns="0" tIns="0" rIns="0" bIns="0" rtlCol="0" anchor="t"/>
          <a:lstStyle/>
          <a:p>
            <a:pPr indent="0" marL="0">
              <a:buNone/>
            </a:pPr>
            <a:r>
              <a:rPr lang="en-US" sz="1000" b="1" dirty="0">
                <a:solidFill>
                  <a:srgbClr val="0B1F3A"/>
                </a:solidFill>
              </a:rPr>
              <a:t>No AI-powered customer acquisition</a:t>
            </a:r>
            <a:endParaRPr lang="en-US" sz="1000" dirty="0"/>
          </a:p>
        </p:txBody>
      </p:sp>
      <p:sp>
        <p:nvSpPr>
          <p:cNvPr id="43" name="Text 41"/>
          <p:cNvSpPr/>
          <p:nvPr/>
        </p:nvSpPr>
        <p:spPr>
          <a:xfrm>
            <a:off x="2423160" y="4379976"/>
            <a:ext cx="4114800" cy="585216"/>
          </a:xfrm>
          <a:prstGeom prst="rect">
            <a:avLst/>
          </a:prstGeom>
          <a:noFill/>
          <a:ln/>
        </p:spPr>
        <p:txBody>
          <a:bodyPr wrap="square" lIns="0" tIns="0" rIns="0" bIns="0" rtlCol="0" anchor="t"/>
          <a:lstStyle/>
          <a:p>
            <a:pPr indent="0" marL="0">
              <a:buNone/>
            </a:pPr>
            <a:r>
              <a:rPr lang="en-US" sz="900" dirty="0">
                <a:solidFill>
                  <a:srgbClr val="334155"/>
                </a:solidFill>
              </a:rPr>
              <a:t>Not one competitor uses AI for lead gen, social monitoring, or automated follow-up. Buster on Nextdoor/Reddit, Solar Scout AI for intent mining, and Penelope for automated scheduling = unfair advantage no competitor can replicate cheaply.</a:t>
            </a:r>
            <a:endParaRPr lang="en-US" sz="900" dirty="0"/>
          </a:p>
        </p:txBody>
      </p:sp>
      <p:sp>
        <p:nvSpPr>
          <p:cNvPr id="44" name="Shape 42"/>
          <p:cNvSpPr/>
          <p:nvPr/>
        </p:nvSpPr>
        <p:spPr>
          <a:xfrm>
            <a:off x="6583680" y="4343400"/>
            <a:ext cx="2286000" cy="658368"/>
          </a:xfrm>
          <a:prstGeom prst="rect">
            <a:avLst/>
          </a:prstGeom>
          <a:solidFill>
            <a:srgbClr val="EAF9F0"/>
          </a:solidFill>
          <a:ln w="6350">
            <a:solidFill>
              <a:srgbClr val="E2E8F0"/>
            </a:solidFill>
            <a:prstDash val="solid"/>
          </a:ln>
        </p:spPr>
      </p:sp>
      <p:sp>
        <p:nvSpPr>
          <p:cNvPr id="45" name="Text 43"/>
          <p:cNvSpPr/>
          <p:nvPr/>
        </p:nvSpPr>
        <p:spPr>
          <a:xfrm>
            <a:off x="6629400" y="4416552"/>
            <a:ext cx="2176272" cy="512064"/>
          </a:xfrm>
          <a:prstGeom prst="rect">
            <a:avLst/>
          </a:prstGeom>
          <a:noFill/>
          <a:ln/>
        </p:spPr>
        <p:txBody>
          <a:bodyPr wrap="square" lIns="0" tIns="0" rIns="0" bIns="0" rtlCol="0" anchor="t"/>
          <a:lstStyle/>
          <a:p>
            <a:pPr indent="0" marL="0">
              <a:buNone/>
            </a:pPr>
            <a:r>
              <a:rPr lang="en-US" sz="850" b="1" dirty="0">
                <a:solidFill>
                  <a:srgbClr val="1A6B3C"/>
                </a:solidFill>
              </a:rPr>
              <a:t>CAC from $225 (competitor average) → $14.50 (Roger's AI-driven target)</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8090"/>
          </a:solidFill>
          <a:ln w="12700">
            <a:solidFill>
              <a:srgbClr val="02809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200" b="1" spc="300" kern="0" dirty="0">
                <a:solidFill>
                  <a:srgbClr val="FFFFFF"/>
                </a:solidFill>
              </a:rPr>
              <a:t>TARGET NEIGHBORHOODS — SOLAR ON EVERY HOME, ZERO COMPETITORS</a:t>
            </a:r>
            <a:endParaRPr lang="en-US" sz="1200" dirty="0"/>
          </a:p>
        </p:txBody>
      </p:sp>
      <p:sp>
        <p:nvSpPr>
          <p:cNvPr id="4" name="Text 2"/>
          <p:cNvSpPr/>
          <p:nvPr/>
        </p:nvSpPr>
        <p:spPr>
          <a:xfrm>
            <a:off x="365760" y="749808"/>
            <a:ext cx="8412480" cy="411480"/>
          </a:xfrm>
          <a:prstGeom prst="rect">
            <a:avLst/>
          </a:prstGeom>
          <a:noFill/>
          <a:ln/>
        </p:spPr>
        <p:txBody>
          <a:bodyPr wrap="square" lIns="0" tIns="0" rIns="0" bIns="0" rtlCol="0" anchor="ctr"/>
          <a:lstStyle/>
          <a:p>
            <a:pPr indent="0" marL="0">
              <a:buNone/>
            </a:pPr>
            <a:r>
              <a:rPr lang="en-US" sz="1100" dirty="0">
                <a:solidFill>
                  <a:srgbClr val="334155"/>
                </a:solidFill>
              </a:rPr>
              <a:t>California Title 24 building code requires solar on all new residential construction. Every home in these communities was built after 2020 — meaning every single one has owned solar panels that need cleaning 2–4× per year. No competitor has established relationships here.</a:t>
            </a:r>
            <a:endParaRPr lang="en-US" sz="1100" dirty="0"/>
          </a:p>
        </p:txBody>
      </p:sp>
      <p:sp>
        <p:nvSpPr>
          <p:cNvPr id="5" name="Shape 3"/>
          <p:cNvSpPr/>
          <p:nvPr/>
        </p:nvSpPr>
        <p:spPr>
          <a:xfrm>
            <a:off x="274320" y="1261872"/>
            <a:ext cx="4160520" cy="1170432"/>
          </a:xfrm>
          <a:prstGeom prst="rect">
            <a:avLst/>
          </a:prstGeom>
          <a:solidFill>
            <a:srgbClr val="FFFFFF"/>
          </a:solidFill>
          <a:ln w="10160">
            <a:solidFill>
              <a:srgbClr val="E2E8F0"/>
            </a:solidFill>
            <a:prstDash val="solid"/>
          </a:ln>
        </p:spPr>
      </p:sp>
      <p:sp>
        <p:nvSpPr>
          <p:cNvPr id="6" name="Shape 4"/>
          <p:cNvSpPr/>
          <p:nvPr/>
        </p:nvSpPr>
        <p:spPr>
          <a:xfrm>
            <a:off x="274320" y="1261872"/>
            <a:ext cx="4160520" cy="91440"/>
          </a:xfrm>
          <a:prstGeom prst="rect">
            <a:avLst/>
          </a:prstGeom>
          <a:solidFill>
            <a:srgbClr val="028090"/>
          </a:solidFill>
          <a:ln w="12700">
            <a:solidFill>
              <a:srgbClr val="028090"/>
            </a:solidFill>
            <a:prstDash val="solid"/>
          </a:ln>
        </p:spPr>
      </p:sp>
      <p:sp>
        <p:nvSpPr>
          <p:cNvPr id="7" name="Text 5"/>
          <p:cNvSpPr/>
          <p:nvPr/>
        </p:nvSpPr>
        <p:spPr>
          <a:xfrm>
            <a:off x="365760" y="1380744"/>
            <a:ext cx="2560320" cy="256032"/>
          </a:xfrm>
          <a:prstGeom prst="rect">
            <a:avLst/>
          </a:prstGeom>
          <a:noFill/>
          <a:ln/>
        </p:spPr>
        <p:txBody>
          <a:bodyPr wrap="square" lIns="0" tIns="0" rIns="0" bIns="0" rtlCol="0" anchor="ctr"/>
          <a:lstStyle/>
          <a:p>
            <a:pPr indent="0" marL="0">
              <a:buNone/>
            </a:pPr>
            <a:r>
              <a:rPr lang="en-US" sz="1100" b="1" dirty="0">
                <a:solidFill>
                  <a:srgbClr val="0B1F3A"/>
                </a:solidFill>
              </a:rPr>
              <a:t>Placer One / Winding Creek</a:t>
            </a:r>
            <a:endParaRPr lang="en-US" sz="1100" dirty="0"/>
          </a:p>
        </p:txBody>
      </p:sp>
      <p:sp>
        <p:nvSpPr>
          <p:cNvPr id="8" name="Text 6"/>
          <p:cNvSpPr/>
          <p:nvPr/>
        </p:nvSpPr>
        <p:spPr>
          <a:xfrm>
            <a:off x="2971800" y="1380744"/>
            <a:ext cx="1371600" cy="256032"/>
          </a:xfrm>
          <a:prstGeom prst="rect">
            <a:avLst/>
          </a:prstGeom>
          <a:noFill/>
          <a:ln/>
        </p:spPr>
        <p:txBody>
          <a:bodyPr wrap="square" lIns="0" tIns="0" rIns="0" bIns="0" rtlCol="0" anchor="ctr"/>
          <a:lstStyle/>
          <a:p>
            <a:pPr algn="r" indent="0" marL="0">
              <a:buNone/>
            </a:pPr>
            <a:r>
              <a:rPr lang="en-US" sz="1100" dirty="0">
                <a:solidFill>
                  <a:srgbClr val="F4B942"/>
                </a:solidFill>
              </a:rPr>
              <a:t>★★★★★</a:t>
            </a:r>
            <a:endParaRPr lang="en-US" sz="1100" dirty="0"/>
          </a:p>
        </p:txBody>
      </p:sp>
      <p:sp>
        <p:nvSpPr>
          <p:cNvPr id="9" name="Text 7"/>
          <p:cNvSpPr/>
          <p:nvPr/>
        </p:nvSpPr>
        <p:spPr>
          <a:xfrm>
            <a:off x="365760" y="1645920"/>
            <a:ext cx="3931920" cy="201168"/>
          </a:xfrm>
          <a:prstGeom prst="rect">
            <a:avLst/>
          </a:prstGeom>
          <a:noFill/>
          <a:ln/>
        </p:spPr>
        <p:txBody>
          <a:bodyPr wrap="square" lIns="0" tIns="0" rIns="0" bIns="0" rtlCol="0" anchor="ctr"/>
          <a:lstStyle/>
          <a:p>
            <a:pPr indent="0" marL="0">
              <a:buNone/>
            </a:pPr>
            <a:r>
              <a:rPr lang="en-US" sz="900" dirty="0">
                <a:solidFill>
                  <a:srgbClr val="94A3B8"/>
                </a:solidFill>
              </a:rPr>
              <a:t>West Roseville  ·  800+ homes  ·  2024–2027 buildout</a:t>
            </a:r>
            <a:endParaRPr lang="en-US" sz="900" dirty="0"/>
          </a:p>
        </p:txBody>
      </p:sp>
      <p:sp>
        <p:nvSpPr>
          <p:cNvPr id="10" name="Text 8"/>
          <p:cNvSpPr/>
          <p:nvPr/>
        </p:nvSpPr>
        <p:spPr>
          <a:xfrm>
            <a:off x="365760" y="1828800"/>
            <a:ext cx="3931920" cy="182880"/>
          </a:xfrm>
          <a:prstGeom prst="rect">
            <a:avLst/>
          </a:prstGeom>
          <a:noFill/>
          <a:ln/>
        </p:spPr>
        <p:txBody>
          <a:bodyPr wrap="square" lIns="0" tIns="0" rIns="0" bIns="0" rtlCol="0" anchor="ctr"/>
          <a:lstStyle/>
          <a:p>
            <a:pPr indent="0" marL="0">
              <a:buNone/>
            </a:pPr>
            <a:r>
              <a:rPr lang="en-US" sz="900" b="1" dirty="0">
                <a:solidFill>
                  <a:srgbClr val="028090"/>
                </a:solidFill>
              </a:rPr>
              <a:t>HOA: Yes — active  ·  Solar: 100% mandatory</a:t>
            </a:r>
            <a:endParaRPr lang="en-US" sz="900" dirty="0"/>
          </a:p>
        </p:txBody>
      </p:sp>
      <p:sp>
        <p:nvSpPr>
          <p:cNvPr id="11" name="Text 9"/>
          <p:cNvSpPr/>
          <p:nvPr/>
        </p:nvSpPr>
        <p:spPr>
          <a:xfrm>
            <a:off x="365760" y="2020824"/>
            <a:ext cx="3931920" cy="320040"/>
          </a:xfrm>
          <a:prstGeom prst="rect">
            <a:avLst/>
          </a:prstGeom>
          <a:noFill/>
          <a:ln/>
        </p:spPr>
        <p:txBody>
          <a:bodyPr wrap="square" lIns="0" tIns="0" rIns="0" bIns="0" rtlCol="0" anchor="ctr"/>
          <a:lstStyle/>
          <a:p>
            <a:pPr indent="0" marL="0">
              <a:buNone/>
            </a:pPr>
            <a:r>
              <a:rPr lang="en-US" sz="900" dirty="0">
                <a:solidFill>
                  <a:srgbClr val="334155"/>
                </a:solidFill>
              </a:rPr>
              <a:t>Master-planned, every home solar-standard. No cleaning vendor established.</a:t>
            </a:r>
            <a:endParaRPr lang="en-US" sz="900" dirty="0"/>
          </a:p>
        </p:txBody>
      </p:sp>
      <p:sp>
        <p:nvSpPr>
          <p:cNvPr id="12" name="Shape 10"/>
          <p:cNvSpPr/>
          <p:nvPr/>
        </p:nvSpPr>
        <p:spPr>
          <a:xfrm>
            <a:off x="4709160" y="1261872"/>
            <a:ext cx="4160520" cy="1170432"/>
          </a:xfrm>
          <a:prstGeom prst="rect">
            <a:avLst/>
          </a:prstGeom>
          <a:solidFill>
            <a:srgbClr val="FFFFFF"/>
          </a:solidFill>
          <a:ln w="10160">
            <a:solidFill>
              <a:srgbClr val="E2E8F0"/>
            </a:solidFill>
            <a:prstDash val="solid"/>
          </a:ln>
        </p:spPr>
      </p:sp>
      <p:sp>
        <p:nvSpPr>
          <p:cNvPr id="13" name="Shape 11"/>
          <p:cNvSpPr/>
          <p:nvPr/>
        </p:nvSpPr>
        <p:spPr>
          <a:xfrm>
            <a:off x="4709160" y="1261872"/>
            <a:ext cx="4160520" cy="91440"/>
          </a:xfrm>
          <a:prstGeom prst="rect">
            <a:avLst/>
          </a:prstGeom>
          <a:solidFill>
            <a:srgbClr val="028090"/>
          </a:solidFill>
          <a:ln w="12700">
            <a:solidFill>
              <a:srgbClr val="028090"/>
            </a:solidFill>
            <a:prstDash val="solid"/>
          </a:ln>
        </p:spPr>
      </p:sp>
      <p:sp>
        <p:nvSpPr>
          <p:cNvPr id="14" name="Text 12"/>
          <p:cNvSpPr/>
          <p:nvPr/>
        </p:nvSpPr>
        <p:spPr>
          <a:xfrm>
            <a:off x="4800600" y="1380744"/>
            <a:ext cx="2560320" cy="256032"/>
          </a:xfrm>
          <a:prstGeom prst="rect">
            <a:avLst/>
          </a:prstGeom>
          <a:noFill/>
          <a:ln/>
        </p:spPr>
        <p:txBody>
          <a:bodyPr wrap="square" lIns="0" tIns="0" rIns="0" bIns="0" rtlCol="0" anchor="ctr"/>
          <a:lstStyle/>
          <a:p>
            <a:pPr indent="0" marL="0">
              <a:buNone/>
            </a:pPr>
            <a:r>
              <a:rPr lang="en-US" sz="1100" b="1" dirty="0">
                <a:solidFill>
                  <a:srgbClr val="0B1F3A"/>
                </a:solidFill>
              </a:rPr>
              <a:t>Amoruso Ranch</a:t>
            </a:r>
            <a:endParaRPr lang="en-US" sz="1100" dirty="0"/>
          </a:p>
        </p:txBody>
      </p:sp>
      <p:sp>
        <p:nvSpPr>
          <p:cNvPr id="15" name="Text 13"/>
          <p:cNvSpPr/>
          <p:nvPr/>
        </p:nvSpPr>
        <p:spPr>
          <a:xfrm>
            <a:off x="7406640" y="1380744"/>
            <a:ext cx="1371600" cy="256032"/>
          </a:xfrm>
          <a:prstGeom prst="rect">
            <a:avLst/>
          </a:prstGeom>
          <a:noFill/>
          <a:ln/>
        </p:spPr>
        <p:txBody>
          <a:bodyPr wrap="square" lIns="0" tIns="0" rIns="0" bIns="0" rtlCol="0" anchor="ctr"/>
          <a:lstStyle/>
          <a:p>
            <a:pPr algn="r" indent="0" marL="0">
              <a:buNone/>
            </a:pPr>
            <a:r>
              <a:rPr lang="en-US" sz="1100" dirty="0">
                <a:solidFill>
                  <a:srgbClr val="F4B942"/>
                </a:solidFill>
              </a:rPr>
              <a:t>★★★★★</a:t>
            </a:r>
            <a:endParaRPr lang="en-US" sz="1100" dirty="0"/>
          </a:p>
        </p:txBody>
      </p:sp>
      <p:sp>
        <p:nvSpPr>
          <p:cNvPr id="16" name="Text 14"/>
          <p:cNvSpPr/>
          <p:nvPr/>
        </p:nvSpPr>
        <p:spPr>
          <a:xfrm>
            <a:off x="4800600" y="1645920"/>
            <a:ext cx="3931920" cy="201168"/>
          </a:xfrm>
          <a:prstGeom prst="rect">
            <a:avLst/>
          </a:prstGeom>
          <a:noFill/>
          <a:ln/>
        </p:spPr>
        <p:txBody>
          <a:bodyPr wrap="square" lIns="0" tIns="0" rIns="0" bIns="0" rtlCol="0" anchor="ctr"/>
          <a:lstStyle/>
          <a:p>
            <a:pPr indent="0" marL="0">
              <a:buNone/>
            </a:pPr>
            <a:r>
              <a:rPr lang="en-US" sz="900" dirty="0">
                <a:solidFill>
                  <a:srgbClr val="94A3B8"/>
                </a:solidFill>
              </a:rPr>
              <a:t>West Roseville  ·  500+ homes  ·  2023–2026</a:t>
            </a:r>
            <a:endParaRPr lang="en-US" sz="900" dirty="0"/>
          </a:p>
        </p:txBody>
      </p:sp>
      <p:sp>
        <p:nvSpPr>
          <p:cNvPr id="17" name="Text 15"/>
          <p:cNvSpPr/>
          <p:nvPr/>
        </p:nvSpPr>
        <p:spPr>
          <a:xfrm>
            <a:off x="4800600" y="1828800"/>
            <a:ext cx="3931920" cy="182880"/>
          </a:xfrm>
          <a:prstGeom prst="rect">
            <a:avLst/>
          </a:prstGeom>
          <a:noFill/>
          <a:ln/>
        </p:spPr>
        <p:txBody>
          <a:bodyPr wrap="square" lIns="0" tIns="0" rIns="0" bIns="0" rtlCol="0" anchor="ctr"/>
          <a:lstStyle/>
          <a:p>
            <a:pPr indent="0" marL="0">
              <a:buNone/>
            </a:pPr>
            <a:r>
              <a:rPr lang="en-US" sz="900" b="1" dirty="0">
                <a:solidFill>
                  <a:srgbClr val="028090"/>
                </a:solidFill>
              </a:rPr>
              <a:t>HOA: Yes  ·  Solar: 100% mandatory</a:t>
            </a:r>
            <a:endParaRPr lang="en-US" sz="900" dirty="0"/>
          </a:p>
        </p:txBody>
      </p:sp>
      <p:sp>
        <p:nvSpPr>
          <p:cNvPr id="18" name="Text 16"/>
          <p:cNvSpPr/>
          <p:nvPr/>
        </p:nvSpPr>
        <p:spPr>
          <a:xfrm>
            <a:off x="4800600" y="2020824"/>
            <a:ext cx="3931920" cy="320040"/>
          </a:xfrm>
          <a:prstGeom prst="rect">
            <a:avLst/>
          </a:prstGeom>
          <a:noFill/>
          <a:ln/>
        </p:spPr>
        <p:txBody>
          <a:bodyPr wrap="square" lIns="0" tIns="0" rIns="0" bIns="0" rtlCol="0" anchor="ctr"/>
          <a:lstStyle/>
          <a:p>
            <a:pPr indent="0" marL="0">
              <a:buNone/>
            </a:pPr>
            <a:r>
              <a:rPr lang="en-US" sz="900" dirty="0">
                <a:solidFill>
                  <a:srgbClr val="334155"/>
                </a:solidFill>
              </a:rPr>
              <a:t>Larger lots, solar standard. Families with high disposable income.</a:t>
            </a:r>
            <a:endParaRPr lang="en-US" sz="900" dirty="0"/>
          </a:p>
        </p:txBody>
      </p:sp>
      <p:sp>
        <p:nvSpPr>
          <p:cNvPr id="19" name="Shape 17"/>
          <p:cNvSpPr/>
          <p:nvPr/>
        </p:nvSpPr>
        <p:spPr>
          <a:xfrm>
            <a:off x="274320" y="2514600"/>
            <a:ext cx="4160520" cy="1170432"/>
          </a:xfrm>
          <a:prstGeom prst="rect">
            <a:avLst/>
          </a:prstGeom>
          <a:solidFill>
            <a:srgbClr val="FFFFFF"/>
          </a:solidFill>
          <a:ln w="10160">
            <a:solidFill>
              <a:srgbClr val="E2E8F0"/>
            </a:solidFill>
            <a:prstDash val="solid"/>
          </a:ln>
        </p:spPr>
      </p:sp>
      <p:sp>
        <p:nvSpPr>
          <p:cNvPr id="20" name="Shape 18"/>
          <p:cNvSpPr/>
          <p:nvPr/>
        </p:nvSpPr>
        <p:spPr>
          <a:xfrm>
            <a:off x="274320" y="2514600"/>
            <a:ext cx="4160520" cy="91440"/>
          </a:xfrm>
          <a:prstGeom prst="rect">
            <a:avLst/>
          </a:prstGeom>
          <a:solidFill>
            <a:srgbClr val="028090"/>
          </a:solidFill>
          <a:ln w="12700">
            <a:solidFill>
              <a:srgbClr val="028090"/>
            </a:solidFill>
            <a:prstDash val="solid"/>
          </a:ln>
        </p:spPr>
      </p:sp>
      <p:sp>
        <p:nvSpPr>
          <p:cNvPr id="21" name="Text 19"/>
          <p:cNvSpPr/>
          <p:nvPr/>
        </p:nvSpPr>
        <p:spPr>
          <a:xfrm>
            <a:off x="365760" y="2633472"/>
            <a:ext cx="2560320" cy="256032"/>
          </a:xfrm>
          <a:prstGeom prst="rect">
            <a:avLst/>
          </a:prstGeom>
          <a:noFill/>
          <a:ln/>
        </p:spPr>
        <p:txBody>
          <a:bodyPr wrap="square" lIns="0" tIns="0" rIns="0" bIns="0" rtlCol="0" anchor="ctr"/>
          <a:lstStyle/>
          <a:p>
            <a:pPr indent="0" marL="0">
              <a:buNone/>
            </a:pPr>
            <a:r>
              <a:rPr lang="en-US" sz="1100" b="1" dirty="0">
                <a:solidFill>
                  <a:srgbClr val="0B1F3A"/>
                </a:solidFill>
              </a:rPr>
              <a:t>Whitney Ranch / Whitney Oaks</a:t>
            </a:r>
            <a:endParaRPr lang="en-US" sz="1100" dirty="0"/>
          </a:p>
        </p:txBody>
      </p:sp>
      <p:sp>
        <p:nvSpPr>
          <p:cNvPr id="22" name="Text 20"/>
          <p:cNvSpPr/>
          <p:nvPr/>
        </p:nvSpPr>
        <p:spPr>
          <a:xfrm>
            <a:off x="2971800" y="2633472"/>
            <a:ext cx="1371600" cy="256032"/>
          </a:xfrm>
          <a:prstGeom prst="rect">
            <a:avLst/>
          </a:prstGeom>
          <a:noFill/>
          <a:ln/>
        </p:spPr>
        <p:txBody>
          <a:bodyPr wrap="square" lIns="0" tIns="0" rIns="0" bIns="0" rtlCol="0" anchor="ctr"/>
          <a:lstStyle/>
          <a:p>
            <a:pPr algn="r" indent="0" marL="0">
              <a:buNone/>
            </a:pPr>
            <a:r>
              <a:rPr lang="en-US" sz="1100" dirty="0">
                <a:solidFill>
                  <a:srgbClr val="F4B942"/>
                </a:solidFill>
              </a:rPr>
              <a:t>★★★★☆</a:t>
            </a:r>
            <a:endParaRPr lang="en-US" sz="1100" dirty="0"/>
          </a:p>
        </p:txBody>
      </p:sp>
      <p:sp>
        <p:nvSpPr>
          <p:cNvPr id="23" name="Text 21"/>
          <p:cNvSpPr/>
          <p:nvPr/>
        </p:nvSpPr>
        <p:spPr>
          <a:xfrm>
            <a:off x="365760" y="2898648"/>
            <a:ext cx="3931920" cy="201168"/>
          </a:xfrm>
          <a:prstGeom prst="rect">
            <a:avLst/>
          </a:prstGeom>
          <a:noFill/>
          <a:ln/>
        </p:spPr>
        <p:txBody>
          <a:bodyPr wrap="square" lIns="0" tIns="0" rIns="0" bIns="0" rtlCol="0" anchor="ctr"/>
          <a:lstStyle/>
          <a:p>
            <a:pPr indent="0" marL="0">
              <a:buNone/>
            </a:pPr>
            <a:r>
              <a:rPr lang="en-US" sz="900" dirty="0">
                <a:solidFill>
                  <a:srgbClr val="94A3B8"/>
                </a:solidFill>
              </a:rPr>
              <a:t>Rocklin  ·  400+ homes  ·  2022–2026</a:t>
            </a:r>
            <a:endParaRPr lang="en-US" sz="900" dirty="0"/>
          </a:p>
        </p:txBody>
      </p:sp>
      <p:sp>
        <p:nvSpPr>
          <p:cNvPr id="24" name="Text 22"/>
          <p:cNvSpPr/>
          <p:nvPr/>
        </p:nvSpPr>
        <p:spPr>
          <a:xfrm>
            <a:off x="365760" y="3081528"/>
            <a:ext cx="3931920" cy="182880"/>
          </a:xfrm>
          <a:prstGeom prst="rect">
            <a:avLst/>
          </a:prstGeom>
          <a:noFill/>
          <a:ln/>
        </p:spPr>
        <p:txBody>
          <a:bodyPr wrap="square" lIns="0" tIns="0" rIns="0" bIns="0" rtlCol="0" anchor="ctr"/>
          <a:lstStyle/>
          <a:p>
            <a:pPr indent="0" marL="0">
              <a:buNone/>
            </a:pPr>
            <a:r>
              <a:rPr lang="en-US" sz="900" b="1" dirty="0">
                <a:solidFill>
                  <a:srgbClr val="028090"/>
                </a:solidFill>
              </a:rPr>
              <a:t>HOA: Yes  ·  Solar: 100% mandatory</a:t>
            </a:r>
            <a:endParaRPr lang="en-US" sz="900" dirty="0"/>
          </a:p>
        </p:txBody>
      </p:sp>
      <p:sp>
        <p:nvSpPr>
          <p:cNvPr id="25" name="Text 23"/>
          <p:cNvSpPr/>
          <p:nvPr/>
        </p:nvSpPr>
        <p:spPr>
          <a:xfrm>
            <a:off x="365760" y="3273552"/>
            <a:ext cx="3931920" cy="320040"/>
          </a:xfrm>
          <a:prstGeom prst="rect">
            <a:avLst/>
          </a:prstGeom>
          <a:noFill/>
          <a:ln/>
        </p:spPr>
        <p:txBody>
          <a:bodyPr wrap="square" lIns="0" tIns="0" rIns="0" bIns="0" rtlCol="0" anchor="ctr"/>
          <a:lstStyle/>
          <a:p>
            <a:pPr indent="0" marL="0">
              <a:buNone/>
            </a:pPr>
            <a:r>
              <a:rPr lang="en-US" sz="900" dirty="0">
                <a:solidFill>
                  <a:srgbClr val="334155"/>
                </a:solidFill>
              </a:rPr>
              <a:t>Rocklin's prime target — Roger's home market, best logistics.</a:t>
            </a:r>
            <a:endParaRPr lang="en-US" sz="900" dirty="0"/>
          </a:p>
        </p:txBody>
      </p:sp>
      <p:sp>
        <p:nvSpPr>
          <p:cNvPr id="26" name="Shape 24"/>
          <p:cNvSpPr/>
          <p:nvPr/>
        </p:nvSpPr>
        <p:spPr>
          <a:xfrm>
            <a:off x="4709160" y="2514600"/>
            <a:ext cx="4160520" cy="1170432"/>
          </a:xfrm>
          <a:prstGeom prst="rect">
            <a:avLst/>
          </a:prstGeom>
          <a:solidFill>
            <a:srgbClr val="FFFFFF"/>
          </a:solidFill>
          <a:ln w="10160">
            <a:solidFill>
              <a:srgbClr val="E2E8F0"/>
            </a:solidFill>
            <a:prstDash val="solid"/>
          </a:ln>
        </p:spPr>
      </p:sp>
      <p:sp>
        <p:nvSpPr>
          <p:cNvPr id="27" name="Shape 25"/>
          <p:cNvSpPr/>
          <p:nvPr/>
        </p:nvSpPr>
        <p:spPr>
          <a:xfrm>
            <a:off x="4709160" y="2514600"/>
            <a:ext cx="4160520" cy="91440"/>
          </a:xfrm>
          <a:prstGeom prst="rect">
            <a:avLst/>
          </a:prstGeom>
          <a:solidFill>
            <a:srgbClr val="028090"/>
          </a:solidFill>
          <a:ln w="12700">
            <a:solidFill>
              <a:srgbClr val="028090"/>
            </a:solidFill>
            <a:prstDash val="solid"/>
          </a:ln>
        </p:spPr>
      </p:sp>
      <p:sp>
        <p:nvSpPr>
          <p:cNvPr id="28" name="Text 26"/>
          <p:cNvSpPr/>
          <p:nvPr/>
        </p:nvSpPr>
        <p:spPr>
          <a:xfrm>
            <a:off x="4800600" y="2633472"/>
            <a:ext cx="2560320" cy="256032"/>
          </a:xfrm>
          <a:prstGeom prst="rect">
            <a:avLst/>
          </a:prstGeom>
          <a:noFill/>
          <a:ln/>
        </p:spPr>
        <p:txBody>
          <a:bodyPr wrap="square" lIns="0" tIns="0" rIns="0" bIns="0" rtlCol="0" anchor="ctr"/>
          <a:lstStyle/>
          <a:p>
            <a:pPr indent="0" marL="0">
              <a:buNone/>
            </a:pPr>
            <a:r>
              <a:rPr lang="en-US" sz="1100" b="1" dirty="0">
                <a:solidFill>
                  <a:srgbClr val="0B1F3A"/>
                </a:solidFill>
              </a:rPr>
              <a:t>Crowne Point</a:t>
            </a:r>
            <a:endParaRPr lang="en-US" sz="1100" dirty="0"/>
          </a:p>
        </p:txBody>
      </p:sp>
      <p:sp>
        <p:nvSpPr>
          <p:cNvPr id="29" name="Text 27"/>
          <p:cNvSpPr/>
          <p:nvPr/>
        </p:nvSpPr>
        <p:spPr>
          <a:xfrm>
            <a:off x="7406640" y="2633472"/>
            <a:ext cx="1371600" cy="256032"/>
          </a:xfrm>
          <a:prstGeom prst="rect">
            <a:avLst/>
          </a:prstGeom>
          <a:noFill/>
          <a:ln/>
        </p:spPr>
        <p:txBody>
          <a:bodyPr wrap="square" lIns="0" tIns="0" rIns="0" bIns="0" rtlCol="0" anchor="ctr"/>
          <a:lstStyle/>
          <a:p>
            <a:pPr algn="r" indent="0" marL="0">
              <a:buNone/>
            </a:pPr>
            <a:r>
              <a:rPr lang="en-US" sz="1100" dirty="0">
                <a:solidFill>
                  <a:srgbClr val="F4B942"/>
                </a:solidFill>
              </a:rPr>
              <a:t>★★★★☆</a:t>
            </a:r>
            <a:endParaRPr lang="en-US" sz="1100" dirty="0"/>
          </a:p>
        </p:txBody>
      </p:sp>
      <p:sp>
        <p:nvSpPr>
          <p:cNvPr id="30" name="Text 28"/>
          <p:cNvSpPr/>
          <p:nvPr/>
        </p:nvSpPr>
        <p:spPr>
          <a:xfrm>
            <a:off x="4800600" y="2898648"/>
            <a:ext cx="3931920" cy="201168"/>
          </a:xfrm>
          <a:prstGeom prst="rect">
            <a:avLst/>
          </a:prstGeom>
          <a:noFill/>
          <a:ln/>
        </p:spPr>
        <p:txBody>
          <a:bodyPr wrap="square" lIns="0" tIns="0" rIns="0" bIns="0" rtlCol="0" anchor="ctr"/>
          <a:lstStyle/>
          <a:p>
            <a:pPr indent="0" marL="0">
              <a:buNone/>
            </a:pPr>
            <a:r>
              <a:rPr lang="en-US" sz="900" dirty="0">
                <a:solidFill>
                  <a:srgbClr val="94A3B8"/>
                </a:solidFill>
              </a:rPr>
              <a:t>Rocklin  ·  200+ homes  ·  2023–2026</a:t>
            </a:r>
            <a:endParaRPr lang="en-US" sz="900" dirty="0"/>
          </a:p>
        </p:txBody>
      </p:sp>
      <p:sp>
        <p:nvSpPr>
          <p:cNvPr id="31" name="Text 29"/>
          <p:cNvSpPr/>
          <p:nvPr/>
        </p:nvSpPr>
        <p:spPr>
          <a:xfrm>
            <a:off x="4800600" y="3081528"/>
            <a:ext cx="3931920" cy="182880"/>
          </a:xfrm>
          <a:prstGeom prst="rect">
            <a:avLst/>
          </a:prstGeom>
          <a:noFill/>
          <a:ln/>
        </p:spPr>
        <p:txBody>
          <a:bodyPr wrap="square" lIns="0" tIns="0" rIns="0" bIns="0" rtlCol="0" anchor="ctr"/>
          <a:lstStyle/>
          <a:p>
            <a:pPr indent="0" marL="0">
              <a:buNone/>
            </a:pPr>
            <a:r>
              <a:rPr lang="en-US" sz="900" b="1" dirty="0">
                <a:solidFill>
                  <a:srgbClr val="028090"/>
                </a:solidFill>
              </a:rPr>
              <a:t>HOA: Yes  ·  Solar: 100% mandatory</a:t>
            </a:r>
            <a:endParaRPr lang="en-US" sz="900" dirty="0"/>
          </a:p>
        </p:txBody>
      </p:sp>
      <p:sp>
        <p:nvSpPr>
          <p:cNvPr id="32" name="Text 30"/>
          <p:cNvSpPr/>
          <p:nvPr/>
        </p:nvSpPr>
        <p:spPr>
          <a:xfrm>
            <a:off x="4800600" y="3273552"/>
            <a:ext cx="3931920" cy="320040"/>
          </a:xfrm>
          <a:prstGeom prst="rect">
            <a:avLst/>
          </a:prstGeom>
          <a:noFill/>
          <a:ln/>
        </p:spPr>
        <p:txBody>
          <a:bodyPr wrap="square" lIns="0" tIns="0" rIns="0" bIns="0" rtlCol="0" anchor="ctr"/>
          <a:lstStyle/>
          <a:p>
            <a:pPr indent="0" marL="0">
              <a:buNone/>
            </a:pPr>
            <a:r>
              <a:rPr lang="en-US" sz="900" dirty="0">
                <a:solidFill>
                  <a:srgbClr val="334155"/>
                </a:solidFill>
              </a:rPr>
              <a:t>DR Horton build, brand new. Designer homes, premium price point.</a:t>
            </a:r>
            <a:endParaRPr lang="en-US" sz="900" dirty="0"/>
          </a:p>
        </p:txBody>
      </p:sp>
      <p:sp>
        <p:nvSpPr>
          <p:cNvPr id="33" name="Shape 31"/>
          <p:cNvSpPr/>
          <p:nvPr/>
        </p:nvSpPr>
        <p:spPr>
          <a:xfrm>
            <a:off x="274320" y="3767328"/>
            <a:ext cx="4160520" cy="1170432"/>
          </a:xfrm>
          <a:prstGeom prst="rect">
            <a:avLst/>
          </a:prstGeom>
          <a:solidFill>
            <a:srgbClr val="FFFFFF"/>
          </a:solidFill>
          <a:ln w="10160">
            <a:solidFill>
              <a:srgbClr val="E2E8F0"/>
            </a:solidFill>
            <a:prstDash val="solid"/>
          </a:ln>
        </p:spPr>
      </p:sp>
      <p:sp>
        <p:nvSpPr>
          <p:cNvPr id="34" name="Shape 32"/>
          <p:cNvSpPr/>
          <p:nvPr/>
        </p:nvSpPr>
        <p:spPr>
          <a:xfrm>
            <a:off x="274320" y="3767328"/>
            <a:ext cx="4160520" cy="91440"/>
          </a:xfrm>
          <a:prstGeom prst="rect">
            <a:avLst/>
          </a:prstGeom>
          <a:solidFill>
            <a:srgbClr val="028090"/>
          </a:solidFill>
          <a:ln w="12700">
            <a:solidFill>
              <a:srgbClr val="028090"/>
            </a:solidFill>
            <a:prstDash val="solid"/>
          </a:ln>
        </p:spPr>
      </p:sp>
      <p:sp>
        <p:nvSpPr>
          <p:cNvPr id="35" name="Text 33"/>
          <p:cNvSpPr/>
          <p:nvPr/>
        </p:nvSpPr>
        <p:spPr>
          <a:xfrm>
            <a:off x="365760" y="3886200"/>
            <a:ext cx="2560320" cy="256032"/>
          </a:xfrm>
          <a:prstGeom prst="rect">
            <a:avLst/>
          </a:prstGeom>
          <a:noFill/>
          <a:ln/>
        </p:spPr>
        <p:txBody>
          <a:bodyPr wrap="square" lIns="0" tIns="0" rIns="0" bIns="0" rtlCol="0" anchor="ctr"/>
          <a:lstStyle/>
          <a:p>
            <a:pPr indent="0" marL="0">
              <a:buNone/>
            </a:pPr>
            <a:r>
              <a:rPr lang="en-US" sz="1100" b="1" dirty="0">
                <a:solidFill>
                  <a:srgbClr val="0B1F3A"/>
                </a:solidFill>
              </a:rPr>
              <a:t>Sun City Lincoln Hills</a:t>
            </a:r>
            <a:endParaRPr lang="en-US" sz="1100" dirty="0"/>
          </a:p>
        </p:txBody>
      </p:sp>
      <p:sp>
        <p:nvSpPr>
          <p:cNvPr id="36" name="Text 34"/>
          <p:cNvSpPr/>
          <p:nvPr/>
        </p:nvSpPr>
        <p:spPr>
          <a:xfrm>
            <a:off x="2971800" y="3886200"/>
            <a:ext cx="1371600" cy="256032"/>
          </a:xfrm>
          <a:prstGeom prst="rect">
            <a:avLst/>
          </a:prstGeom>
          <a:noFill/>
          <a:ln/>
        </p:spPr>
        <p:txBody>
          <a:bodyPr wrap="square" lIns="0" tIns="0" rIns="0" bIns="0" rtlCol="0" anchor="ctr"/>
          <a:lstStyle/>
          <a:p>
            <a:pPr algn="r" indent="0" marL="0">
              <a:buNone/>
            </a:pPr>
            <a:r>
              <a:rPr lang="en-US" sz="1100" dirty="0">
                <a:solidFill>
                  <a:srgbClr val="F4B942"/>
                </a:solidFill>
              </a:rPr>
              <a:t>★★★★★</a:t>
            </a:r>
            <a:endParaRPr lang="en-US" sz="1100" dirty="0"/>
          </a:p>
        </p:txBody>
      </p:sp>
      <p:sp>
        <p:nvSpPr>
          <p:cNvPr id="37" name="Text 35"/>
          <p:cNvSpPr/>
          <p:nvPr/>
        </p:nvSpPr>
        <p:spPr>
          <a:xfrm>
            <a:off x="365760" y="4151376"/>
            <a:ext cx="3931920" cy="201168"/>
          </a:xfrm>
          <a:prstGeom prst="rect">
            <a:avLst/>
          </a:prstGeom>
          <a:noFill/>
          <a:ln/>
        </p:spPr>
        <p:txBody>
          <a:bodyPr wrap="square" lIns="0" tIns="0" rIns="0" bIns="0" rtlCol="0" anchor="ctr"/>
          <a:lstStyle/>
          <a:p>
            <a:pPr indent="0" marL="0">
              <a:buNone/>
            </a:pPr>
            <a:r>
              <a:rPr lang="en-US" sz="900" dirty="0">
                <a:solidFill>
                  <a:srgbClr val="94A3B8"/>
                </a:solidFill>
              </a:rPr>
              <a:t>Lincoln  ·  7,000+ homes  ·  Ongoing resales</a:t>
            </a:r>
            <a:endParaRPr lang="en-US" sz="900" dirty="0"/>
          </a:p>
        </p:txBody>
      </p:sp>
      <p:sp>
        <p:nvSpPr>
          <p:cNvPr id="38" name="Text 36"/>
          <p:cNvSpPr/>
          <p:nvPr/>
        </p:nvSpPr>
        <p:spPr>
          <a:xfrm>
            <a:off x="365760" y="4334256"/>
            <a:ext cx="3931920" cy="182880"/>
          </a:xfrm>
          <a:prstGeom prst="rect">
            <a:avLst/>
          </a:prstGeom>
          <a:noFill/>
          <a:ln/>
        </p:spPr>
        <p:txBody>
          <a:bodyPr wrap="square" lIns="0" tIns="0" rIns="0" bIns="0" rtlCol="0" anchor="ctr"/>
          <a:lstStyle/>
          <a:p>
            <a:pPr indent="0" marL="0">
              <a:buNone/>
            </a:pPr>
            <a:r>
              <a:rPr lang="en-US" sz="900" b="1" dirty="0">
                <a:solidFill>
                  <a:srgbClr val="028090"/>
                </a:solidFill>
              </a:rPr>
              <a:t>HOA: Yes — $188+/mo HOA  ·  Solar: High adoption</a:t>
            </a:r>
            <a:endParaRPr lang="en-US" sz="900" dirty="0"/>
          </a:p>
        </p:txBody>
      </p:sp>
      <p:sp>
        <p:nvSpPr>
          <p:cNvPr id="39" name="Text 37"/>
          <p:cNvSpPr/>
          <p:nvPr/>
        </p:nvSpPr>
        <p:spPr>
          <a:xfrm>
            <a:off x="365760" y="4526280"/>
            <a:ext cx="3931920" cy="320040"/>
          </a:xfrm>
          <a:prstGeom prst="rect">
            <a:avLst/>
          </a:prstGeom>
          <a:noFill/>
          <a:ln/>
        </p:spPr>
        <p:txBody>
          <a:bodyPr wrap="square" lIns="0" tIns="0" rIns="0" bIns="0" rtlCol="0" anchor="ctr"/>
          <a:lstStyle/>
          <a:p>
            <a:pPr indent="0" marL="0">
              <a:buNone/>
            </a:pPr>
            <a:r>
              <a:rPr lang="en-US" sz="900" dirty="0">
                <a:solidFill>
                  <a:srgbClr val="334155"/>
                </a:solidFill>
              </a:rPr>
              <a:t>MEGA target. 55+ community, HOA-managed, high solar ownership, easy HOA pitch.</a:t>
            </a:r>
            <a:endParaRPr lang="en-US" sz="900" dirty="0"/>
          </a:p>
        </p:txBody>
      </p:sp>
      <p:sp>
        <p:nvSpPr>
          <p:cNvPr id="40" name="Shape 38"/>
          <p:cNvSpPr/>
          <p:nvPr/>
        </p:nvSpPr>
        <p:spPr>
          <a:xfrm>
            <a:off x="4709160" y="3767328"/>
            <a:ext cx="4160520" cy="1170432"/>
          </a:xfrm>
          <a:prstGeom prst="rect">
            <a:avLst/>
          </a:prstGeom>
          <a:solidFill>
            <a:srgbClr val="FFFFFF"/>
          </a:solidFill>
          <a:ln w="10160">
            <a:solidFill>
              <a:srgbClr val="E2E8F0"/>
            </a:solidFill>
            <a:prstDash val="solid"/>
          </a:ln>
        </p:spPr>
      </p:sp>
      <p:sp>
        <p:nvSpPr>
          <p:cNvPr id="41" name="Shape 39"/>
          <p:cNvSpPr/>
          <p:nvPr/>
        </p:nvSpPr>
        <p:spPr>
          <a:xfrm>
            <a:off x="4709160" y="3767328"/>
            <a:ext cx="4160520" cy="91440"/>
          </a:xfrm>
          <a:prstGeom prst="rect">
            <a:avLst/>
          </a:prstGeom>
          <a:solidFill>
            <a:srgbClr val="028090"/>
          </a:solidFill>
          <a:ln w="12700">
            <a:solidFill>
              <a:srgbClr val="028090"/>
            </a:solidFill>
            <a:prstDash val="solid"/>
          </a:ln>
        </p:spPr>
      </p:sp>
      <p:sp>
        <p:nvSpPr>
          <p:cNvPr id="42" name="Text 40"/>
          <p:cNvSpPr/>
          <p:nvPr/>
        </p:nvSpPr>
        <p:spPr>
          <a:xfrm>
            <a:off x="4800600" y="3886200"/>
            <a:ext cx="2560320" cy="256032"/>
          </a:xfrm>
          <a:prstGeom prst="rect">
            <a:avLst/>
          </a:prstGeom>
          <a:noFill/>
          <a:ln/>
        </p:spPr>
        <p:txBody>
          <a:bodyPr wrap="square" lIns="0" tIns="0" rIns="0" bIns="0" rtlCol="0" anchor="ctr"/>
          <a:lstStyle/>
          <a:p>
            <a:pPr indent="0" marL="0">
              <a:buNone/>
            </a:pPr>
            <a:r>
              <a:rPr lang="en-US" sz="1100" b="1" dirty="0">
                <a:solidFill>
                  <a:srgbClr val="0B1F3A"/>
                </a:solidFill>
              </a:rPr>
              <a:t>Sierra Vista / West Park</a:t>
            </a:r>
            <a:endParaRPr lang="en-US" sz="1100" dirty="0"/>
          </a:p>
        </p:txBody>
      </p:sp>
      <p:sp>
        <p:nvSpPr>
          <p:cNvPr id="43" name="Text 41"/>
          <p:cNvSpPr/>
          <p:nvPr/>
        </p:nvSpPr>
        <p:spPr>
          <a:xfrm>
            <a:off x="7406640" y="3886200"/>
            <a:ext cx="1371600" cy="256032"/>
          </a:xfrm>
          <a:prstGeom prst="rect">
            <a:avLst/>
          </a:prstGeom>
          <a:noFill/>
          <a:ln/>
        </p:spPr>
        <p:txBody>
          <a:bodyPr wrap="square" lIns="0" tIns="0" rIns="0" bIns="0" rtlCol="0" anchor="ctr"/>
          <a:lstStyle/>
          <a:p>
            <a:pPr algn="r" indent="0" marL="0">
              <a:buNone/>
            </a:pPr>
            <a:r>
              <a:rPr lang="en-US" sz="1100" dirty="0">
                <a:solidFill>
                  <a:srgbClr val="F4B942"/>
                </a:solidFill>
              </a:rPr>
              <a:t>★★★☆☆</a:t>
            </a:r>
            <a:endParaRPr lang="en-US" sz="1100" dirty="0"/>
          </a:p>
        </p:txBody>
      </p:sp>
      <p:sp>
        <p:nvSpPr>
          <p:cNvPr id="44" name="Text 42"/>
          <p:cNvSpPr/>
          <p:nvPr/>
        </p:nvSpPr>
        <p:spPr>
          <a:xfrm>
            <a:off x="4800600" y="4151376"/>
            <a:ext cx="3931920" cy="201168"/>
          </a:xfrm>
          <a:prstGeom prst="rect">
            <a:avLst/>
          </a:prstGeom>
          <a:noFill/>
          <a:ln/>
        </p:spPr>
        <p:txBody>
          <a:bodyPr wrap="square" lIns="0" tIns="0" rIns="0" bIns="0" rtlCol="0" anchor="ctr"/>
          <a:lstStyle/>
          <a:p>
            <a:pPr indent="0" marL="0">
              <a:buNone/>
            </a:pPr>
            <a:r>
              <a:rPr lang="en-US" sz="900" dirty="0">
                <a:solidFill>
                  <a:srgbClr val="94A3B8"/>
                </a:solidFill>
              </a:rPr>
              <a:t>Roseville  ·  300+ homes  ·  2022–2025</a:t>
            </a:r>
            <a:endParaRPr lang="en-US" sz="900" dirty="0"/>
          </a:p>
        </p:txBody>
      </p:sp>
      <p:sp>
        <p:nvSpPr>
          <p:cNvPr id="45" name="Text 43"/>
          <p:cNvSpPr/>
          <p:nvPr/>
        </p:nvSpPr>
        <p:spPr>
          <a:xfrm>
            <a:off x="4800600" y="4334256"/>
            <a:ext cx="3931920" cy="182880"/>
          </a:xfrm>
          <a:prstGeom prst="rect">
            <a:avLst/>
          </a:prstGeom>
          <a:noFill/>
          <a:ln/>
        </p:spPr>
        <p:txBody>
          <a:bodyPr wrap="square" lIns="0" tIns="0" rIns="0" bIns="0" rtlCol="0" anchor="ctr"/>
          <a:lstStyle/>
          <a:p>
            <a:pPr indent="0" marL="0">
              <a:buNone/>
            </a:pPr>
            <a:r>
              <a:rPr lang="en-US" sz="900" b="1" dirty="0">
                <a:solidFill>
                  <a:srgbClr val="028090"/>
                </a:solidFill>
              </a:rPr>
              <a:t>HOA: Yes  ·  Solar: 100% mandatory</a:t>
            </a:r>
            <a:endParaRPr lang="en-US" sz="900" dirty="0"/>
          </a:p>
        </p:txBody>
      </p:sp>
      <p:sp>
        <p:nvSpPr>
          <p:cNvPr id="46" name="Text 44"/>
          <p:cNvSpPr/>
          <p:nvPr/>
        </p:nvSpPr>
        <p:spPr>
          <a:xfrm>
            <a:off x="4800600" y="4526280"/>
            <a:ext cx="3931920" cy="320040"/>
          </a:xfrm>
          <a:prstGeom prst="rect">
            <a:avLst/>
          </a:prstGeom>
          <a:noFill/>
          <a:ln/>
        </p:spPr>
        <p:txBody>
          <a:bodyPr wrap="square" lIns="0" tIns="0" rIns="0" bIns="0" rtlCol="0" anchor="ctr"/>
          <a:lstStyle/>
          <a:p>
            <a:pPr indent="0" marL="0">
              <a:buNone/>
            </a:pPr>
            <a:r>
              <a:rPr lang="en-US" sz="900" dirty="0">
                <a:solidFill>
                  <a:srgbClr val="334155"/>
                </a:solidFill>
              </a:rPr>
              <a:t>Good density target for route efficiency. Adjacent to Winding Creek.</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300" b="1" spc="500" kern="0" dirty="0">
                <a:solidFill>
                  <a:srgbClr val="F4B942"/>
                </a:solidFill>
              </a:rPr>
              <a:t>HOW ROGER WINS AGAINST EACH COMPETITOR</a:t>
            </a:r>
            <a:endParaRPr lang="en-US" sz="1300" dirty="0"/>
          </a:p>
        </p:txBody>
      </p:sp>
      <p:sp>
        <p:nvSpPr>
          <p:cNvPr id="4" name="Shape 2"/>
          <p:cNvSpPr/>
          <p:nvPr/>
        </p:nvSpPr>
        <p:spPr>
          <a:xfrm>
            <a:off x="274320" y="777240"/>
            <a:ext cx="4160520" cy="1353312"/>
          </a:xfrm>
          <a:prstGeom prst="rect">
            <a:avLst/>
          </a:prstGeom>
          <a:solidFill>
            <a:srgbClr val="FFFFFF"/>
          </a:solidFill>
          <a:ln w="6350">
            <a:solidFill>
              <a:srgbClr val="E2E8F0"/>
            </a:solidFill>
            <a:prstDash val="solid"/>
          </a:ln>
        </p:spPr>
      </p:sp>
      <p:sp>
        <p:nvSpPr>
          <p:cNvPr id="5" name="Shape 3"/>
          <p:cNvSpPr/>
          <p:nvPr/>
        </p:nvSpPr>
        <p:spPr>
          <a:xfrm>
            <a:off x="274320" y="777240"/>
            <a:ext cx="4160520" cy="91440"/>
          </a:xfrm>
          <a:prstGeom prst="rect">
            <a:avLst/>
          </a:prstGeom>
          <a:solidFill>
            <a:srgbClr val="E74C3C"/>
          </a:solidFill>
          <a:ln w="12700">
            <a:solidFill>
              <a:srgbClr val="E74C3C"/>
            </a:solidFill>
            <a:prstDash val="solid"/>
          </a:ln>
        </p:spPr>
      </p:sp>
      <p:sp>
        <p:nvSpPr>
          <p:cNvPr id="6" name="Text 4"/>
          <p:cNvSpPr/>
          <p:nvPr/>
        </p:nvSpPr>
        <p:spPr>
          <a:xfrm>
            <a:off x="365760" y="896112"/>
            <a:ext cx="2926080" cy="256032"/>
          </a:xfrm>
          <a:prstGeom prst="rect">
            <a:avLst/>
          </a:prstGeom>
          <a:noFill/>
          <a:ln/>
        </p:spPr>
        <p:txBody>
          <a:bodyPr wrap="square" lIns="0" tIns="0" rIns="0" bIns="0" rtlCol="0" anchor="ctr"/>
          <a:lstStyle/>
          <a:p>
            <a:pPr indent="0" marL="0">
              <a:buNone/>
            </a:pPr>
            <a:r>
              <a:rPr lang="en-US" sz="1100" b="1" dirty="0">
                <a:solidFill>
                  <a:srgbClr val="0B1F3A"/>
                </a:solidFill>
              </a:rPr>
              <a:t>vs. Pure Solar Clean</a:t>
            </a:r>
            <a:endParaRPr lang="en-US" sz="1100" dirty="0"/>
          </a:p>
        </p:txBody>
      </p:sp>
      <p:sp>
        <p:nvSpPr>
          <p:cNvPr id="7" name="Shape 5"/>
          <p:cNvSpPr/>
          <p:nvPr/>
        </p:nvSpPr>
        <p:spPr>
          <a:xfrm>
            <a:off x="3383280" y="896112"/>
            <a:ext cx="960120" cy="237744"/>
          </a:xfrm>
          <a:prstGeom prst="rect">
            <a:avLst/>
          </a:prstGeom>
          <a:solidFill>
            <a:srgbClr val="E74C3C"/>
          </a:solidFill>
          <a:ln w="12700">
            <a:solidFill>
              <a:srgbClr val="E74C3C"/>
            </a:solidFill>
            <a:prstDash val="solid"/>
          </a:ln>
        </p:spPr>
      </p:sp>
      <p:sp>
        <p:nvSpPr>
          <p:cNvPr id="8" name="Text 6"/>
          <p:cNvSpPr/>
          <p:nvPr/>
        </p:nvSpPr>
        <p:spPr>
          <a:xfrm>
            <a:off x="3383280" y="896112"/>
            <a:ext cx="960120" cy="237744"/>
          </a:xfrm>
          <a:prstGeom prst="rect">
            <a:avLst/>
          </a:prstGeom>
          <a:noFill/>
          <a:ln/>
        </p:spPr>
        <p:txBody>
          <a:bodyPr wrap="square" lIns="0" tIns="0" rIns="0" bIns="0" rtlCol="0" anchor="ctr"/>
          <a:lstStyle/>
          <a:p>
            <a:pPr algn="ctr" indent="0" marL="0">
              <a:buNone/>
            </a:pPr>
            <a:r>
              <a:rPr lang="en-US" sz="750" b="1" dirty="0">
                <a:solidFill>
                  <a:srgbClr val="FFFFFF"/>
                </a:solidFill>
              </a:rPr>
              <a:t>THREAT: HIGH</a:t>
            </a:r>
            <a:endParaRPr lang="en-US" sz="750" dirty="0"/>
          </a:p>
        </p:txBody>
      </p:sp>
      <p:sp>
        <p:nvSpPr>
          <p:cNvPr id="9" name="Text 7"/>
          <p:cNvSpPr/>
          <p:nvPr/>
        </p:nvSpPr>
        <p:spPr>
          <a:xfrm>
            <a:off x="365760" y="1179576"/>
            <a:ext cx="3977640" cy="548640"/>
          </a:xfrm>
          <a:prstGeom prst="rect">
            <a:avLst/>
          </a:prstGeom>
          <a:noFill/>
          <a:ln/>
        </p:spPr>
        <p:txBody>
          <a:bodyPr wrap="square" lIns="0" tIns="0" rIns="0" bIns="0" rtlCol="0" anchor="t"/>
          <a:lstStyle/>
          <a:p>
            <a:pPr indent="0" marL="0">
              <a:buNone/>
            </a:pPr>
            <a:r>
              <a:rPr lang="en-US" sz="900" dirty="0">
                <a:solidFill>
                  <a:srgbClr val="334155"/>
                </a:solidFill>
              </a:rPr>
              <a:t>Pure Solar is strong but reactive — they wait for inbound. Roger is proactive: new subdivisions, Nextdoor presence, instant online booking. Launch a subscription plan (they don't have one) and lock customers Pure Solar hasn't touched yet. Specifically target Placer One/Winding Creek where they haven't established routes.</a:t>
            </a:r>
            <a:endParaRPr lang="en-US" sz="900" dirty="0"/>
          </a:p>
        </p:txBody>
      </p:sp>
      <p:sp>
        <p:nvSpPr>
          <p:cNvPr id="10" name="Shape 8"/>
          <p:cNvSpPr/>
          <p:nvPr/>
        </p:nvSpPr>
        <p:spPr>
          <a:xfrm>
            <a:off x="365760" y="1755648"/>
            <a:ext cx="3977640" cy="274320"/>
          </a:xfrm>
          <a:prstGeom prst="rect">
            <a:avLst/>
          </a:prstGeom>
          <a:solidFill>
            <a:srgbClr val="EAF9F0"/>
          </a:solidFill>
          <a:ln w="12700">
            <a:solidFill>
              <a:srgbClr val="E2E8F0"/>
            </a:solidFill>
            <a:prstDash val="solid"/>
          </a:ln>
        </p:spPr>
      </p:sp>
      <p:sp>
        <p:nvSpPr>
          <p:cNvPr id="11" name="Text 9"/>
          <p:cNvSpPr/>
          <p:nvPr/>
        </p:nvSpPr>
        <p:spPr>
          <a:xfrm>
            <a:off x="411480" y="1773936"/>
            <a:ext cx="3886200" cy="237744"/>
          </a:xfrm>
          <a:prstGeom prst="rect">
            <a:avLst/>
          </a:prstGeom>
          <a:noFill/>
          <a:ln/>
        </p:spPr>
        <p:txBody>
          <a:bodyPr wrap="square" lIns="0" tIns="0" rIns="0" bIns="0" rtlCol="0" anchor="ctr"/>
          <a:lstStyle/>
          <a:p>
            <a:pPr indent="0" marL="0">
              <a:buNone/>
            </a:pPr>
            <a:r>
              <a:rPr lang="en-US" sz="850" b="1" dirty="0">
                <a:solidFill>
                  <a:srgbClr val="1A6B3C"/>
                </a:solidFill>
              </a:rPr>
              <a:t>Tactic: Neighborhood door-hanger blitz + instant quote bot + $20 off 'first clean' → convert before Pure Solar ever gets a call.</a:t>
            </a:r>
            <a:endParaRPr lang="en-US" sz="850" dirty="0"/>
          </a:p>
        </p:txBody>
      </p:sp>
      <p:sp>
        <p:nvSpPr>
          <p:cNvPr id="12" name="Shape 10"/>
          <p:cNvSpPr/>
          <p:nvPr/>
        </p:nvSpPr>
        <p:spPr>
          <a:xfrm>
            <a:off x="4709160" y="777240"/>
            <a:ext cx="4160520" cy="1353312"/>
          </a:xfrm>
          <a:prstGeom prst="rect">
            <a:avLst/>
          </a:prstGeom>
          <a:solidFill>
            <a:srgbClr val="FFFFFF"/>
          </a:solidFill>
          <a:ln w="6350">
            <a:solidFill>
              <a:srgbClr val="E2E8F0"/>
            </a:solidFill>
            <a:prstDash val="solid"/>
          </a:ln>
        </p:spPr>
      </p:sp>
      <p:sp>
        <p:nvSpPr>
          <p:cNvPr id="13" name="Shape 11"/>
          <p:cNvSpPr/>
          <p:nvPr/>
        </p:nvSpPr>
        <p:spPr>
          <a:xfrm>
            <a:off x="4709160" y="777240"/>
            <a:ext cx="4160520" cy="91440"/>
          </a:xfrm>
          <a:prstGeom prst="rect">
            <a:avLst/>
          </a:prstGeom>
          <a:solidFill>
            <a:srgbClr val="E67E22"/>
          </a:solidFill>
          <a:ln w="12700">
            <a:solidFill>
              <a:srgbClr val="E67E22"/>
            </a:solidFill>
            <a:prstDash val="solid"/>
          </a:ln>
        </p:spPr>
      </p:sp>
      <p:sp>
        <p:nvSpPr>
          <p:cNvPr id="14" name="Text 12"/>
          <p:cNvSpPr/>
          <p:nvPr/>
        </p:nvSpPr>
        <p:spPr>
          <a:xfrm>
            <a:off x="4800600" y="896112"/>
            <a:ext cx="2926080" cy="256032"/>
          </a:xfrm>
          <a:prstGeom prst="rect">
            <a:avLst/>
          </a:prstGeom>
          <a:noFill/>
          <a:ln/>
        </p:spPr>
        <p:txBody>
          <a:bodyPr wrap="square" lIns="0" tIns="0" rIns="0" bIns="0" rtlCol="0" anchor="ctr"/>
          <a:lstStyle/>
          <a:p>
            <a:pPr indent="0" marL="0">
              <a:buNone/>
            </a:pPr>
            <a:r>
              <a:rPr lang="en-US" sz="1100" b="1" dirty="0">
                <a:solidFill>
                  <a:srgbClr val="0B1F3A"/>
                </a:solidFill>
              </a:rPr>
              <a:t>vs. Suns Solar Cleaning</a:t>
            </a:r>
            <a:endParaRPr lang="en-US" sz="1100" dirty="0"/>
          </a:p>
        </p:txBody>
      </p:sp>
      <p:sp>
        <p:nvSpPr>
          <p:cNvPr id="15" name="Shape 13"/>
          <p:cNvSpPr/>
          <p:nvPr/>
        </p:nvSpPr>
        <p:spPr>
          <a:xfrm>
            <a:off x="7818120" y="896112"/>
            <a:ext cx="960120" cy="237744"/>
          </a:xfrm>
          <a:prstGeom prst="rect">
            <a:avLst/>
          </a:prstGeom>
          <a:solidFill>
            <a:srgbClr val="E67E22"/>
          </a:solidFill>
          <a:ln w="12700">
            <a:solidFill>
              <a:srgbClr val="E67E22"/>
            </a:solidFill>
            <a:prstDash val="solid"/>
          </a:ln>
        </p:spPr>
      </p:sp>
      <p:sp>
        <p:nvSpPr>
          <p:cNvPr id="16" name="Text 14"/>
          <p:cNvSpPr/>
          <p:nvPr/>
        </p:nvSpPr>
        <p:spPr>
          <a:xfrm>
            <a:off x="7818120" y="896112"/>
            <a:ext cx="960120" cy="237744"/>
          </a:xfrm>
          <a:prstGeom prst="rect">
            <a:avLst/>
          </a:prstGeom>
          <a:noFill/>
          <a:ln/>
        </p:spPr>
        <p:txBody>
          <a:bodyPr wrap="square" lIns="0" tIns="0" rIns="0" bIns="0" rtlCol="0" anchor="ctr"/>
          <a:lstStyle/>
          <a:p>
            <a:pPr algn="ctr" indent="0" marL="0">
              <a:buNone/>
            </a:pPr>
            <a:r>
              <a:rPr lang="en-US" sz="750" b="1" dirty="0">
                <a:solidFill>
                  <a:srgbClr val="FFFFFF"/>
                </a:solidFill>
              </a:rPr>
              <a:t>THREAT: MED</a:t>
            </a:r>
            <a:endParaRPr lang="en-US" sz="750" dirty="0"/>
          </a:p>
        </p:txBody>
      </p:sp>
      <p:sp>
        <p:nvSpPr>
          <p:cNvPr id="17" name="Text 15"/>
          <p:cNvSpPr/>
          <p:nvPr/>
        </p:nvSpPr>
        <p:spPr>
          <a:xfrm>
            <a:off x="4800600" y="1179576"/>
            <a:ext cx="3977640" cy="548640"/>
          </a:xfrm>
          <a:prstGeom prst="rect">
            <a:avLst/>
          </a:prstGeom>
          <a:noFill/>
          <a:ln/>
        </p:spPr>
        <p:txBody>
          <a:bodyPr wrap="square" lIns="0" tIns="0" rIns="0" bIns="0" rtlCol="0" anchor="t"/>
          <a:lstStyle/>
          <a:p>
            <a:pPr indent="0" marL="0">
              <a:buNone/>
            </a:pPr>
            <a:r>
              <a:rPr lang="en-US" sz="900" dirty="0">
                <a:solidFill>
                  <a:srgbClr val="334155"/>
                </a:solidFill>
              </a:rPr>
              <a:t>Suns does great work but has no subscription, no AI, and no neighborhood-density play. Roger's HOA contract strategy creates a moat Suns can't replicate without completely rebuilding their model. Their strength is add-ons — match it (bird proofing, inspection) and undercut on speed/booking convenience.</a:t>
            </a:r>
            <a:endParaRPr lang="en-US" sz="900" dirty="0"/>
          </a:p>
        </p:txBody>
      </p:sp>
      <p:sp>
        <p:nvSpPr>
          <p:cNvPr id="18" name="Shape 16"/>
          <p:cNvSpPr/>
          <p:nvPr/>
        </p:nvSpPr>
        <p:spPr>
          <a:xfrm>
            <a:off x="4800600" y="1755648"/>
            <a:ext cx="3977640" cy="274320"/>
          </a:xfrm>
          <a:prstGeom prst="rect">
            <a:avLst/>
          </a:prstGeom>
          <a:solidFill>
            <a:srgbClr val="EAF9F0"/>
          </a:solidFill>
          <a:ln w="12700">
            <a:solidFill>
              <a:srgbClr val="E2E8F0"/>
            </a:solidFill>
            <a:prstDash val="solid"/>
          </a:ln>
        </p:spPr>
      </p:sp>
      <p:sp>
        <p:nvSpPr>
          <p:cNvPr id="19" name="Text 17"/>
          <p:cNvSpPr/>
          <p:nvPr/>
        </p:nvSpPr>
        <p:spPr>
          <a:xfrm>
            <a:off x="4846320" y="1773936"/>
            <a:ext cx="3886200" cy="237744"/>
          </a:xfrm>
          <a:prstGeom prst="rect">
            <a:avLst/>
          </a:prstGeom>
          <a:noFill/>
          <a:ln/>
        </p:spPr>
        <p:txBody>
          <a:bodyPr wrap="square" lIns="0" tIns="0" rIns="0" bIns="0" rtlCol="0" anchor="ctr"/>
          <a:lstStyle/>
          <a:p>
            <a:pPr indent="0" marL="0">
              <a:buNone/>
            </a:pPr>
            <a:r>
              <a:rPr lang="en-US" sz="850" b="1" dirty="0">
                <a:solidFill>
                  <a:srgbClr val="1A6B3C"/>
                </a:solidFill>
              </a:rPr>
              <a:t>Tactic: Same-day quote capability + AI chatbot response in &lt;2 min vs. Suns' call-in process. Win on speed.</a:t>
            </a:r>
            <a:endParaRPr lang="en-US" sz="850" dirty="0"/>
          </a:p>
        </p:txBody>
      </p:sp>
      <p:sp>
        <p:nvSpPr>
          <p:cNvPr id="20" name="Shape 18"/>
          <p:cNvSpPr/>
          <p:nvPr/>
        </p:nvSpPr>
        <p:spPr>
          <a:xfrm>
            <a:off x="274320" y="2212848"/>
            <a:ext cx="4160520" cy="1353312"/>
          </a:xfrm>
          <a:prstGeom prst="rect">
            <a:avLst/>
          </a:prstGeom>
          <a:solidFill>
            <a:srgbClr val="FFFFFF"/>
          </a:solidFill>
          <a:ln w="6350">
            <a:solidFill>
              <a:srgbClr val="E2E8F0"/>
            </a:solidFill>
            <a:prstDash val="solid"/>
          </a:ln>
        </p:spPr>
      </p:sp>
      <p:sp>
        <p:nvSpPr>
          <p:cNvPr id="21" name="Shape 19"/>
          <p:cNvSpPr/>
          <p:nvPr/>
        </p:nvSpPr>
        <p:spPr>
          <a:xfrm>
            <a:off x="274320" y="2212848"/>
            <a:ext cx="4160520" cy="91440"/>
          </a:xfrm>
          <a:prstGeom prst="rect">
            <a:avLst/>
          </a:prstGeom>
          <a:solidFill>
            <a:srgbClr val="E67E22"/>
          </a:solidFill>
          <a:ln w="12700">
            <a:solidFill>
              <a:srgbClr val="E67E22"/>
            </a:solidFill>
            <a:prstDash val="solid"/>
          </a:ln>
        </p:spPr>
      </p:sp>
      <p:sp>
        <p:nvSpPr>
          <p:cNvPr id="22" name="Text 20"/>
          <p:cNvSpPr/>
          <p:nvPr/>
        </p:nvSpPr>
        <p:spPr>
          <a:xfrm>
            <a:off x="365760" y="2331720"/>
            <a:ext cx="2926080" cy="256032"/>
          </a:xfrm>
          <a:prstGeom prst="rect">
            <a:avLst/>
          </a:prstGeom>
          <a:noFill/>
          <a:ln/>
        </p:spPr>
        <p:txBody>
          <a:bodyPr wrap="square" lIns="0" tIns="0" rIns="0" bIns="0" rtlCol="0" anchor="ctr"/>
          <a:lstStyle/>
          <a:p>
            <a:pPr indent="0" marL="0">
              <a:buNone/>
            </a:pPr>
            <a:r>
              <a:rPr lang="en-US" sz="1100" b="1" dirty="0">
                <a:solidFill>
                  <a:srgbClr val="0B1F3A"/>
                </a:solidFill>
              </a:rPr>
              <a:t>vs. Bailey Boys</a:t>
            </a:r>
            <a:endParaRPr lang="en-US" sz="1100" dirty="0"/>
          </a:p>
        </p:txBody>
      </p:sp>
      <p:sp>
        <p:nvSpPr>
          <p:cNvPr id="23" name="Shape 21"/>
          <p:cNvSpPr/>
          <p:nvPr/>
        </p:nvSpPr>
        <p:spPr>
          <a:xfrm>
            <a:off x="3383280" y="2331720"/>
            <a:ext cx="960120" cy="237744"/>
          </a:xfrm>
          <a:prstGeom prst="rect">
            <a:avLst/>
          </a:prstGeom>
          <a:solidFill>
            <a:srgbClr val="E67E22"/>
          </a:solidFill>
          <a:ln w="12700">
            <a:solidFill>
              <a:srgbClr val="E67E22"/>
            </a:solidFill>
            <a:prstDash val="solid"/>
          </a:ln>
        </p:spPr>
      </p:sp>
      <p:sp>
        <p:nvSpPr>
          <p:cNvPr id="24" name="Text 22"/>
          <p:cNvSpPr/>
          <p:nvPr/>
        </p:nvSpPr>
        <p:spPr>
          <a:xfrm>
            <a:off x="3383280" y="2331720"/>
            <a:ext cx="960120" cy="237744"/>
          </a:xfrm>
          <a:prstGeom prst="rect">
            <a:avLst/>
          </a:prstGeom>
          <a:noFill/>
          <a:ln/>
        </p:spPr>
        <p:txBody>
          <a:bodyPr wrap="square" lIns="0" tIns="0" rIns="0" bIns="0" rtlCol="0" anchor="ctr"/>
          <a:lstStyle/>
          <a:p>
            <a:pPr algn="ctr" indent="0" marL="0">
              <a:buNone/>
            </a:pPr>
            <a:r>
              <a:rPr lang="en-US" sz="750" b="1" dirty="0">
                <a:solidFill>
                  <a:srgbClr val="FFFFFF"/>
                </a:solidFill>
              </a:rPr>
              <a:t>THREAT: MED</a:t>
            </a:r>
            <a:endParaRPr lang="en-US" sz="750" dirty="0"/>
          </a:p>
        </p:txBody>
      </p:sp>
      <p:sp>
        <p:nvSpPr>
          <p:cNvPr id="25" name="Text 23"/>
          <p:cNvSpPr/>
          <p:nvPr/>
        </p:nvSpPr>
        <p:spPr>
          <a:xfrm>
            <a:off x="365760" y="2615184"/>
            <a:ext cx="3977640" cy="548640"/>
          </a:xfrm>
          <a:prstGeom prst="rect">
            <a:avLst/>
          </a:prstGeom>
          <a:noFill/>
          <a:ln/>
        </p:spPr>
        <p:txBody>
          <a:bodyPr wrap="square" lIns="0" tIns="0" rIns="0" bIns="0" rtlCol="0" anchor="t"/>
          <a:lstStyle/>
          <a:p>
            <a:pPr indent="0" marL="0">
              <a:buNone/>
            </a:pPr>
            <a:r>
              <a:rPr lang="en-US" sz="900" dirty="0">
                <a:solidFill>
                  <a:srgbClr val="334155"/>
                </a:solidFill>
              </a:rPr>
              <a:t>Solar is a secondary service for Bailey Boys — they're primarily a window/gutter company. Roger is solar-first and will out-specialize them. Their customer base is an acquisition target: when a Bailey Boys customer's solar needs cleaning, Roger intercepts them on Nextdoor with targeted content.</a:t>
            </a:r>
            <a:endParaRPr lang="en-US" sz="900" dirty="0"/>
          </a:p>
        </p:txBody>
      </p:sp>
      <p:sp>
        <p:nvSpPr>
          <p:cNvPr id="26" name="Shape 24"/>
          <p:cNvSpPr/>
          <p:nvPr/>
        </p:nvSpPr>
        <p:spPr>
          <a:xfrm>
            <a:off x="365760" y="3191256"/>
            <a:ext cx="3977640" cy="274320"/>
          </a:xfrm>
          <a:prstGeom prst="rect">
            <a:avLst/>
          </a:prstGeom>
          <a:solidFill>
            <a:srgbClr val="EAF9F0"/>
          </a:solidFill>
          <a:ln w="12700">
            <a:solidFill>
              <a:srgbClr val="E2E8F0"/>
            </a:solidFill>
            <a:prstDash val="solid"/>
          </a:ln>
        </p:spPr>
      </p:sp>
      <p:sp>
        <p:nvSpPr>
          <p:cNvPr id="27" name="Text 25"/>
          <p:cNvSpPr/>
          <p:nvPr/>
        </p:nvSpPr>
        <p:spPr>
          <a:xfrm>
            <a:off x="411480" y="3209544"/>
            <a:ext cx="3886200" cy="237744"/>
          </a:xfrm>
          <a:prstGeom prst="rect">
            <a:avLst/>
          </a:prstGeom>
          <a:noFill/>
          <a:ln/>
        </p:spPr>
        <p:txBody>
          <a:bodyPr wrap="square" lIns="0" tIns="0" rIns="0" bIns="0" rtlCol="0" anchor="ctr"/>
          <a:lstStyle/>
          <a:p>
            <a:pPr indent="0" marL="0">
              <a:buNone/>
            </a:pPr>
            <a:r>
              <a:rPr lang="en-US" sz="850" b="1" dirty="0">
                <a:solidFill>
                  <a:srgbClr val="1A6B3C"/>
                </a:solidFill>
              </a:rPr>
              <a:t>Tactic: Run Buster to respond to every Nextdoor post where someone mentions Bailey Boys for solar. Gently position Roger as the dedicated solar specialist.</a:t>
            </a:r>
            <a:endParaRPr lang="en-US" sz="850" dirty="0"/>
          </a:p>
        </p:txBody>
      </p:sp>
      <p:sp>
        <p:nvSpPr>
          <p:cNvPr id="28" name="Shape 26"/>
          <p:cNvSpPr/>
          <p:nvPr/>
        </p:nvSpPr>
        <p:spPr>
          <a:xfrm>
            <a:off x="4709160" y="2212848"/>
            <a:ext cx="4160520" cy="1353312"/>
          </a:xfrm>
          <a:prstGeom prst="rect">
            <a:avLst/>
          </a:prstGeom>
          <a:solidFill>
            <a:srgbClr val="FFFFFF"/>
          </a:solidFill>
          <a:ln w="6350">
            <a:solidFill>
              <a:srgbClr val="E2E8F0"/>
            </a:solidFill>
            <a:prstDash val="solid"/>
          </a:ln>
        </p:spPr>
      </p:sp>
      <p:sp>
        <p:nvSpPr>
          <p:cNvPr id="29" name="Shape 27"/>
          <p:cNvSpPr/>
          <p:nvPr/>
        </p:nvSpPr>
        <p:spPr>
          <a:xfrm>
            <a:off x="4709160" y="2212848"/>
            <a:ext cx="4160520" cy="91440"/>
          </a:xfrm>
          <a:prstGeom prst="rect">
            <a:avLst/>
          </a:prstGeom>
          <a:solidFill>
            <a:srgbClr val="E67E22"/>
          </a:solidFill>
          <a:ln w="12700">
            <a:solidFill>
              <a:srgbClr val="E67E22"/>
            </a:solidFill>
            <a:prstDash val="solid"/>
          </a:ln>
        </p:spPr>
      </p:sp>
      <p:sp>
        <p:nvSpPr>
          <p:cNvPr id="30" name="Text 28"/>
          <p:cNvSpPr/>
          <p:nvPr/>
        </p:nvSpPr>
        <p:spPr>
          <a:xfrm>
            <a:off x="4800600" y="2331720"/>
            <a:ext cx="2926080" cy="256032"/>
          </a:xfrm>
          <a:prstGeom prst="rect">
            <a:avLst/>
          </a:prstGeom>
          <a:noFill/>
          <a:ln/>
        </p:spPr>
        <p:txBody>
          <a:bodyPr wrap="square" lIns="0" tIns="0" rIns="0" bIns="0" rtlCol="0" anchor="ctr"/>
          <a:lstStyle/>
          <a:p>
            <a:pPr indent="0" marL="0">
              <a:buNone/>
            </a:pPr>
            <a:r>
              <a:rPr lang="en-US" sz="1100" b="1" dirty="0">
                <a:solidFill>
                  <a:srgbClr val="0B1F3A"/>
                </a:solidFill>
              </a:rPr>
              <a:t>vs. Sierra Vista Maintenance</a:t>
            </a:r>
            <a:endParaRPr lang="en-US" sz="1100" dirty="0"/>
          </a:p>
        </p:txBody>
      </p:sp>
      <p:sp>
        <p:nvSpPr>
          <p:cNvPr id="31" name="Shape 29"/>
          <p:cNvSpPr/>
          <p:nvPr/>
        </p:nvSpPr>
        <p:spPr>
          <a:xfrm>
            <a:off x="7818120" y="2331720"/>
            <a:ext cx="960120" cy="237744"/>
          </a:xfrm>
          <a:prstGeom prst="rect">
            <a:avLst/>
          </a:prstGeom>
          <a:solidFill>
            <a:srgbClr val="E67E22"/>
          </a:solidFill>
          <a:ln w="12700">
            <a:solidFill>
              <a:srgbClr val="E67E22"/>
            </a:solidFill>
            <a:prstDash val="solid"/>
          </a:ln>
        </p:spPr>
      </p:sp>
      <p:sp>
        <p:nvSpPr>
          <p:cNvPr id="32" name="Text 30"/>
          <p:cNvSpPr/>
          <p:nvPr/>
        </p:nvSpPr>
        <p:spPr>
          <a:xfrm>
            <a:off x="7818120" y="2331720"/>
            <a:ext cx="960120" cy="237744"/>
          </a:xfrm>
          <a:prstGeom prst="rect">
            <a:avLst/>
          </a:prstGeom>
          <a:noFill/>
          <a:ln/>
        </p:spPr>
        <p:txBody>
          <a:bodyPr wrap="square" lIns="0" tIns="0" rIns="0" bIns="0" rtlCol="0" anchor="ctr"/>
          <a:lstStyle/>
          <a:p>
            <a:pPr algn="ctr" indent="0" marL="0">
              <a:buNone/>
            </a:pPr>
            <a:r>
              <a:rPr lang="en-US" sz="750" b="1" dirty="0">
                <a:solidFill>
                  <a:srgbClr val="FFFFFF"/>
                </a:solidFill>
              </a:rPr>
              <a:t>THREAT: MED</a:t>
            </a:r>
            <a:endParaRPr lang="en-US" sz="750" dirty="0"/>
          </a:p>
        </p:txBody>
      </p:sp>
      <p:sp>
        <p:nvSpPr>
          <p:cNvPr id="33" name="Text 31"/>
          <p:cNvSpPr/>
          <p:nvPr/>
        </p:nvSpPr>
        <p:spPr>
          <a:xfrm>
            <a:off x="4800600" y="2615184"/>
            <a:ext cx="3977640" cy="548640"/>
          </a:xfrm>
          <a:prstGeom prst="rect">
            <a:avLst/>
          </a:prstGeom>
          <a:noFill/>
          <a:ln/>
        </p:spPr>
        <p:txBody>
          <a:bodyPr wrap="square" lIns="0" tIns="0" rIns="0" bIns="0" rtlCol="0" anchor="t"/>
          <a:lstStyle/>
          <a:p>
            <a:pPr indent="0" marL="0">
              <a:buNone/>
            </a:pPr>
            <a:r>
              <a:rPr lang="en-US" sz="900" dirty="0">
                <a:solidFill>
                  <a:srgbClr val="334155"/>
                </a:solidFill>
              </a:rPr>
              <a:t>Sierra Vista has longevity but zero digital innovation. No online booking, no subscription, no AI. Their reviews mention good service but slow response times. Roger's 24/7 AI chatbot with instant scheduling beats them on every friction point. Target El Dorado Hills and Folsom (their stated zones) later in Phase 3.</a:t>
            </a:r>
            <a:endParaRPr lang="en-US" sz="900" dirty="0"/>
          </a:p>
        </p:txBody>
      </p:sp>
      <p:sp>
        <p:nvSpPr>
          <p:cNvPr id="34" name="Shape 32"/>
          <p:cNvSpPr/>
          <p:nvPr/>
        </p:nvSpPr>
        <p:spPr>
          <a:xfrm>
            <a:off x="4800600" y="3191256"/>
            <a:ext cx="3977640" cy="274320"/>
          </a:xfrm>
          <a:prstGeom prst="rect">
            <a:avLst/>
          </a:prstGeom>
          <a:solidFill>
            <a:srgbClr val="EAF9F0"/>
          </a:solidFill>
          <a:ln w="12700">
            <a:solidFill>
              <a:srgbClr val="E2E8F0"/>
            </a:solidFill>
            <a:prstDash val="solid"/>
          </a:ln>
        </p:spPr>
      </p:sp>
      <p:sp>
        <p:nvSpPr>
          <p:cNvPr id="35" name="Text 33"/>
          <p:cNvSpPr/>
          <p:nvPr/>
        </p:nvSpPr>
        <p:spPr>
          <a:xfrm>
            <a:off x="4846320" y="3209544"/>
            <a:ext cx="3886200" cy="237744"/>
          </a:xfrm>
          <a:prstGeom prst="rect">
            <a:avLst/>
          </a:prstGeom>
          <a:noFill/>
          <a:ln/>
        </p:spPr>
        <p:txBody>
          <a:bodyPr wrap="square" lIns="0" tIns="0" rIns="0" bIns="0" rtlCol="0" anchor="ctr"/>
          <a:lstStyle/>
          <a:p>
            <a:pPr indent="0" marL="0">
              <a:buNone/>
            </a:pPr>
            <a:r>
              <a:rPr lang="en-US" sz="850" b="1" dirty="0">
                <a:solidFill>
                  <a:srgbClr val="1A6B3C"/>
                </a:solidFill>
              </a:rPr>
              <a:t>Tactic: Google LSA dominance in 'solar panel cleaning Rocklin' — outrank their organic SEO with higher review velocity (ask every customer immediately post-service).</a:t>
            </a:r>
            <a:endParaRPr lang="en-US" sz="850" dirty="0"/>
          </a:p>
        </p:txBody>
      </p:sp>
      <p:sp>
        <p:nvSpPr>
          <p:cNvPr id="36" name="Shape 34"/>
          <p:cNvSpPr/>
          <p:nvPr/>
        </p:nvSpPr>
        <p:spPr>
          <a:xfrm>
            <a:off x="274320" y="3648456"/>
            <a:ext cx="4160520" cy="1353312"/>
          </a:xfrm>
          <a:prstGeom prst="rect">
            <a:avLst/>
          </a:prstGeom>
          <a:solidFill>
            <a:srgbClr val="FFFFFF"/>
          </a:solidFill>
          <a:ln w="6350">
            <a:solidFill>
              <a:srgbClr val="E2E8F0"/>
            </a:solidFill>
            <a:prstDash val="solid"/>
          </a:ln>
        </p:spPr>
      </p:sp>
      <p:sp>
        <p:nvSpPr>
          <p:cNvPr id="37" name="Shape 35"/>
          <p:cNvSpPr/>
          <p:nvPr/>
        </p:nvSpPr>
        <p:spPr>
          <a:xfrm>
            <a:off x="274320" y="3648456"/>
            <a:ext cx="4160520" cy="91440"/>
          </a:xfrm>
          <a:prstGeom prst="rect">
            <a:avLst/>
          </a:prstGeom>
          <a:solidFill>
            <a:srgbClr val="E67E22"/>
          </a:solidFill>
          <a:ln w="12700">
            <a:solidFill>
              <a:srgbClr val="E67E22"/>
            </a:solidFill>
            <a:prstDash val="solid"/>
          </a:ln>
        </p:spPr>
      </p:sp>
      <p:sp>
        <p:nvSpPr>
          <p:cNvPr id="38" name="Text 36"/>
          <p:cNvSpPr/>
          <p:nvPr/>
        </p:nvSpPr>
        <p:spPr>
          <a:xfrm>
            <a:off x="365760" y="3767328"/>
            <a:ext cx="2926080" cy="256032"/>
          </a:xfrm>
          <a:prstGeom prst="rect">
            <a:avLst/>
          </a:prstGeom>
          <a:noFill/>
          <a:ln/>
        </p:spPr>
        <p:txBody>
          <a:bodyPr wrap="square" lIns="0" tIns="0" rIns="0" bIns="0" rtlCol="0" anchor="ctr"/>
          <a:lstStyle/>
          <a:p>
            <a:pPr indent="0" marL="0">
              <a:buNone/>
            </a:pPr>
            <a:r>
              <a:rPr lang="en-US" sz="1100" b="1" dirty="0">
                <a:solidFill>
                  <a:srgbClr val="0B1F3A"/>
                </a:solidFill>
              </a:rPr>
              <a:t>vs. NorCal Solar &amp; Gutter</a:t>
            </a:r>
            <a:endParaRPr lang="en-US" sz="1100" dirty="0"/>
          </a:p>
        </p:txBody>
      </p:sp>
      <p:sp>
        <p:nvSpPr>
          <p:cNvPr id="39" name="Shape 37"/>
          <p:cNvSpPr/>
          <p:nvPr/>
        </p:nvSpPr>
        <p:spPr>
          <a:xfrm>
            <a:off x="3383280" y="3767328"/>
            <a:ext cx="960120" cy="237744"/>
          </a:xfrm>
          <a:prstGeom prst="rect">
            <a:avLst/>
          </a:prstGeom>
          <a:solidFill>
            <a:srgbClr val="E67E22"/>
          </a:solidFill>
          <a:ln w="12700">
            <a:solidFill>
              <a:srgbClr val="E67E22"/>
            </a:solidFill>
            <a:prstDash val="solid"/>
          </a:ln>
        </p:spPr>
      </p:sp>
      <p:sp>
        <p:nvSpPr>
          <p:cNvPr id="40" name="Text 38"/>
          <p:cNvSpPr/>
          <p:nvPr/>
        </p:nvSpPr>
        <p:spPr>
          <a:xfrm>
            <a:off x="3383280" y="3767328"/>
            <a:ext cx="960120" cy="237744"/>
          </a:xfrm>
          <a:prstGeom prst="rect">
            <a:avLst/>
          </a:prstGeom>
          <a:noFill/>
          <a:ln/>
        </p:spPr>
        <p:txBody>
          <a:bodyPr wrap="square" lIns="0" tIns="0" rIns="0" bIns="0" rtlCol="0" anchor="ctr"/>
          <a:lstStyle/>
          <a:p>
            <a:pPr algn="ctr" indent="0" marL="0">
              <a:buNone/>
            </a:pPr>
            <a:r>
              <a:rPr lang="en-US" sz="750" b="1" dirty="0">
                <a:solidFill>
                  <a:srgbClr val="FFFFFF"/>
                </a:solidFill>
              </a:rPr>
              <a:t>THREAT: MED</a:t>
            </a:r>
            <a:endParaRPr lang="en-US" sz="750" dirty="0"/>
          </a:p>
        </p:txBody>
      </p:sp>
      <p:sp>
        <p:nvSpPr>
          <p:cNvPr id="41" name="Text 39"/>
          <p:cNvSpPr/>
          <p:nvPr/>
        </p:nvSpPr>
        <p:spPr>
          <a:xfrm>
            <a:off x="365760" y="4050792"/>
            <a:ext cx="3977640" cy="548640"/>
          </a:xfrm>
          <a:prstGeom prst="rect">
            <a:avLst/>
          </a:prstGeom>
          <a:noFill/>
          <a:ln/>
        </p:spPr>
        <p:txBody>
          <a:bodyPr wrap="square" lIns="0" tIns="0" rIns="0" bIns="0" rtlCol="0" anchor="t"/>
          <a:lstStyle/>
          <a:p>
            <a:pPr indent="0" marL="0">
              <a:buNone/>
            </a:pPr>
            <a:r>
              <a:rPr lang="en-US" sz="900" dirty="0">
                <a:solidFill>
                  <a:srgbClr val="334155"/>
                </a:solidFill>
              </a:rPr>
              <a:t>They declared their own gap: April–November only. Roger stays open year-round. Post-storm emergency cleaning is high-urgency, high-margin, and 100% uncontested Nov–March. Build a 'storm response' service tier and run Buster to monitor weather alerts and auto-post offers.</a:t>
            </a:r>
            <a:endParaRPr lang="en-US" sz="900" dirty="0"/>
          </a:p>
        </p:txBody>
      </p:sp>
      <p:sp>
        <p:nvSpPr>
          <p:cNvPr id="42" name="Shape 40"/>
          <p:cNvSpPr/>
          <p:nvPr/>
        </p:nvSpPr>
        <p:spPr>
          <a:xfrm>
            <a:off x="365760" y="4626864"/>
            <a:ext cx="3977640" cy="274320"/>
          </a:xfrm>
          <a:prstGeom prst="rect">
            <a:avLst/>
          </a:prstGeom>
          <a:solidFill>
            <a:srgbClr val="EAF9F0"/>
          </a:solidFill>
          <a:ln w="12700">
            <a:solidFill>
              <a:srgbClr val="E2E8F0"/>
            </a:solidFill>
            <a:prstDash val="solid"/>
          </a:ln>
        </p:spPr>
      </p:sp>
      <p:sp>
        <p:nvSpPr>
          <p:cNvPr id="43" name="Text 41"/>
          <p:cNvSpPr/>
          <p:nvPr/>
        </p:nvSpPr>
        <p:spPr>
          <a:xfrm>
            <a:off x="411480" y="4645152"/>
            <a:ext cx="3886200" cy="237744"/>
          </a:xfrm>
          <a:prstGeom prst="rect">
            <a:avLst/>
          </a:prstGeom>
          <a:noFill/>
          <a:ln/>
        </p:spPr>
        <p:txBody>
          <a:bodyPr wrap="square" lIns="0" tIns="0" rIns="0" bIns="0" rtlCol="0" anchor="ctr"/>
          <a:lstStyle/>
          <a:p>
            <a:pPr indent="0" marL="0">
              <a:buNone/>
            </a:pPr>
            <a:r>
              <a:rPr lang="en-US" sz="850" b="1" dirty="0">
                <a:solidFill>
                  <a:srgbClr val="1A6B3C"/>
                </a:solidFill>
              </a:rPr>
              <a:t>Tactic: 'Post-storm emergency clean' — when heavy rain or dust storms hit, Buster posts within 2 hours to every neighborhood Facebook/Nextdoor group. NorCal Solar is closed.</a:t>
            </a:r>
            <a:endParaRPr lang="en-US" sz="850" dirty="0"/>
          </a:p>
        </p:txBody>
      </p:sp>
      <p:sp>
        <p:nvSpPr>
          <p:cNvPr id="44" name="Shape 42"/>
          <p:cNvSpPr/>
          <p:nvPr/>
        </p:nvSpPr>
        <p:spPr>
          <a:xfrm>
            <a:off x="4709160" y="3648456"/>
            <a:ext cx="4160520" cy="1353312"/>
          </a:xfrm>
          <a:prstGeom prst="rect">
            <a:avLst/>
          </a:prstGeom>
          <a:solidFill>
            <a:srgbClr val="FFFFFF"/>
          </a:solidFill>
          <a:ln w="6350">
            <a:solidFill>
              <a:srgbClr val="E2E8F0"/>
            </a:solidFill>
            <a:prstDash val="solid"/>
          </a:ln>
        </p:spPr>
      </p:sp>
      <p:sp>
        <p:nvSpPr>
          <p:cNvPr id="45" name="Shape 43"/>
          <p:cNvSpPr/>
          <p:nvPr/>
        </p:nvSpPr>
        <p:spPr>
          <a:xfrm>
            <a:off x="4709160" y="3648456"/>
            <a:ext cx="4160520" cy="91440"/>
          </a:xfrm>
          <a:prstGeom prst="rect">
            <a:avLst/>
          </a:prstGeom>
          <a:solidFill>
            <a:srgbClr val="028090"/>
          </a:solidFill>
          <a:ln w="12700">
            <a:solidFill>
              <a:srgbClr val="028090"/>
            </a:solidFill>
            <a:prstDash val="solid"/>
          </a:ln>
        </p:spPr>
      </p:sp>
      <p:sp>
        <p:nvSpPr>
          <p:cNvPr id="46" name="Text 44"/>
          <p:cNvSpPr/>
          <p:nvPr/>
        </p:nvSpPr>
        <p:spPr>
          <a:xfrm>
            <a:off x="4800600" y="3767328"/>
            <a:ext cx="2926080" cy="256032"/>
          </a:xfrm>
          <a:prstGeom prst="rect">
            <a:avLst/>
          </a:prstGeom>
          <a:noFill/>
          <a:ln/>
        </p:spPr>
        <p:txBody>
          <a:bodyPr wrap="square" lIns="0" tIns="0" rIns="0" bIns="0" rtlCol="0" anchor="ctr"/>
          <a:lstStyle/>
          <a:p>
            <a:pPr indent="0" marL="0">
              <a:buNone/>
            </a:pPr>
            <a:r>
              <a:rPr lang="en-US" sz="1100" b="1" dirty="0">
                <a:solidFill>
                  <a:srgbClr val="0B1F3A"/>
                </a:solidFill>
              </a:rPr>
              <a:t>vs. Primetime Cleaning</a:t>
            </a:r>
            <a:endParaRPr lang="en-US" sz="1100" dirty="0"/>
          </a:p>
        </p:txBody>
      </p:sp>
      <p:sp>
        <p:nvSpPr>
          <p:cNvPr id="47" name="Shape 45"/>
          <p:cNvSpPr/>
          <p:nvPr/>
        </p:nvSpPr>
        <p:spPr>
          <a:xfrm>
            <a:off x="7818120" y="3767328"/>
            <a:ext cx="960120" cy="237744"/>
          </a:xfrm>
          <a:prstGeom prst="rect">
            <a:avLst/>
          </a:prstGeom>
          <a:solidFill>
            <a:srgbClr val="028090"/>
          </a:solidFill>
          <a:ln w="12700">
            <a:solidFill>
              <a:srgbClr val="028090"/>
            </a:solidFill>
            <a:prstDash val="solid"/>
          </a:ln>
        </p:spPr>
      </p:sp>
      <p:sp>
        <p:nvSpPr>
          <p:cNvPr id="48" name="Text 46"/>
          <p:cNvSpPr/>
          <p:nvPr/>
        </p:nvSpPr>
        <p:spPr>
          <a:xfrm>
            <a:off x="7818120" y="3767328"/>
            <a:ext cx="960120" cy="237744"/>
          </a:xfrm>
          <a:prstGeom prst="rect">
            <a:avLst/>
          </a:prstGeom>
          <a:noFill/>
          <a:ln/>
        </p:spPr>
        <p:txBody>
          <a:bodyPr wrap="square" lIns="0" tIns="0" rIns="0" bIns="0" rtlCol="0" anchor="ctr"/>
          <a:lstStyle/>
          <a:p>
            <a:pPr algn="ctr" indent="0" marL="0">
              <a:buNone/>
            </a:pPr>
            <a:r>
              <a:rPr lang="en-US" sz="750" b="1" dirty="0">
                <a:solidFill>
                  <a:srgbClr val="FFFFFF"/>
                </a:solidFill>
              </a:rPr>
              <a:t>THREAT: LOW-MED</a:t>
            </a:r>
            <a:endParaRPr lang="en-US" sz="750" dirty="0"/>
          </a:p>
        </p:txBody>
      </p:sp>
      <p:sp>
        <p:nvSpPr>
          <p:cNvPr id="49" name="Text 47"/>
          <p:cNvSpPr/>
          <p:nvPr/>
        </p:nvSpPr>
        <p:spPr>
          <a:xfrm>
            <a:off x="4800600" y="4050792"/>
            <a:ext cx="3977640" cy="548640"/>
          </a:xfrm>
          <a:prstGeom prst="rect">
            <a:avLst/>
          </a:prstGeom>
          <a:noFill/>
          <a:ln/>
        </p:spPr>
        <p:txBody>
          <a:bodyPr wrap="square" lIns="0" tIns="0" rIns="0" bIns="0" rtlCol="0" anchor="t"/>
          <a:lstStyle/>
          <a:p>
            <a:pPr indent="0" marL="0">
              <a:buNone/>
            </a:pPr>
            <a:r>
              <a:rPr lang="en-US" sz="900" dirty="0">
                <a:solidFill>
                  <a:srgbClr val="334155"/>
                </a:solidFill>
              </a:rPr>
              <a:t>Primetime gets called out for inconsistent pricing (roof pitch surprises). Roger publishes transparent, flat-rate pricing by panel count on the website. This trust signal alone converts comparison shoppers. Primetime also has no neighborhood route strategy — Roger's efficiency play beats their ad-hoc scheduling.</a:t>
            </a:r>
            <a:endParaRPr lang="en-US" sz="900" dirty="0"/>
          </a:p>
        </p:txBody>
      </p:sp>
      <p:sp>
        <p:nvSpPr>
          <p:cNvPr id="50" name="Shape 48"/>
          <p:cNvSpPr/>
          <p:nvPr/>
        </p:nvSpPr>
        <p:spPr>
          <a:xfrm>
            <a:off x="4800600" y="4626864"/>
            <a:ext cx="3977640" cy="274320"/>
          </a:xfrm>
          <a:prstGeom prst="rect">
            <a:avLst/>
          </a:prstGeom>
          <a:solidFill>
            <a:srgbClr val="EAF9F0"/>
          </a:solidFill>
          <a:ln w="12700">
            <a:solidFill>
              <a:srgbClr val="E2E8F0"/>
            </a:solidFill>
            <a:prstDash val="solid"/>
          </a:ln>
        </p:spPr>
      </p:sp>
      <p:sp>
        <p:nvSpPr>
          <p:cNvPr id="51" name="Text 49"/>
          <p:cNvSpPr/>
          <p:nvPr/>
        </p:nvSpPr>
        <p:spPr>
          <a:xfrm>
            <a:off x="4846320" y="4645152"/>
            <a:ext cx="3886200" cy="237744"/>
          </a:xfrm>
          <a:prstGeom prst="rect">
            <a:avLst/>
          </a:prstGeom>
          <a:noFill/>
          <a:ln/>
        </p:spPr>
        <p:txBody>
          <a:bodyPr wrap="square" lIns="0" tIns="0" rIns="0" bIns="0" rtlCol="0" anchor="ctr"/>
          <a:lstStyle/>
          <a:p>
            <a:pPr indent="0" marL="0">
              <a:buNone/>
            </a:pPr>
            <a:r>
              <a:rPr lang="en-US" sz="850" b="1" dirty="0">
                <a:solidFill>
                  <a:srgbClr val="1A6B3C"/>
                </a:solidFill>
              </a:rPr>
              <a:t>Tactic: Flat-rate pricing calculator on website. 'No surprise fees' as a marketing headline. Direct shot at Primetime's known weakness.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indent="0" marL="0">
              <a:buNone/>
            </a:pPr>
            <a:r>
              <a:rPr lang="en-US" sz="1300" b="1" spc="500" kern="0" dirty="0">
                <a:solidFill>
                  <a:srgbClr val="F4B942"/>
                </a:solidFill>
              </a:rPr>
              <a:t>EXECUTIVE SUMMARY</a:t>
            </a:r>
            <a:endParaRPr lang="en-US" sz="1300" dirty="0"/>
          </a:p>
        </p:txBody>
      </p:sp>
      <p:sp>
        <p:nvSpPr>
          <p:cNvPr id="4" name="Text 2"/>
          <p:cNvSpPr/>
          <p:nvPr/>
        </p:nvSpPr>
        <p:spPr>
          <a:xfrm>
            <a:off x="457200" y="822960"/>
            <a:ext cx="3840480" cy="347472"/>
          </a:xfrm>
          <a:prstGeom prst="rect">
            <a:avLst/>
          </a:prstGeom>
          <a:noFill/>
          <a:ln/>
        </p:spPr>
        <p:txBody>
          <a:bodyPr wrap="square" lIns="0" tIns="0" rIns="0" bIns="0" rtlCol="0" anchor="ctr"/>
          <a:lstStyle/>
          <a:p>
            <a:pPr indent="0" marL="0">
              <a:buNone/>
            </a:pPr>
            <a:r>
              <a:rPr lang="en-US" sz="1400" b="1" dirty="0">
                <a:solidFill>
                  <a:srgbClr val="0B1F3A"/>
                </a:solidFill>
              </a:rPr>
              <a:t>The Opportunity</a:t>
            </a:r>
            <a:endParaRPr lang="en-US" sz="1400" dirty="0"/>
          </a:p>
        </p:txBody>
      </p:sp>
      <p:sp>
        <p:nvSpPr>
          <p:cNvPr id="5" name="Text 3"/>
          <p:cNvSpPr/>
          <p:nvPr/>
        </p:nvSpPr>
        <p:spPr>
          <a:xfrm>
            <a:off x="457200" y="1207008"/>
            <a:ext cx="3840480" cy="1371600"/>
          </a:xfrm>
          <a:prstGeom prst="rect">
            <a:avLst/>
          </a:prstGeom>
          <a:noFill/>
          <a:ln/>
        </p:spPr>
        <p:txBody>
          <a:bodyPr wrap="square" rtlCol="0" anchor="ctr"/>
          <a:lstStyle/>
          <a:p>
            <a:pPr indent="0" marL="0">
              <a:buNone/>
            </a:pPr>
            <a:r>
              <a:rPr lang="en-US" sz="1150" dirty="0">
                <a:solidFill>
                  <a:srgbClr val="334155"/>
                </a:solidFill>
              </a:rPr>
              <a:t>Sacramento Valley gets 270+ sunny days/year. California mandates solar on all new construction — meaning Rocklin, Roseville, and Lincoln are building thousands of solar-equipped homes right now with zero established cleaning relationships. Most homeowners don't know who to call, and none of the 8 local competitors has claimed this territory.</a:t>
            </a:r>
            <a:endParaRPr lang="en-US" sz="1150" dirty="0"/>
          </a:p>
        </p:txBody>
      </p:sp>
      <p:sp>
        <p:nvSpPr>
          <p:cNvPr id="6" name="Text 4"/>
          <p:cNvSpPr/>
          <p:nvPr/>
        </p:nvSpPr>
        <p:spPr>
          <a:xfrm>
            <a:off x="457200" y="2651760"/>
            <a:ext cx="3840480" cy="347472"/>
          </a:xfrm>
          <a:prstGeom prst="rect">
            <a:avLst/>
          </a:prstGeom>
          <a:noFill/>
          <a:ln/>
        </p:spPr>
        <p:txBody>
          <a:bodyPr wrap="square" lIns="0" tIns="0" rIns="0" bIns="0" rtlCol="0" anchor="ctr"/>
          <a:lstStyle/>
          <a:p>
            <a:pPr indent="0" marL="0">
              <a:buNone/>
            </a:pPr>
            <a:r>
              <a:rPr lang="en-US" sz="1400" b="1" dirty="0">
                <a:solidFill>
                  <a:srgbClr val="0B1F3A"/>
                </a:solidFill>
              </a:rPr>
              <a:t>The Advantage</a:t>
            </a:r>
            <a:endParaRPr lang="en-US" sz="1400" dirty="0"/>
          </a:p>
        </p:txBody>
      </p:sp>
      <p:sp>
        <p:nvSpPr>
          <p:cNvPr id="7" name="Text 5"/>
          <p:cNvSpPr/>
          <p:nvPr/>
        </p:nvSpPr>
        <p:spPr>
          <a:xfrm>
            <a:off x="457200" y="3035808"/>
            <a:ext cx="3840480" cy="1371600"/>
          </a:xfrm>
          <a:prstGeom prst="rect">
            <a:avLst/>
          </a:prstGeom>
          <a:noFill/>
          <a:ln/>
        </p:spPr>
        <p:txBody>
          <a:bodyPr wrap="square" rtlCol="0" anchor="ctr"/>
          <a:lstStyle/>
          <a:p>
            <a:pPr indent="0" marL="0">
              <a:buNone/>
            </a:pPr>
            <a:r>
              <a:rPr lang="en-US" sz="1150" dirty="0">
                <a:solidFill>
                  <a:srgbClr val="334155"/>
                </a:solidFill>
              </a:rPr>
              <a:t>Roger starts part-time (weekends), reaches $5K/mo in 60 days, scales to full-time at month 6 with recurring subscription contracts. Guerilla Holdings' AI stack (Buster + Penelope) brings CAC to &lt;$15 — while competitors pay $225+. First to the new subdivisions wins the decade.</a:t>
            </a:r>
            <a:endParaRPr lang="en-US" sz="1150" dirty="0"/>
          </a:p>
        </p:txBody>
      </p:sp>
      <p:sp>
        <p:nvSpPr>
          <p:cNvPr id="8" name="Shape 6"/>
          <p:cNvSpPr/>
          <p:nvPr/>
        </p:nvSpPr>
        <p:spPr>
          <a:xfrm>
            <a:off x="4617720" y="804672"/>
            <a:ext cx="2103120" cy="1371600"/>
          </a:xfrm>
          <a:prstGeom prst="rect">
            <a:avLst/>
          </a:prstGeom>
          <a:solidFill>
            <a:srgbClr val="FFFFFF"/>
          </a:solidFill>
          <a:ln w="12700">
            <a:solidFill>
              <a:srgbClr val="E2E8F0"/>
            </a:solidFill>
            <a:prstDash val="solid"/>
          </a:ln>
        </p:spPr>
      </p:sp>
      <p:sp>
        <p:nvSpPr>
          <p:cNvPr id="9" name="Shape 7"/>
          <p:cNvSpPr/>
          <p:nvPr/>
        </p:nvSpPr>
        <p:spPr>
          <a:xfrm>
            <a:off x="4617720" y="804672"/>
            <a:ext cx="2103120" cy="91440"/>
          </a:xfrm>
          <a:prstGeom prst="rect">
            <a:avLst/>
          </a:prstGeom>
          <a:solidFill>
            <a:srgbClr val="028090"/>
          </a:solidFill>
          <a:ln w="12700">
            <a:solidFill>
              <a:srgbClr val="028090"/>
            </a:solidFill>
            <a:prstDash val="solid"/>
          </a:ln>
        </p:spPr>
      </p:sp>
      <p:sp>
        <p:nvSpPr>
          <p:cNvPr id="10" name="Text 8"/>
          <p:cNvSpPr/>
          <p:nvPr/>
        </p:nvSpPr>
        <p:spPr>
          <a:xfrm>
            <a:off x="4617720" y="987552"/>
            <a:ext cx="2103120" cy="658368"/>
          </a:xfrm>
          <a:prstGeom prst="rect">
            <a:avLst/>
          </a:prstGeom>
          <a:noFill/>
          <a:ln/>
        </p:spPr>
        <p:txBody>
          <a:bodyPr wrap="square" lIns="0" tIns="0" rIns="0" bIns="0" rtlCol="0" anchor="ctr"/>
          <a:lstStyle/>
          <a:p>
            <a:pPr algn="ctr" indent="0" marL="0">
              <a:buNone/>
            </a:pPr>
            <a:r>
              <a:rPr lang="en-US" sz="3000" b="1" dirty="0">
                <a:solidFill>
                  <a:srgbClr val="0B1F3A"/>
                </a:solidFill>
              </a:rPr>
              <a:t>$2,500</a:t>
            </a:r>
            <a:endParaRPr lang="en-US" sz="3000" dirty="0"/>
          </a:p>
        </p:txBody>
      </p:sp>
      <p:sp>
        <p:nvSpPr>
          <p:cNvPr id="11" name="Text 9"/>
          <p:cNvSpPr/>
          <p:nvPr/>
        </p:nvSpPr>
        <p:spPr>
          <a:xfrm>
            <a:off x="4617720" y="1664208"/>
            <a:ext cx="2103120" cy="274320"/>
          </a:xfrm>
          <a:prstGeom prst="rect">
            <a:avLst/>
          </a:prstGeom>
          <a:noFill/>
          <a:ln/>
        </p:spPr>
        <p:txBody>
          <a:bodyPr wrap="square" lIns="0" tIns="0" rIns="0" bIns="0" rtlCol="0" anchor="ctr"/>
          <a:lstStyle/>
          <a:p>
            <a:pPr algn="ctr" indent="0" marL="0">
              <a:buNone/>
            </a:pPr>
            <a:r>
              <a:rPr lang="en-US" sz="1100" b="1" dirty="0">
                <a:solidFill>
                  <a:srgbClr val="028090"/>
                </a:solidFill>
              </a:rPr>
              <a:t>Startup cost</a:t>
            </a:r>
            <a:endParaRPr lang="en-US" sz="1100" dirty="0"/>
          </a:p>
        </p:txBody>
      </p:sp>
      <p:sp>
        <p:nvSpPr>
          <p:cNvPr id="12" name="Text 10"/>
          <p:cNvSpPr/>
          <p:nvPr/>
        </p:nvSpPr>
        <p:spPr>
          <a:xfrm>
            <a:off x="4617720" y="1920240"/>
            <a:ext cx="2103120" cy="201168"/>
          </a:xfrm>
          <a:prstGeom prst="rect">
            <a:avLst/>
          </a:prstGeom>
          <a:noFill/>
          <a:ln/>
        </p:spPr>
        <p:txBody>
          <a:bodyPr wrap="square" lIns="0" tIns="0" rIns="0" bIns="0" rtlCol="0" anchor="ctr"/>
          <a:lstStyle/>
          <a:p>
            <a:pPr algn="ctr" indent="0" marL="0">
              <a:buNone/>
            </a:pPr>
            <a:r>
              <a:rPr lang="en-US" sz="950" dirty="0">
                <a:solidFill>
                  <a:srgbClr val="94A3B8"/>
                </a:solidFill>
              </a:rPr>
              <a:t>all-in, part-time</a:t>
            </a:r>
            <a:endParaRPr lang="en-US" sz="950" dirty="0"/>
          </a:p>
        </p:txBody>
      </p:sp>
      <p:sp>
        <p:nvSpPr>
          <p:cNvPr id="13" name="Shape 11"/>
          <p:cNvSpPr/>
          <p:nvPr/>
        </p:nvSpPr>
        <p:spPr>
          <a:xfrm>
            <a:off x="6858000" y="804672"/>
            <a:ext cx="2103120" cy="1371600"/>
          </a:xfrm>
          <a:prstGeom prst="rect">
            <a:avLst/>
          </a:prstGeom>
          <a:solidFill>
            <a:srgbClr val="FFFFFF"/>
          </a:solidFill>
          <a:ln w="12700">
            <a:solidFill>
              <a:srgbClr val="E2E8F0"/>
            </a:solidFill>
            <a:prstDash val="solid"/>
          </a:ln>
        </p:spPr>
      </p:sp>
      <p:sp>
        <p:nvSpPr>
          <p:cNvPr id="14" name="Shape 12"/>
          <p:cNvSpPr/>
          <p:nvPr/>
        </p:nvSpPr>
        <p:spPr>
          <a:xfrm>
            <a:off x="6858000" y="804672"/>
            <a:ext cx="2103120" cy="91440"/>
          </a:xfrm>
          <a:prstGeom prst="rect">
            <a:avLst/>
          </a:prstGeom>
          <a:solidFill>
            <a:srgbClr val="028090"/>
          </a:solidFill>
          <a:ln w="12700">
            <a:solidFill>
              <a:srgbClr val="028090"/>
            </a:solidFill>
            <a:prstDash val="solid"/>
          </a:ln>
        </p:spPr>
      </p:sp>
      <p:sp>
        <p:nvSpPr>
          <p:cNvPr id="15" name="Text 13"/>
          <p:cNvSpPr/>
          <p:nvPr/>
        </p:nvSpPr>
        <p:spPr>
          <a:xfrm>
            <a:off x="6858000" y="987552"/>
            <a:ext cx="2103120" cy="658368"/>
          </a:xfrm>
          <a:prstGeom prst="rect">
            <a:avLst/>
          </a:prstGeom>
          <a:noFill/>
          <a:ln/>
        </p:spPr>
        <p:txBody>
          <a:bodyPr wrap="square" lIns="0" tIns="0" rIns="0" bIns="0" rtlCol="0" anchor="ctr"/>
          <a:lstStyle/>
          <a:p>
            <a:pPr algn="ctr" indent="0" marL="0">
              <a:buNone/>
            </a:pPr>
            <a:r>
              <a:rPr lang="en-US" sz="3000" b="1" dirty="0">
                <a:solidFill>
                  <a:srgbClr val="0B1F3A"/>
                </a:solidFill>
              </a:rPr>
              <a:t>Day 30</a:t>
            </a:r>
            <a:endParaRPr lang="en-US" sz="3000" dirty="0"/>
          </a:p>
        </p:txBody>
      </p:sp>
      <p:sp>
        <p:nvSpPr>
          <p:cNvPr id="16" name="Text 14"/>
          <p:cNvSpPr/>
          <p:nvPr/>
        </p:nvSpPr>
        <p:spPr>
          <a:xfrm>
            <a:off x="6858000" y="1664208"/>
            <a:ext cx="2103120" cy="274320"/>
          </a:xfrm>
          <a:prstGeom prst="rect">
            <a:avLst/>
          </a:prstGeom>
          <a:noFill/>
          <a:ln/>
        </p:spPr>
        <p:txBody>
          <a:bodyPr wrap="square" lIns="0" tIns="0" rIns="0" bIns="0" rtlCol="0" anchor="ctr"/>
          <a:lstStyle/>
          <a:p>
            <a:pPr algn="ctr" indent="0" marL="0">
              <a:buNone/>
            </a:pPr>
            <a:r>
              <a:rPr lang="en-US" sz="1100" b="1" dirty="0">
                <a:solidFill>
                  <a:srgbClr val="028090"/>
                </a:solidFill>
              </a:rPr>
              <a:t>Break-even</a:t>
            </a:r>
            <a:endParaRPr lang="en-US" sz="1100" dirty="0"/>
          </a:p>
        </p:txBody>
      </p:sp>
      <p:sp>
        <p:nvSpPr>
          <p:cNvPr id="17" name="Text 15"/>
          <p:cNvSpPr/>
          <p:nvPr/>
        </p:nvSpPr>
        <p:spPr>
          <a:xfrm>
            <a:off x="6858000" y="1920240"/>
            <a:ext cx="2103120" cy="201168"/>
          </a:xfrm>
          <a:prstGeom prst="rect">
            <a:avLst/>
          </a:prstGeom>
          <a:noFill/>
          <a:ln/>
        </p:spPr>
        <p:txBody>
          <a:bodyPr wrap="square" lIns="0" tIns="0" rIns="0" bIns="0" rtlCol="0" anchor="ctr"/>
          <a:lstStyle/>
          <a:p>
            <a:pPr algn="ctr" indent="0" marL="0">
              <a:buNone/>
            </a:pPr>
            <a:r>
              <a:rPr lang="en-US" sz="950" dirty="0">
                <a:solidFill>
                  <a:srgbClr val="94A3B8"/>
                </a:solidFill>
              </a:rPr>
              <a:t>first 10 jobs</a:t>
            </a:r>
            <a:endParaRPr lang="en-US" sz="950" dirty="0"/>
          </a:p>
        </p:txBody>
      </p:sp>
      <p:sp>
        <p:nvSpPr>
          <p:cNvPr id="18" name="Shape 16"/>
          <p:cNvSpPr/>
          <p:nvPr/>
        </p:nvSpPr>
        <p:spPr>
          <a:xfrm>
            <a:off x="4617720" y="2286000"/>
            <a:ext cx="2103120" cy="1371600"/>
          </a:xfrm>
          <a:prstGeom prst="rect">
            <a:avLst/>
          </a:prstGeom>
          <a:solidFill>
            <a:srgbClr val="FFFFFF"/>
          </a:solidFill>
          <a:ln w="12700">
            <a:solidFill>
              <a:srgbClr val="E2E8F0"/>
            </a:solidFill>
            <a:prstDash val="solid"/>
          </a:ln>
        </p:spPr>
      </p:sp>
      <p:sp>
        <p:nvSpPr>
          <p:cNvPr id="19" name="Shape 17"/>
          <p:cNvSpPr/>
          <p:nvPr/>
        </p:nvSpPr>
        <p:spPr>
          <a:xfrm>
            <a:off x="4617720" y="2286000"/>
            <a:ext cx="2103120" cy="91440"/>
          </a:xfrm>
          <a:prstGeom prst="rect">
            <a:avLst/>
          </a:prstGeom>
          <a:solidFill>
            <a:srgbClr val="028090"/>
          </a:solidFill>
          <a:ln w="12700">
            <a:solidFill>
              <a:srgbClr val="028090"/>
            </a:solidFill>
            <a:prstDash val="solid"/>
          </a:ln>
        </p:spPr>
      </p:sp>
      <p:sp>
        <p:nvSpPr>
          <p:cNvPr id="20" name="Text 18"/>
          <p:cNvSpPr/>
          <p:nvPr/>
        </p:nvSpPr>
        <p:spPr>
          <a:xfrm>
            <a:off x="4617720" y="2468880"/>
            <a:ext cx="2103120" cy="658368"/>
          </a:xfrm>
          <a:prstGeom prst="rect">
            <a:avLst/>
          </a:prstGeom>
          <a:noFill/>
          <a:ln/>
        </p:spPr>
        <p:txBody>
          <a:bodyPr wrap="square" lIns="0" tIns="0" rIns="0" bIns="0" rtlCol="0" anchor="ctr"/>
          <a:lstStyle/>
          <a:p>
            <a:pPr algn="ctr" indent="0" marL="0">
              <a:buNone/>
            </a:pPr>
            <a:r>
              <a:rPr lang="en-US" sz="3000" b="1" dirty="0">
                <a:solidFill>
                  <a:srgbClr val="0B1F3A"/>
                </a:solidFill>
              </a:rPr>
              <a:t>$78K</a:t>
            </a:r>
            <a:endParaRPr lang="en-US" sz="3000" dirty="0"/>
          </a:p>
        </p:txBody>
      </p:sp>
      <p:sp>
        <p:nvSpPr>
          <p:cNvPr id="21" name="Text 19"/>
          <p:cNvSpPr/>
          <p:nvPr/>
        </p:nvSpPr>
        <p:spPr>
          <a:xfrm>
            <a:off x="4617720" y="3145536"/>
            <a:ext cx="2103120" cy="274320"/>
          </a:xfrm>
          <a:prstGeom prst="rect">
            <a:avLst/>
          </a:prstGeom>
          <a:noFill/>
          <a:ln/>
        </p:spPr>
        <p:txBody>
          <a:bodyPr wrap="square" lIns="0" tIns="0" rIns="0" bIns="0" rtlCol="0" anchor="ctr"/>
          <a:lstStyle/>
          <a:p>
            <a:pPr algn="ctr" indent="0" marL="0">
              <a:buNone/>
            </a:pPr>
            <a:r>
              <a:rPr lang="en-US" sz="1100" b="1" dirty="0">
                <a:solidFill>
                  <a:srgbClr val="028090"/>
                </a:solidFill>
              </a:rPr>
              <a:t>Year 1 revenue</a:t>
            </a:r>
            <a:endParaRPr lang="en-US" sz="1100" dirty="0"/>
          </a:p>
        </p:txBody>
      </p:sp>
      <p:sp>
        <p:nvSpPr>
          <p:cNvPr id="22" name="Text 20"/>
          <p:cNvSpPr/>
          <p:nvPr/>
        </p:nvSpPr>
        <p:spPr>
          <a:xfrm>
            <a:off x="4617720" y="3401568"/>
            <a:ext cx="2103120" cy="201168"/>
          </a:xfrm>
          <a:prstGeom prst="rect">
            <a:avLst/>
          </a:prstGeom>
          <a:noFill/>
          <a:ln/>
        </p:spPr>
        <p:txBody>
          <a:bodyPr wrap="square" lIns="0" tIns="0" rIns="0" bIns="0" rtlCol="0" anchor="ctr"/>
          <a:lstStyle/>
          <a:p>
            <a:pPr algn="ctr" indent="0" marL="0">
              <a:buNone/>
            </a:pPr>
            <a:r>
              <a:rPr lang="en-US" sz="950" dirty="0">
                <a:solidFill>
                  <a:srgbClr val="94A3B8"/>
                </a:solidFill>
              </a:rPr>
              <a:t>part-time → FT</a:t>
            </a:r>
            <a:endParaRPr lang="en-US" sz="950" dirty="0"/>
          </a:p>
        </p:txBody>
      </p:sp>
      <p:sp>
        <p:nvSpPr>
          <p:cNvPr id="23" name="Shape 21"/>
          <p:cNvSpPr/>
          <p:nvPr/>
        </p:nvSpPr>
        <p:spPr>
          <a:xfrm>
            <a:off x="6858000" y="2286000"/>
            <a:ext cx="2103120" cy="1371600"/>
          </a:xfrm>
          <a:prstGeom prst="rect">
            <a:avLst/>
          </a:prstGeom>
          <a:solidFill>
            <a:srgbClr val="FFFFFF"/>
          </a:solidFill>
          <a:ln w="12700">
            <a:solidFill>
              <a:srgbClr val="E2E8F0"/>
            </a:solidFill>
            <a:prstDash val="solid"/>
          </a:ln>
        </p:spPr>
      </p:sp>
      <p:sp>
        <p:nvSpPr>
          <p:cNvPr id="24" name="Shape 22"/>
          <p:cNvSpPr/>
          <p:nvPr/>
        </p:nvSpPr>
        <p:spPr>
          <a:xfrm>
            <a:off x="6858000" y="2286000"/>
            <a:ext cx="2103120" cy="91440"/>
          </a:xfrm>
          <a:prstGeom prst="rect">
            <a:avLst/>
          </a:prstGeom>
          <a:solidFill>
            <a:srgbClr val="028090"/>
          </a:solidFill>
          <a:ln w="12700">
            <a:solidFill>
              <a:srgbClr val="028090"/>
            </a:solidFill>
            <a:prstDash val="solid"/>
          </a:ln>
        </p:spPr>
      </p:sp>
      <p:sp>
        <p:nvSpPr>
          <p:cNvPr id="25" name="Text 23"/>
          <p:cNvSpPr/>
          <p:nvPr/>
        </p:nvSpPr>
        <p:spPr>
          <a:xfrm>
            <a:off x="6858000" y="2468880"/>
            <a:ext cx="2103120" cy="658368"/>
          </a:xfrm>
          <a:prstGeom prst="rect">
            <a:avLst/>
          </a:prstGeom>
          <a:noFill/>
          <a:ln/>
        </p:spPr>
        <p:txBody>
          <a:bodyPr wrap="square" lIns="0" tIns="0" rIns="0" bIns="0" rtlCol="0" anchor="ctr"/>
          <a:lstStyle/>
          <a:p>
            <a:pPr algn="ctr" indent="0" marL="0">
              <a:buNone/>
            </a:pPr>
            <a:r>
              <a:rPr lang="en-US" sz="3000" b="1" dirty="0">
                <a:solidFill>
                  <a:srgbClr val="0B1F3A"/>
                </a:solidFill>
              </a:rPr>
              <a:t>$285K</a:t>
            </a:r>
            <a:endParaRPr lang="en-US" sz="3000" dirty="0"/>
          </a:p>
        </p:txBody>
      </p:sp>
      <p:sp>
        <p:nvSpPr>
          <p:cNvPr id="26" name="Text 24"/>
          <p:cNvSpPr/>
          <p:nvPr/>
        </p:nvSpPr>
        <p:spPr>
          <a:xfrm>
            <a:off x="6858000" y="3145536"/>
            <a:ext cx="2103120" cy="274320"/>
          </a:xfrm>
          <a:prstGeom prst="rect">
            <a:avLst/>
          </a:prstGeom>
          <a:noFill/>
          <a:ln/>
        </p:spPr>
        <p:txBody>
          <a:bodyPr wrap="square" lIns="0" tIns="0" rIns="0" bIns="0" rtlCol="0" anchor="ctr"/>
          <a:lstStyle/>
          <a:p>
            <a:pPr algn="ctr" indent="0" marL="0">
              <a:buNone/>
            </a:pPr>
            <a:r>
              <a:rPr lang="en-US" sz="1100" b="1" dirty="0">
                <a:solidFill>
                  <a:srgbClr val="028090"/>
                </a:solidFill>
              </a:rPr>
              <a:t>Year 3 revenue</a:t>
            </a:r>
            <a:endParaRPr lang="en-US" sz="1100" dirty="0"/>
          </a:p>
        </p:txBody>
      </p:sp>
      <p:sp>
        <p:nvSpPr>
          <p:cNvPr id="27" name="Text 25"/>
          <p:cNvSpPr/>
          <p:nvPr/>
        </p:nvSpPr>
        <p:spPr>
          <a:xfrm>
            <a:off x="6858000" y="3401568"/>
            <a:ext cx="2103120" cy="201168"/>
          </a:xfrm>
          <a:prstGeom prst="rect">
            <a:avLst/>
          </a:prstGeom>
          <a:noFill/>
          <a:ln/>
        </p:spPr>
        <p:txBody>
          <a:bodyPr wrap="square" lIns="0" tIns="0" rIns="0" bIns="0" rtlCol="0" anchor="ctr"/>
          <a:lstStyle/>
          <a:p>
            <a:pPr algn="ctr" indent="0" marL="0">
              <a:buNone/>
            </a:pPr>
            <a:r>
              <a:rPr lang="en-US" sz="950" dirty="0">
                <a:solidFill>
                  <a:srgbClr val="94A3B8"/>
                </a:solidFill>
              </a:rPr>
              <a:t>2 employees + AI</a:t>
            </a:r>
            <a:endParaRPr lang="en-US" sz="950" dirty="0"/>
          </a:p>
        </p:txBody>
      </p:sp>
      <p:sp>
        <p:nvSpPr>
          <p:cNvPr id="28" name="Shape 26"/>
          <p:cNvSpPr/>
          <p:nvPr/>
        </p:nvSpPr>
        <p:spPr>
          <a:xfrm>
            <a:off x="4617720" y="3767328"/>
            <a:ext cx="2103120" cy="1371600"/>
          </a:xfrm>
          <a:prstGeom prst="rect">
            <a:avLst/>
          </a:prstGeom>
          <a:solidFill>
            <a:srgbClr val="FFFFFF"/>
          </a:solidFill>
          <a:ln w="12700">
            <a:solidFill>
              <a:srgbClr val="E2E8F0"/>
            </a:solidFill>
            <a:prstDash val="solid"/>
          </a:ln>
        </p:spPr>
      </p:sp>
      <p:sp>
        <p:nvSpPr>
          <p:cNvPr id="29" name="Shape 27"/>
          <p:cNvSpPr/>
          <p:nvPr/>
        </p:nvSpPr>
        <p:spPr>
          <a:xfrm>
            <a:off x="4617720" y="3767328"/>
            <a:ext cx="2103120" cy="91440"/>
          </a:xfrm>
          <a:prstGeom prst="rect">
            <a:avLst/>
          </a:prstGeom>
          <a:solidFill>
            <a:srgbClr val="028090"/>
          </a:solidFill>
          <a:ln w="12700">
            <a:solidFill>
              <a:srgbClr val="028090"/>
            </a:solidFill>
            <a:prstDash val="solid"/>
          </a:ln>
        </p:spPr>
      </p:sp>
      <p:sp>
        <p:nvSpPr>
          <p:cNvPr id="30" name="Text 28"/>
          <p:cNvSpPr/>
          <p:nvPr/>
        </p:nvSpPr>
        <p:spPr>
          <a:xfrm>
            <a:off x="4617720" y="3950208"/>
            <a:ext cx="2103120" cy="658368"/>
          </a:xfrm>
          <a:prstGeom prst="rect">
            <a:avLst/>
          </a:prstGeom>
          <a:noFill/>
          <a:ln/>
        </p:spPr>
        <p:txBody>
          <a:bodyPr wrap="square" lIns="0" tIns="0" rIns="0" bIns="0" rtlCol="0" anchor="ctr"/>
          <a:lstStyle/>
          <a:p>
            <a:pPr algn="ctr" indent="0" marL="0">
              <a:buNone/>
            </a:pPr>
            <a:r>
              <a:rPr lang="en-US" sz="3000" b="1" dirty="0">
                <a:solidFill>
                  <a:srgbClr val="0B1F3A"/>
                </a:solidFill>
              </a:rPr>
              <a:t>$14.50</a:t>
            </a:r>
            <a:endParaRPr lang="en-US" sz="3000" dirty="0"/>
          </a:p>
        </p:txBody>
      </p:sp>
      <p:sp>
        <p:nvSpPr>
          <p:cNvPr id="31" name="Text 29"/>
          <p:cNvSpPr/>
          <p:nvPr/>
        </p:nvSpPr>
        <p:spPr>
          <a:xfrm>
            <a:off x="4617720" y="4626864"/>
            <a:ext cx="2103120" cy="274320"/>
          </a:xfrm>
          <a:prstGeom prst="rect">
            <a:avLst/>
          </a:prstGeom>
          <a:noFill/>
          <a:ln/>
        </p:spPr>
        <p:txBody>
          <a:bodyPr wrap="square" lIns="0" tIns="0" rIns="0" bIns="0" rtlCol="0" anchor="ctr"/>
          <a:lstStyle/>
          <a:p>
            <a:pPr algn="ctr" indent="0" marL="0">
              <a:buNone/>
            </a:pPr>
            <a:r>
              <a:rPr lang="en-US" sz="1100" b="1" dirty="0">
                <a:solidFill>
                  <a:srgbClr val="028090"/>
                </a:solidFill>
              </a:rPr>
              <a:t>Target CAC</a:t>
            </a:r>
            <a:endParaRPr lang="en-US" sz="1100" dirty="0"/>
          </a:p>
        </p:txBody>
      </p:sp>
      <p:sp>
        <p:nvSpPr>
          <p:cNvPr id="32" name="Text 30"/>
          <p:cNvSpPr/>
          <p:nvPr/>
        </p:nvSpPr>
        <p:spPr>
          <a:xfrm>
            <a:off x="4617720" y="4882896"/>
            <a:ext cx="2103120" cy="201168"/>
          </a:xfrm>
          <a:prstGeom prst="rect">
            <a:avLst/>
          </a:prstGeom>
          <a:noFill/>
          <a:ln/>
        </p:spPr>
        <p:txBody>
          <a:bodyPr wrap="square" lIns="0" tIns="0" rIns="0" bIns="0" rtlCol="0" anchor="ctr"/>
          <a:lstStyle/>
          <a:p>
            <a:pPr algn="ctr" indent="0" marL="0">
              <a:buNone/>
            </a:pPr>
            <a:r>
              <a:rPr lang="en-US" sz="950" dirty="0">
                <a:solidFill>
                  <a:srgbClr val="94A3B8"/>
                </a:solidFill>
              </a:rPr>
              <a:t>vs $225 industry</a:t>
            </a:r>
            <a:endParaRPr lang="en-US" sz="950" dirty="0"/>
          </a:p>
        </p:txBody>
      </p:sp>
      <p:sp>
        <p:nvSpPr>
          <p:cNvPr id="33" name="Shape 31"/>
          <p:cNvSpPr/>
          <p:nvPr/>
        </p:nvSpPr>
        <p:spPr>
          <a:xfrm>
            <a:off x="6858000" y="3767328"/>
            <a:ext cx="2103120" cy="1371600"/>
          </a:xfrm>
          <a:prstGeom prst="rect">
            <a:avLst/>
          </a:prstGeom>
          <a:solidFill>
            <a:srgbClr val="FFFFFF"/>
          </a:solidFill>
          <a:ln w="12700">
            <a:solidFill>
              <a:srgbClr val="E2E8F0"/>
            </a:solidFill>
            <a:prstDash val="solid"/>
          </a:ln>
        </p:spPr>
      </p:sp>
      <p:sp>
        <p:nvSpPr>
          <p:cNvPr id="34" name="Shape 32"/>
          <p:cNvSpPr/>
          <p:nvPr/>
        </p:nvSpPr>
        <p:spPr>
          <a:xfrm>
            <a:off x="6858000" y="3767328"/>
            <a:ext cx="2103120" cy="91440"/>
          </a:xfrm>
          <a:prstGeom prst="rect">
            <a:avLst/>
          </a:prstGeom>
          <a:solidFill>
            <a:srgbClr val="028090"/>
          </a:solidFill>
          <a:ln w="12700">
            <a:solidFill>
              <a:srgbClr val="028090"/>
            </a:solidFill>
            <a:prstDash val="solid"/>
          </a:ln>
        </p:spPr>
      </p:sp>
      <p:sp>
        <p:nvSpPr>
          <p:cNvPr id="35" name="Text 33"/>
          <p:cNvSpPr/>
          <p:nvPr/>
        </p:nvSpPr>
        <p:spPr>
          <a:xfrm>
            <a:off x="6858000" y="3950208"/>
            <a:ext cx="2103120" cy="658368"/>
          </a:xfrm>
          <a:prstGeom prst="rect">
            <a:avLst/>
          </a:prstGeom>
          <a:noFill/>
          <a:ln/>
        </p:spPr>
        <p:txBody>
          <a:bodyPr wrap="square" lIns="0" tIns="0" rIns="0" bIns="0" rtlCol="0" anchor="ctr"/>
          <a:lstStyle/>
          <a:p>
            <a:pPr algn="ctr" indent="0" marL="0">
              <a:buNone/>
            </a:pPr>
            <a:r>
              <a:rPr lang="en-US" sz="3000" b="1" dirty="0">
                <a:solidFill>
                  <a:srgbClr val="0B1F3A"/>
                </a:solidFill>
              </a:rPr>
              <a:t>45%</a:t>
            </a:r>
            <a:endParaRPr lang="en-US" sz="3000" dirty="0"/>
          </a:p>
        </p:txBody>
      </p:sp>
      <p:sp>
        <p:nvSpPr>
          <p:cNvPr id="36" name="Text 34"/>
          <p:cNvSpPr/>
          <p:nvPr/>
        </p:nvSpPr>
        <p:spPr>
          <a:xfrm>
            <a:off x="6858000" y="4626864"/>
            <a:ext cx="2103120" cy="274320"/>
          </a:xfrm>
          <a:prstGeom prst="rect">
            <a:avLst/>
          </a:prstGeom>
          <a:noFill/>
          <a:ln/>
        </p:spPr>
        <p:txBody>
          <a:bodyPr wrap="square" lIns="0" tIns="0" rIns="0" bIns="0" rtlCol="0" anchor="ctr"/>
          <a:lstStyle/>
          <a:p>
            <a:pPr algn="ctr" indent="0" marL="0">
              <a:buNone/>
            </a:pPr>
            <a:r>
              <a:rPr lang="en-US" sz="1100" b="1" dirty="0">
                <a:solidFill>
                  <a:srgbClr val="028090"/>
                </a:solidFill>
              </a:rPr>
              <a:t>Year 3 net margin</a:t>
            </a:r>
            <a:endParaRPr lang="en-US" sz="1100" dirty="0"/>
          </a:p>
        </p:txBody>
      </p:sp>
      <p:sp>
        <p:nvSpPr>
          <p:cNvPr id="37" name="Text 35"/>
          <p:cNvSpPr/>
          <p:nvPr/>
        </p:nvSpPr>
        <p:spPr>
          <a:xfrm>
            <a:off x="6858000" y="4882896"/>
            <a:ext cx="2103120" cy="201168"/>
          </a:xfrm>
          <a:prstGeom prst="rect">
            <a:avLst/>
          </a:prstGeom>
          <a:noFill/>
          <a:ln/>
        </p:spPr>
        <p:txBody>
          <a:bodyPr wrap="square" lIns="0" tIns="0" rIns="0" bIns="0" rtlCol="0" anchor="ctr"/>
          <a:lstStyle/>
          <a:p>
            <a:pPr algn="ctr" indent="0" marL="0">
              <a:buNone/>
            </a:pPr>
            <a:r>
              <a:rPr lang="en-US" sz="950" dirty="0">
                <a:solidFill>
                  <a:srgbClr val="94A3B8"/>
                </a:solidFill>
              </a:rPr>
              <a:t>$128K net profit</a:t>
            </a:r>
            <a:endParaRPr lang="en-US" sz="9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8090"/>
          </a:solidFill>
          <a:ln w="12700">
            <a:solidFill>
              <a:srgbClr val="028090"/>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indent="0" marL="0">
              <a:buNone/>
            </a:pPr>
            <a:r>
              <a:rPr lang="en-US" sz="1300" b="1" spc="500" kern="0" dirty="0">
                <a:solidFill>
                  <a:srgbClr val="FFFFFF"/>
                </a:solidFill>
              </a:rPr>
              <a:t>SERVICE MENU &amp; PRICING STRATEGY</a:t>
            </a:r>
            <a:endParaRPr lang="en-US" sz="1300" dirty="0"/>
          </a:p>
        </p:txBody>
      </p:sp>
      <p:sp>
        <p:nvSpPr>
          <p:cNvPr id="4" name="Shape 2"/>
          <p:cNvSpPr/>
          <p:nvPr/>
        </p:nvSpPr>
        <p:spPr>
          <a:xfrm>
            <a:off x="256032" y="777240"/>
            <a:ext cx="2743200" cy="4160520"/>
          </a:xfrm>
          <a:prstGeom prst="rect">
            <a:avLst/>
          </a:prstGeom>
          <a:solidFill>
            <a:srgbClr val="02C39A"/>
          </a:solidFill>
          <a:ln w="12700">
            <a:solidFill>
              <a:srgbClr val="02C39A"/>
            </a:solidFill>
            <a:prstDash val="solid"/>
          </a:ln>
        </p:spPr>
      </p:sp>
      <p:sp>
        <p:nvSpPr>
          <p:cNvPr id="5" name="Text 3"/>
          <p:cNvSpPr/>
          <p:nvPr/>
        </p:nvSpPr>
        <p:spPr>
          <a:xfrm>
            <a:off x="256032" y="868680"/>
            <a:ext cx="2743200" cy="411480"/>
          </a:xfrm>
          <a:prstGeom prst="rect">
            <a:avLst/>
          </a:prstGeom>
          <a:noFill/>
          <a:ln/>
        </p:spPr>
        <p:txBody>
          <a:bodyPr wrap="square" lIns="0" tIns="0" rIns="0" bIns="0" rtlCol="0" anchor="ctr"/>
          <a:lstStyle/>
          <a:p>
            <a:pPr algn="ctr" indent="0" marL="0">
              <a:buNone/>
            </a:pPr>
            <a:r>
              <a:rPr lang="en-US" sz="1350" b="1" dirty="0">
                <a:solidFill>
                  <a:srgbClr val="0B1F3A"/>
                </a:solidFill>
              </a:rPr>
              <a:t>One-Time Wash</a:t>
            </a:r>
            <a:endParaRPr lang="en-US" sz="1350" dirty="0"/>
          </a:p>
        </p:txBody>
      </p:sp>
      <p:sp>
        <p:nvSpPr>
          <p:cNvPr id="6" name="Text 4"/>
          <p:cNvSpPr/>
          <p:nvPr/>
        </p:nvSpPr>
        <p:spPr>
          <a:xfrm>
            <a:off x="256032" y="1298448"/>
            <a:ext cx="2743200" cy="621792"/>
          </a:xfrm>
          <a:prstGeom prst="rect">
            <a:avLst/>
          </a:prstGeom>
          <a:noFill/>
          <a:ln/>
        </p:spPr>
        <p:txBody>
          <a:bodyPr wrap="square" lIns="0" tIns="0" rIns="0" bIns="0" rtlCol="0" anchor="ctr"/>
          <a:lstStyle/>
          <a:p>
            <a:pPr algn="ctr" indent="0" marL="0">
              <a:buNone/>
            </a:pPr>
            <a:r>
              <a:rPr lang="en-US" sz="2700" b="1" dirty="0">
                <a:solidFill>
                  <a:srgbClr val="F4B942"/>
                </a:solidFill>
              </a:rPr>
              <a:t>$149–199</a:t>
            </a:r>
            <a:endParaRPr lang="en-US" sz="2700" dirty="0"/>
          </a:p>
        </p:txBody>
      </p:sp>
      <p:sp>
        <p:nvSpPr>
          <p:cNvPr id="7" name="Text 5"/>
          <p:cNvSpPr/>
          <p:nvPr/>
        </p:nvSpPr>
        <p:spPr>
          <a:xfrm>
            <a:off x="256032" y="1920240"/>
            <a:ext cx="2743200" cy="292608"/>
          </a:xfrm>
          <a:prstGeom prst="rect">
            <a:avLst/>
          </a:prstGeom>
          <a:noFill/>
          <a:ln/>
        </p:spPr>
        <p:txBody>
          <a:bodyPr wrap="square" lIns="0" tIns="0" rIns="0" bIns="0" rtlCol="0" anchor="ctr"/>
          <a:lstStyle/>
          <a:p>
            <a:pPr algn="ctr" indent="0" marL="0">
              <a:buNone/>
            </a:pPr>
            <a:r>
              <a:rPr lang="en-US" sz="1000" dirty="0">
                <a:solidFill>
                  <a:srgbClr val="0B1F3A"/>
                </a:solidFill>
              </a:rPr>
              <a:t>No commitment</a:t>
            </a:r>
            <a:endParaRPr lang="en-US" sz="1000" dirty="0"/>
          </a:p>
        </p:txBody>
      </p:sp>
      <p:sp>
        <p:nvSpPr>
          <p:cNvPr id="8" name="Shape 6"/>
          <p:cNvSpPr/>
          <p:nvPr/>
        </p:nvSpPr>
        <p:spPr>
          <a:xfrm>
            <a:off x="420624" y="2249424"/>
            <a:ext cx="2414016" cy="0"/>
          </a:xfrm>
          <a:prstGeom prst="line">
            <a:avLst/>
          </a:prstGeom>
          <a:noFill/>
          <a:ln w="6350">
            <a:solidFill>
              <a:srgbClr val="FFFFFF">
                <a:alpha val="45000"/>
              </a:srgbClr>
            </a:solidFill>
            <a:prstDash val="solid"/>
          </a:ln>
        </p:spPr>
      </p:sp>
      <p:sp>
        <p:nvSpPr>
          <p:cNvPr id="9" name="Text 7"/>
          <p:cNvSpPr/>
          <p:nvPr/>
        </p:nvSpPr>
        <p:spPr>
          <a:xfrm>
            <a:off x="365760" y="2331720"/>
            <a:ext cx="2523744" cy="292608"/>
          </a:xfrm>
          <a:prstGeom prst="rect">
            <a:avLst/>
          </a:prstGeom>
          <a:noFill/>
          <a:ln/>
        </p:spPr>
        <p:txBody>
          <a:bodyPr wrap="square" lIns="0" tIns="0" rIns="0" bIns="0" rtlCol="0" anchor="ctr"/>
          <a:lstStyle/>
          <a:p>
            <a:pPr indent="0" marL="0">
              <a:buNone/>
            </a:pPr>
            <a:r>
              <a:rPr lang="en-US" sz="1000" dirty="0">
                <a:solidFill>
                  <a:srgbClr val="0B1F3A"/>
                </a:solidFill>
              </a:rPr>
              <a:t>✓  DI water (pure, no streaks)</a:t>
            </a:r>
            <a:endParaRPr lang="en-US" sz="1000" dirty="0"/>
          </a:p>
        </p:txBody>
      </p:sp>
      <p:sp>
        <p:nvSpPr>
          <p:cNvPr id="10" name="Text 8"/>
          <p:cNvSpPr/>
          <p:nvPr/>
        </p:nvSpPr>
        <p:spPr>
          <a:xfrm>
            <a:off x="365760" y="2651760"/>
            <a:ext cx="2523744" cy="292608"/>
          </a:xfrm>
          <a:prstGeom prst="rect">
            <a:avLst/>
          </a:prstGeom>
          <a:noFill/>
          <a:ln/>
        </p:spPr>
        <p:txBody>
          <a:bodyPr wrap="square" lIns="0" tIns="0" rIns="0" bIns="0" rtlCol="0" anchor="ctr"/>
          <a:lstStyle/>
          <a:p>
            <a:pPr indent="0" marL="0">
              <a:buNone/>
            </a:pPr>
            <a:r>
              <a:rPr lang="en-US" sz="1000" dirty="0">
                <a:solidFill>
                  <a:srgbClr val="0B1F3A"/>
                </a:solidFill>
              </a:rPr>
              <a:t>✓  Up to 20 panels</a:t>
            </a:r>
            <a:endParaRPr lang="en-US" sz="1000" dirty="0"/>
          </a:p>
        </p:txBody>
      </p:sp>
      <p:sp>
        <p:nvSpPr>
          <p:cNvPr id="11" name="Text 9"/>
          <p:cNvSpPr/>
          <p:nvPr/>
        </p:nvSpPr>
        <p:spPr>
          <a:xfrm>
            <a:off x="365760" y="2971800"/>
            <a:ext cx="2523744" cy="292608"/>
          </a:xfrm>
          <a:prstGeom prst="rect">
            <a:avLst/>
          </a:prstGeom>
          <a:noFill/>
          <a:ln/>
        </p:spPr>
        <p:txBody>
          <a:bodyPr wrap="square" lIns="0" tIns="0" rIns="0" bIns="0" rtlCol="0" anchor="ctr"/>
          <a:lstStyle/>
          <a:p>
            <a:pPr indent="0" marL="0">
              <a:buNone/>
            </a:pPr>
            <a:r>
              <a:rPr lang="en-US" sz="1000" dirty="0">
                <a:solidFill>
                  <a:srgbClr val="0B1F3A"/>
                </a:solidFill>
              </a:rPr>
              <a:t>✓  Before/after photos</a:t>
            </a:r>
            <a:endParaRPr lang="en-US" sz="1000" dirty="0"/>
          </a:p>
        </p:txBody>
      </p:sp>
      <p:sp>
        <p:nvSpPr>
          <p:cNvPr id="12" name="Text 10"/>
          <p:cNvSpPr/>
          <p:nvPr/>
        </p:nvSpPr>
        <p:spPr>
          <a:xfrm>
            <a:off x="365760" y="3291840"/>
            <a:ext cx="2523744" cy="292608"/>
          </a:xfrm>
          <a:prstGeom prst="rect">
            <a:avLst/>
          </a:prstGeom>
          <a:noFill/>
          <a:ln/>
        </p:spPr>
        <p:txBody>
          <a:bodyPr wrap="square" lIns="0" tIns="0" rIns="0" bIns="0" rtlCol="0" anchor="ctr"/>
          <a:lstStyle/>
          <a:p>
            <a:pPr indent="0" marL="0">
              <a:buNone/>
            </a:pPr>
            <a:r>
              <a:rPr lang="en-US" sz="1000" dirty="0">
                <a:solidFill>
                  <a:srgbClr val="0B1F3A"/>
                </a:solidFill>
              </a:rPr>
              <a:t>✓  Panel health report emailed</a:t>
            </a:r>
            <a:endParaRPr lang="en-US" sz="1000" dirty="0"/>
          </a:p>
        </p:txBody>
      </p:sp>
      <p:sp>
        <p:nvSpPr>
          <p:cNvPr id="13" name="Text 11"/>
          <p:cNvSpPr/>
          <p:nvPr/>
        </p:nvSpPr>
        <p:spPr>
          <a:xfrm>
            <a:off x="365760" y="3611880"/>
            <a:ext cx="2523744" cy="292608"/>
          </a:xfrm>
          <a:prstGeom prst="rect">
            <a:avLst/>
          </a:prstGeom>
          <a:noFill/>
          <a:ln/>
        </p:spPr>
        <p:txBody>
          <a:bodyPr wrap="square" lIns="0" tIns="0" rIns="0" bIns="0" rtlCol="0" anchor="ctr"/>
          <a:lstStyle/>
          <a:p>
            <a:pPr indent="0" marL="0">
              <a:buNone/>
            </a:pPr>
            <a:r>
              <a:rPr lang="en-US" sz="1000" dirty="0">
                <a:solidFill>
                  <a:srgbClr val="0B1F3A"/>
                </a:solidFill>
              </a:rPr>
              <a:t>✓  Transparent flat-rate pricing</a:t>
            </a:r>
            <a:endParaRPr lang="en-US" sz="1000" dirty="0"/>
          </a:p>
        </p:txBody>
      </p:sp>
      <p:sp>
        <p:nvSpPr>
          <p:cNvPr id="14" name="Shape 12"/>
          <p:cNvSpPr/>
          <p:nvPr/>
        </p:nvSpPr>
        <p:spPr>
          <a:xfrm>
            <a:off x="3154680" y="777240"/>
            <a:ext cx="2743200" cy="4160520"/>
          </a:xfrm>
          <a:prstGeom prst="rect">
            <a:avLst/>
          </a:prstGeom>
          <a:solidFill>
            <a:srgbClr val="028090"/>
          </a:solidFill>
          <a:ln w="12700">
            <a:solidFill>
              <a:srgbClr val="028090"/>
            </a:solidFill>
            <a:prstDash val="solid"/>
          </a:ln>
        </p:spPr>
      </p:sp>
      <p:sp>
        <p:nvSpPr>
          <p:cNvPr id="15" name="Text 13"/>
          <p:cNvSpPr/>
          <p:nvPr/>
        </p:nvSpPr>
        <p:spPr>
          <a:xfrm>
            <a:off x="3154680" y="868680"/>
            <a:ext cx="2743200" cy="411480"/>
          </a:xfrm>
          <a:prstGeom prst="rect">
            <a:avLst/>
          </a:prstGeom>
          <a:noFill/>
          <a:ln/>
        </p:spPr>
        <p:txBody>
          <a:bodyPr wrap="square" lIns="0" tIns="0" rIns="0" bIns="0" rtlCol="0" anchor="ctr"/>
          <a:lstStyle/>
          <a:p>
            <a:pPr algn="ctr" indent="0" marL="0">
              <a:buNone/>
            </a:pPr>
            <a:r>
              <a:rPr lang="en-US" sz="1350" b="1" dirty="0">
                <a:solidFill>
                  <a:srgbClr val="FFFFFF"/>
                </a:solidFill>
              </a:rPr>
              <a:t>Annual Subscription</a:t>
            </a:r>
            <a:endParaRPr lang="en-US" sz="1350" dirty="0"/>
          </a:p>
        </p:txBody>
      </p:sp>
      <p:sp>
        <p:nvSpPr>
          <p:cNvPr id="16" name="Text 14"/>
          <p:cNvSpPr/>
          <p:nvPr/>
        </p:nvSpPr>
        <p:spPr>
          <a:xfrm>
            <a:off x="3154680" y="1298448"/>
            <a:ext cx="2743200" cy="621792"/>
          </a:xfrm>
          <a:prstGeom prst="rect">
            <a:avLst/>
          </a:prstGeom>
          <a:noFill/>
          <a:ln/>
        </p:spPr>
        <p:txBody>
          <a:bodyPr wrap="square" lIns="0" tIns="0" rIns="0" bIns="0" rtlCol="0" anchor="ctr"/>
          <a:lstStyle/>
          <a:p>
            <a:pPr algn="ctr" indent="0" marL="0">
              <a:buNone/>
            </a:pPr>
            <a:r>
              <a:rPr lang="en-US" sz="2700" b="1" dirty="0">
                <a:solidFill>
                  <a:srgbClr val="F4B942"/>
                </a:solidFill>
              </a:rPr>
              <a:t>$99/visit</a:t>
            </a:r>
            <a:endParaRPr lang="en-US" sz="2700" dirty="0"/>
          </a:p>
        </p:txBody>
      </p:sp>
      <p:sp>
        <p:nvSpPr>
          <p:cNvPr id="17" name="Text 15"/>
          <p:cNvSpPr/>
          <p:nvPr/>
        </p:nvSpPr>
        <p:spPr>
          <a:xfrm>
            <a:off x="3154680" y="1920240"/>
            <a:ext cx="2743200" cy="292608"/>
          </a:xfrm>
          <a:prstGeom prst="rect">
            <a:avLst/>
          </a:prstGeom>
          <a:noFill/>
          <a:ln/>
        </p:spPr>
        <p:txBody>
          <a:bodyPr wrap="square" lIns="0" tIns="0" rIns="0" bIns="0" rtlCol="0" anchor="ctr"/>
          <a:lstStyle/>
          <a:p>
            <a:pPr algn="ctr" indent="0" marL="0">
              <a:buNone/>
            </a:pPr>
            <a:r>
              <a:rPr lang="en-US" sz="1000" dirty="0">
                <a:solidFill>
                  <a:srgbClr val="FFFFFF"/>
                </a:solidFill>
              </a:rPr>
              <a:t>2× per year — billed auto</a:t>
            </a:r>
            <a:endParaRPr lang="en-US" sz="1000" dirty="0"/>
          </a:p>
        </p:txBody>
      </p:sp>
      <p:sp>
        <p:nvSpPr>
          <p:cNvPr id="18" name="Shape 16"/>
          <p:cNvSpPr/>
          <p:nvPr/>
        </p:nvSpPr>
        <p:spPr>
          <a:xfrm>
            <a:off x="3319272" y="2249424"/>
            <a:ext cx="2414016" cy="0"/>
          </a:xfrm>
          <a:prstGeom prst="line">
            <a:avLst/>
          </a:prstGeom>
          <a:noFill/>
          <a:ln w="6350">
            <a:solidFill>
              <a:srgbClr val="FFFFFF">
                <a:alpha val="45000"/>
              </a:srgbClr>
            </a:solidFill>
            <a:prstDash val="solid"/>
          </a:ln>
        </p:spPr>
      </p:sp>
      <p:sp>
        <p:nvSpPr>
          <p:cNvPr id="19" name="Text 17"/>
          <p:cNvSpPr/>
          <p:nvPr/>
        </p:nvSpPr>
        <p:spPr>
          <a:xfrm>
            <a:off x="3264408" y="233172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Both cleanings pre-scheduled</a:t>
            </a:r>
            <a:endParaRPr lang="en-US" sz="1000" dirty="0"/>
          </a:p>
        </p:txBody>
      </p:sp>
      <p:sp>
        <p:nvSpPr>
          <p:cNvPr id="20" name="Text 18"/>
          <p:cNvSpPr/>
          <p:nvPr/>
        </p:nvSpPr>
        <p:spPr>
          <a:xfrm>
            <a:off x="3264408" y="265176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Priority booking</a:t>
            </a:r>
            <a:endParaRPr lang="en-US" sz="1000" dirty="0"/>
          </a:p>
        </p:txBody>
      </p:sp>
      <p:sp>
        <p:nvSpPr>
          <p:cNvPr id="21" name="Text 19"/>
          <p:cNvSpPr/>
          <p:nvPr/>
        </p:nvSpPr>
        <p:spPr>
          <a:xfrm>
            <a:off x="3264408" y="297180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Up to 30 panels</a:t>
            </a:r>
            <a:endParaRPr lang="en-US" sz="1000" dirty="0"/>
          </a:p>
        </p:txBody>
      </p:sp>
      <p:sp>
        <p:nvSpPr>
          <p:cNvPr id="22" name="Text 20"/>
          <p:cNvSpPr/>
          <p:nvPr/>
        </p:nvSpPr>
        <p:spPr>
          <a:xfrm>
            <a:off x="3264408" y="329184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Bird deterrent inspection</a:t>
            </a:r>
            <a:endParaRPr lang="en-US" sz="1000" dirty="0"/>
          </a:p>
        </p:txBody>
      </p:sp>
      <p:sp>
        <p:nvSpPr>
          <p:cNvPr id="23" name="Text 21"/>
          <p:cNvSpPr/>
          <p:nvPr/>
        </p:nvSpPr>
        <p:spPr>
          <a:xfrm>
            <a:off x="3264408" y="361188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Annual energy savings report</a:t>
            </a:r>
            <a:endParaRPr lang="en-US" sz="1000" dirty="0"/>
          </a:p>
        </p:txBody>
      </p:sp>
      <p:sp>
        <p:nvSpPr>
          <p:cNvPr id="24" name="Text 22"/>
          <p:cNvSpPr/>
          <p:nvPr/>
        </p:nvSpPr>
        <p:spPr>
          <a:xfrm>
            <a:off x="3264408" y="393192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No price increase 2 years</a:t>
            </a:r>
            <a:endParaRPr lang="en-US" sz="1000" dirty="0"/>
          </a:p>
        </p:txBody>
      </p:sp>
      <p:sp>
        <p:nvSpPr>
          <p:cNvPr id="25" name="Shape 23"/>
          <p:cNvSpPr/>
          <p:nvPr/>
        </p:nvSpPr>
        <p:spPr>
          <a:xfrm>
            <a:off x="6053328" y="777240"/>
            <a:ext cx="2743200" cy="4160520"/>
          </a:xfrm>
          <a:prstGeom prst="rect">
            <a:avLst/>
          </a:prstGeom>
          <a:solidFill>
            <a:srgbClr val="0B1F3A"/>
          </a:solidFill>
          <a:ln w="12700">
            <a:solidFill>
              <a:srgbClr val="0B1F3A"/>
            </a:solidFill>
            <a:prstDash val="solid"/>
          </a:ln>
        </p:spPr>
      </p:sp>
      <p:sp>
        <p:nvSpPr>
          <p:cNvPr id="26" name="Text 24"/>
          <p:cNvSpPr/>
          <p:nvPr/>
        </p:nvSpPr>
        <p:spPr>
          <a:xfrm>
            <a:off x="6053328" y="868680"/>
            <a:ext cx="2743200" cy="411480"/>
          </a:xfrm>
          <a:prstGeom prst="rect">
            <a:avLst/>
          </a:prstGeom>
          <a:noFill/>
          <a:ln/>
        </p:spPr>
        <p:txBody>
          <a:bodyPr wrap="square" lIns="0" tIns="0" rIns="0" bIns="0" rtlCol="0" anchor="ctr"/>
          <a:lstStyle/>
          <a:p>
            <a:pPr algn="ctr" indent="0" marL="0">
              <a:buNone/>
            </a:pPr>
            <a:r>
              <a:rPr lang="en-US" sz="1350" b="1" dirty="0">
                <a:solidFill>
                  <a:srgbClr val="FFFFFF"/>
                </a:solidFill>
              </a:rPr>
              <a:t>HOA Neighborhood</a:t>
            </a:r>
            <a:endParaRPr lang="en-US" sz="1350" dirty="0"/>
          </a:p>
        </p:txBody>
      </p:sp>
      <p:sp>
        <p:nvSpPr>
          <p:cNvPr id="27" name="Text 25"/>
          <p:cNvSpPr/>
          <p:nvPr/>
        </p:nvSpPr>
        <p:spPr>
          <a:xfrm>
            <a:off x="6053328" y="1298448"/>
            <a:ext cx="2743200" cy="621792"/>
          </a:xfrm>
          <a:prstGeom prst="rect">
            <a:avLst/>
          </a:prstGeom>
          <a:noFill/>
          <a:ln/>
        </p:spPr>
        <p:txBody>
          <a:bodyPr wrap="square" lIns="0" tIns="0" rIns="0" bIns="0" rtlCol="0" anchor="ctr"/>
          <a:lstStyle/>
          <a:p>
            <a:pPr algn="ctr" indent="0" marL="0">
              <a:buNone/>
            </a:pPr>
            <a:r>
              <a:rPr lang="en-US" sz="2700" b="1" dirty="0">
                <a:solidFill>
                  <a:srgbClr val="F4B942"/>
                </a:solidFill>
              </a:rPr>
              <a:t>$65–85/home</a:t>
            </a:r>
            <a:endParaRPr lang="en-US" sz="2700" dirty="0"/>
          </a:p>
        </p:txBody>
      </p:sp>
      <p:sp>
        <p:nvSpPr>
          <p:cNvPr id="28" name="Text 26"/>
          <p:cNvSpPr/>
          <p:nvPr/>
        </p:nvSpPr>
        <p:spPr>
          <a:xfrm>
            <a:off x="6053328" y="1920240"/>
            <a:ext cx="2743200" cy="292608"/>
          </a:xfrm>
          <a:prstGeom prst="rect">
            <a:avLst/>
          </a:prstGeom>
          <a:noFill/>
          <a:ln/>
        </p:spPr>
        <p:txBody>
          <a:bodyPr wrap="square" lIns="0" tIns="0" rIns="0" bIns="0" rtlCol="0" anchor="ctr"/>
          <a:lstStyle/>
          <a:p>
            <a:pPr algn="ctr" indent="0" marL="0">
              <a:buNone/>
            </a:pPr>
            <a:r>
              <a:rPr lang="en-US" sz="1000" dirty="0">
                <a:solidFill>
                  <a:srgbClr val="FFFFFF"/>
                </a:solidFill>
              </a:rPr>
              <a:t>Quarterly — bulk contract</a:t>
            </a:r>
            <a:endParaRPr lang="en-US" sz="1000" dirty="0"/>
          </a:p>
        </p:txBody>
      </p:sp>
      <p:sp>
        <p:nvSpPr>
          <p:cNvPr id="29" name="Shape 27"/>
          <p:cNvSpPr/>
          <p:nvPr/>
        </p:nvSpPr>
        <p:spPr>
          <a:xfrm>
            <a:off x="6217920" y="2249424"/>
            <a:ext cx="2414016" cy="0"/>
          </a:xfrm>
          <a:prstGeom prst="line">
            <a:avLst/>
          </a:prstGeom>
          <a:noFill/>
          <a:ln w="6350">
            <a:solidFill>
              <a:srgbClr val="FFFFFF">
                <a:alpha val="45000"/>
              </a:srgbClr>
            </a:solidFill>
            <a:prstDash val="solid"/>
          </a:ln>
        </p:spPr>
      </p:sp>
      <p:sp>
        <p:nvSpPr>
          <p:cNvPr id="30" name="Text 28"/>
          <p:cNvSpPr/>
          <p:nvPr/>
        </p:nvSpPr>
        <p:spPr>
          <a:xfrm>
            <a:off x="6163056" y="233172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Min 10 homes, 1-day route</a:t>
            </a:r>
            <a:endParaRPr lang="en-US" sz="1000" dirty="0"/>
          </a:p>
        </p:txBody>
      </p:sp>
      <p:sp>
        <p:nvSpPr>
          <p:cNvPr id="31" name="Text 29"/>
          <p:cNvSpPr/>
          <p:nvPr/>
        </p:nvSpPr>
        <p:spPr>
          <a:xfrm>
            <a:off x="6163056" y="265176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HOA board invoicing</a:t>
            </a:r>
            <a:endParaRPr lang="en-US" sz="1000" dirty="0"/>
          </a:p>
        </p:txBody>
      </p:sp>
      <p:sp>
        <p:nvSpPr>
          <p:cNvPr id="32" name="Text 30"/>
          <p:cNvSpPr/>
          <p:nvPr/>
        </p:nvSpPr>
        <p:spPr>
          <a:xfrm>
            <a:off x="6163056" y="297180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Exclusive vendor status</a:t>
            </a:r>
            <a:endParaRPr lang="en-US" sz="1000" dirty="0"/>
          </a:p>
        </p:txBody>
      </p:sp>
      <p:sp>
        <p:nvSpPr>
          <p:cNvPr id="33" name="Text 31"/>
          <p:cNvSpPr/>
          <p:nvPr/>
        </p:nvSpPr>
        <p:spPr>
          <a:xfrm>
            <a:off x="6163056" y="329184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Emergency clean included</a:t>
            </a:r>
            <a:endParaRPr lang="en-US" sz="1000" dirty="0"/>
          </a:p>
        </p:txBody>
      </p:sp>
      <p:sp>
        <p:nvSpPr>
          <p:cNvPr id="34" name="Text 32"/>
          <p:cNvSpPr/>
          <p:nvPr/>
        </p:nvSpPr>
        <p:spPr>
          <a:xfrm>
            <a:off x="6163056" y="361188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Performance dashboard</a:t>
            </a:r>
            <a:endParaRPr lang="en-US" sz="1000" dirty="0"/>
          </a:p>
        </p:txBody>
      </p:sp>
      <p:sp>
        <p:nvSpPr>
          <p:cNvPr id="35" name="Text 33"/>
          <p:cNvSpPr/>
          <p:nvPr/>
        </p:nvSpPr>
        <p:spPr>
          <a:xfrm>
            <a:off x="6163056" y="3931920"/>
            <a:ext cx="2523744" cy="292608"/>
          </a:xfrm>
          <a:prstGeom prst="rect">
            <a:avLst/>
          </a:prstGeom>
          <a:noFill/>
          <a:ln/>
        </p:spPr>
        <p:txBody>
          <a:bodyPr wrap="square" lIns="0" tIns="0" rIns="0" bIns="0" rtlCol="0" anchor="ctr"/>
          <a:lstStyle/>
          <a:p>
            <a:pPr indent="0" marL="0">
              <a:buNone/>
            </a:pPr>
            <a:r>
              <a:rPr lang="en-US" sz="1000" dirty="0">
                <a:solidFill>
                  <a:srgbClr val="FFFFFF"/>
                </a:solidFill>
              </a:rPr>
              <a:t>✓  Referral credit program</a:t>
            </a:r>
            <a:endParaRPr lang="en-US" sz="1000" dirty="0"/>
          </a:p>
        </p:txBody>
      </p:sp>
      <p:sp>
        <p:nvSpPr>
          <p:cNvPr id="36" name="Text 34"/>
          <p:cNvSpPr/>
          <p:nvPr/>
        </p:nvSpPr>
        <p:spPr>
          <a:xfrm>
            <a:off x="256032" y="4809744"/>
            <a:ext cx="8631936" cy="274320"/>
          </a:xfrm>
          <a:prstGeom prst="rect">
            <a:avLst/>
          </a:prstGeom>
          <a:noFill/>
          <a:ln/>
        </p:spPr>
        <p:txBody>
          <a:bodyPr wrap="square" lIns="0" tIns="0" rIns="0" bIns="0" rtlCol="0" anchor="ctr"/>
          <a:lstStyle/>
          <a:p>
            <a:pPr algn="ctr" indent="0" marL="0">
              <a:buNone/>
            </a:pPr>
            <a:r>
              <a:rPr lang="en-US" sz="1000" dirty="0">
                <a:solidFill>
                  <a:srgbClr val="94A3B8"/>
                </a:solidFill>
              </a:rPr>
              <a:t>Strategic add-ons (same visit, zero extra CAC):  Bird proofing +$150–200  ·  Panel inspection report +$49  ·  Gutter flush combo +$79  ·  Window cleaning add-on +$80  ·  Paint/debris removal +$99</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indent="0" marL="0">
              <a:buNone/>
            </a:pPr>
            <a:r>
              <a:rPr lang="en-US" sz="1300" b="1" spc="500" kern="0" dirty="0">
                <a:solidFill>
                  <a:srgbClr val="F4B942"/>
                </a:solidFill>
              </a:rPr>
              <a:t>3-PHASE GROWTH ROADMAP</a:t>
            </a:r>
            <a:endParaRPr lang="en-US" sz="1300" dirty="0"/>
          </a:p>
        </p:txBody>
      </p:sp>
      <p:sp>
        <p:nvSpPr>
          <p:cNvPr id="4" name="Shape 2"/>
          <p:cNvSpPr/>
          <p:nvPr/>
        </p:nvSpPr>
        <p:spPr>
          <a:xfrm>
            <a:off x="201168" y="777240"/>
            <a:ext cx="2834640" cy="475488"/>
          </a:xfrm>
          <a:prstGeom prst="rect">
            <a:avLst/>
          </a:prstGeom>
          <a:solidFill>
            <a:srgbClr val="02C39A"/>
          </a:solidFill>
          <a:ln w="12700">
            <a:solidFill>
              <a:srgbClr val="02C39A"/>
            </a:solidFill>
            <a:prstDash val="solid"/>
          </a:ln>
        </p:spPr>
      </p:sp>
      <p:sp>
        <p:nvSpPr>
          <p:cNvPr id="5" name="Text 3"/>
          <p:cNvSpPr/>
          <p:nvPr/>
        </p:nvSpPr>
        <p:spPr>
          <a:xfrm>
            <a:off x="201168" y="795528"/>
            <a:ext cx="2834640" cy="438912"/>
          </a:xfrm>
          <a:prstGeom prst="rect">
            <a:avLst/>
          </a:prstGeom>
          <a:noFill/>
          <a:ln/>
        </p:spPr>
        <p:txBody>
          <a:bodyPr wrap="square" lIns="0" tIns="0" rIns="0" bIns="0" rtlCol="0" anchor="ctr"/>
          <a:lstStyle/>
          <a:p>
            <a:pPr algn="ctr" indent="0" marL="0">
              <a:buNone/>
            </a:pPr>
            <a:r>
              <a:rPr lang="en-US" sz="1100" b="1" dirty="0">
                <a:solidFill>
                  <a:srgbClr val="0B1F3A"/>
                </a:solidFill>
              </a:rPr>
              <a:t>Phase 1: Part-Time Launch</a:t>
            </a:r>
            <a:endParaRPr lang="en-US" sz="1100" dirty="0"/>
          </a:p>
        </p:txBody>
      </p:sp>
      <p:sp>
        <p:nvSpPr>
          <p:cNvPr id="6" name="Shape 4"/>
          <p:cNvSpPr/>
          <p:nvPr/>
        </p:nvSpPr>
        <p:spPr>
          <a:xfrm>
            <a:off x="201168" y="1252728"/>
            <a:ext cx="2834640" cy="274320"/>
          </a:xfrm>
          <a:prstGeom prst="rect">
            <a:avLst/>
          </a:prstGeom>
          <a:solidFill>
            <a:srgbClr val="E2E8F0"/>
          </a:solidFill>
          <a:ln w="12700">
            <a:solidFill>
              <a:srgbClr val="E2E8F0"/>
            </a:solidFill>
            <a:prstDash val="solid"/>
          </a:ln>
        </p:spPr>
      </p:sp>
      <p:sp>
        <p:nvSpPr>
          <p:cNvPr id="7" name="Text 5"/>
          <p:cNvSpPr/>
          <p:nvPr/>
        </p:nvSpPr>
        <p:spPr>
          <a:xfrm>
            <a:off x="201168" y="1252728"/>
            <a:ext cx="2834640" cy="274320"/>
          </a:xfrm>
          <a:prstGeom prst="rect">
            <a:avLst/>
          </a:prstGeom>
          <a:noFill/>
          <a:ln/>
        </p:spPr>
        <p:txBody>
          <a:bodyPr wrap="square" lIns="0" tIns="0" rIns="0" bIns="0" rtlCol="0" anchor="ctr"/>
          <a:lstStyle/>
          <a:p>
            <a:pPr algn="ctr" indent="0" marL="0">
              <a:buNone/>
            </a:pPr>
            <a:r>
              <a:rPr lang="en-US" sz="900" b="1" dirty="0">
                <a:solidFill>
                  <a:srgbClr val="334155"/>
                </a:solidFill>
              </a:rPr>
              <a:t>Months 1–3 · Weekends Only</a:t>
            </a:r>
            <a:endParaRPr lang="en-US" sz="900" dirty="0"/>
          </a:p>
        </p:txBody>
      </p:sp>
      <p:sp>
        <p:nvSpPr>
          <p:cNvPr id="8" name="Shape 6"/>
          <p:cNvSpPr/>
          <p:nvPr/>
        </p:nvSpPr>
        <p:spPr>
          <a:xfrm>
            <a:off x="201168" y="1527048"/>
            <a:ext cx="2834640" cy="3474720"/>
          </a:xfrm>
          <a:prstGeom prst="rect">
            <a:avLst/>
          </a:prstGeom>
          <a:solidFill>
            <a:srgbClr val="FFFFFF"/>
          </a:solidFill>
          <a:ln w="10160">
            <a:solidFill>
              <a:srgbClr val="E2E8F0"/>
            </a:solidFill>
            <a:prstDash val="solid"/>
          </a:ln>
        </p:spPr>
      </p:sp>
      <p:sp>
        <p:nvSpPr>
          <p:cNvPr id="9" name="Text 7"/>
          <p:cNvSpPr/>
          <p:nvPr/>
        </p:nvSpPr>
        <p:spPr>
          <a:xfrm>
            <a:off x="292608" y="1581912"/>
            <a:ext cx="2651760" cy="457200"/>
          </a:xfrm>
          <a:prstGeom prst="rect">
            <a:avLst/>
          </a:prstGeom>
          <a:noFill/>
          <a:ln/>
        </p:spPr>
        <p:txBody>
          <a:bodyPr wrap="square" lIns="0" tIns="0" rIns="0" bIns="0" rtlCol="0" anchor="t"/>
          <a:lstStyle/>
          <a:p>
            <a:pPr indent="0" marL="0">
              <a:buNone/>
            </a:pPr>
            <a:r>
              <a:rPr lang="en-US" sz="950" dirty="0">
                <a:solidFill>
                  <a:srgbClr val="334155"/>
                </a:solidFill>
              </a:rPr>
              <a:t>›  Buy DI system, pole brush, safety gear (~$1,800)</a:t>
            </a:r>
            <a:endParaRPr lang="en-US" sz="950" dirty="0"/>
          </a:p>
        </p:txBody>
      </p:sp>
      <p:sp>
        <p:nvSpPr>
          <p:cNvPr id="10" name="Text 8"/>
          <p:cNvSpPr/>
          <p:nvPr/>
        </p:nvSpPr>
        <p:spPr>
          <a:xfrm>
            <a:off x="292608" y="2057400"/>
            <a:ext cx="2651760" cy="457200"/>
          </a:xfrm>
          <a:prstGeom prst="rect">
            <a:avLst/>
          </a:prstGeom>
          <a:noFill/>
          <a:ln/>
        </p:spPr>
        <p:txBody>
          <a:bodyPr wrap="square" lIns="0" tIns="0" rIns="0" bIns="0" rtlCol="0" anchor="t"/>
          <a:lstStyle/>
          <a:p>
            <a:pPr indent="0" marL="0">
              <a:buNone/>
            </a:pPr>
            <a:r>
              <a:rPr lang="en-US" sz="950" dirty="0">
                <a:solidFill>
                  <a:srgbClr val="334155"/>
                </a:solidFill>
              </a:rPr>
              <a:t>›  Register LLC + get GL insurance (~$170 total)</a:t>
            </a:r>
            <a:endParaRPr lang="en-US" sz="950" dirty="0"/>
          </a:p>
        </p:txBody>
      </p:sp>
      <p:sp>
        <p:nvSpPr>
          <p:cNvPr id="11" name="Text 9"/>
          <p:cNvSpPr/>
          <p:nvPr/>
        </p:nvSpPr>
        <p:spPr>
          <a:xfrm>
            <a:off x="292608" y="2532888"/>
            <a:ext cx="2651760" cy="457200"/>
          </a:xfrm>
          <a:prstGeom prst="rect">
            <a:avLst/>
          </a:prstGeom>
          <a:noFill/>
          <a:ln/>
        </p:spPr>
        <p:txBody>
          <a:bodyPr wrap="square" lIns="0" tIns="0" rIns="0" bIns="0" rtlCol="0" anchor="t"/>
          <a:lstStyle/>
          <a:p>
            <a:pPr indent="0" marL="0">
              <a:buNone/>
            </a:pPr>
            <a:r>
              <a:rPr lang="en-US" sz="950" dirty="0">
                <a:solidFill>
                  <a:srgbClr val="334155"/>
                </a:solidFill>
              </a:rPr>
              <a:t>›  Google Business + one-page website + AI chatbot live</a:t>
            </a:r>
            <a:endParaRPr lang="en-US" sz="950" dirty="0"/>
          </a:p>
        </p:txBody>
      </p:sp>
      <p:sp>
        <p:nvSpPr>
          <p:cNvPr id="12" name="Text 10"/>
          <p:cNvSpPr/>
          <p:nvPr/>
        </p:nvSpPr>
        <p:spPr>
          <a:xfrm>
            <a:off x="292608" y="3008376"/>
            <a:ext cx="2651760" cy="457200"/>
          </a:xfrm>
          <a:prstGeom prst="rect">
            <a:avLst/>
          </a:prstGeom>
          <a:noFill/>
          <a:ln/>
        </p:spPr>
        <p:txBody>
          <a:bodyPr wrap="square" lIns="0" tIns="0" rIns="0" bIns="0" rtlCol="0" anchor="t"/>
          <a:lstStyle/>
          <a:p>
            <a:pPr indent="0" marL="0">
              <a:buNone/>
            </a:pPr>
            <a:r>
              <a:rPr lang="en-US" sz="950" dirty="0">
                <a:solidFill>
                  <a:srgbClr val="334155"/>
                </a:solidFill>
              </a:rPr>
              <a:t>›  3 free demo jobs in target subdivision → 5★ reviews</a:t>
            </a:r>
            <a:endParaRPr lang="en-US" sz="950" dirty="0"/>
          </a:p>
        </p:txBody>
      </p:sp>
      <p:sp>
        <p:nvSpPr>
          <p:cNvPr id="13" name="Text 11"/>
          <p:cNvSpPr/>
          <p:nvPr/>
        </p:nvSpPr>
        <p:spPr>
          <a:xfrm>
            <a:off x="292608" y="3483864"/>
            <a:ext cx="2651760" cy="457200"/>
          </a:xfrm>
          <a:prstGeom prst="rect">
            <a:avLst/>
          </a:prstGeom>
          <a:noFill/>
          <a:ln/>
        </p:spPr>
        <p:txBody>
          <a:bodyPr wrap="square" lIns="0" tIns="0" rIns="0" bIns="0" rtlCol="0" anchor="t"/>
          <a:lstStyle/>
          <a:p>
            <a:pPr indent="0" marL="0">
              <a:buNone/>
            </a:pPr>
            <a:r>
              <a:rPr lang="en-US" sz="950" dirty="0">
                <a:solidFill>
                  <a:srgbClr val="334155"/>
                </a:solidFill>
              </a:rPr>
              <a:t>›  Buster deploys Nextdoor + Facebook Groups daily</a:t>
            </a:r>
            <a:endParaRPr lang="en-US" sz="950" dirty="0"/>
          </a:p>
        </p:txBody>
      </p:sp>
      <p:sp>
        <p:nvSpPr>
          <p:cNvPr id="14" name="Text 12"/>
          <p:cNvSpPr/>
          <p:nvPr/>
        </p:nvSpPr>
        <p:spPr>
          <a:xfrm>
            <a:off x="292608" y="3959352"/>
            <a:ext cx="2651760" cy="457200"/>
          </a:xfrm>
          <a:prstGeom prst="rect">
            <a:avLst/>
          </a:prstGeom>
          <a:noFill/>
          <a:ln/>
        </p:spPr>
        <p:txBody>
          <a:bodyPr wrap="square" lIns="0" tIns="0" rIns="0" bIns="0" rtlCol="0" anchor="t"/>
          <a:lstStyle/>
          <a:p>
            <a:pPr indent="0" marL="0">
              <a:buNone/>
            </a:pPr>
            <a:r>
              <a:rPr lang="en-US" sz="950" dirty="0">
                <a:solidFill>
                  <a:srgbClr val="334155"/>
                </a:solidFill>
              </a:rPr>
              <a:t>›  Drop 200 door hangers in Whitney Ranch or Placer One</a:t>
            </a:r>
            <a:endParaRPr lang="en-US" sz="950" dirty="0"/>
          </a:p>
        </p:txBody>
      </p:sp>
      <p:sp>
        <p:nvSpPr>
          <p:cNvPr id="15" name="Text 13"/>
          <p:cNvSpPr/>
          <p:nvPr/>
        </p:nvSpPr>
        <p:spPr>
          <a:xfrm>
            <a:off x="292608" y="4434840"/>
            <a:ext cx="2651760" cy="457200"/>
          </a:xfrm>
          <a:prstGeom prst="rect">
            <a:avLst/>
          </a:prstGeom>
          <a:noFill/>
          <a:ln/>
        </p:spPr>
        <p:txBody>
          <a:bodyPr wrap="square" lIns="0" tIns="0" rIns="0" bIns="0" rtlCol="0" anchor="t"/>
          <a:lstStyle/>
          <a:p>
            <a:pPr indent="0" marL="0">
              <a:buNone/>
            </a:pPr>
            <a:r>
              <a:rPr lang="en-US" sz="950" dirty="0">
                <a:solidFill>
                  <a:srgbClr val="334155"/>
                </a:solidFill>
              </a:rPr>
              <a:t>›  Target: 8–12 paid jobs/weekend → $1,500–2,400/wknd</a:t>
            </a:r>
            <a:endParaRPr lang="en-US" sz="950" dirty="0"/>
          </a:p>
        </p:txBody>
      </p:sp>
      <p:sp>
        <p:nvSpPr>
          <p:cNvPr id="16" name="Shape 14"/>
          <p:cNvSpPr/>
          <p:nvPr/>
        </p:nvSpPr>
        <p:spPr>
          <a:xfrm>
            <a:off x="3163824" y="777240"/>
            <a:ext cx="2834640" cy="475488"/>
          </a:xfrm>
          <a:prstGeom prst="rect">
            <a:avLst/>
          </a:prstGeom>
          <a:solidFill>
            <a:srgbClr val="028090"/>
          </a:solidFill>
          <a:ln w="12700">
            <a:solidFill>
              <a:srgbClr val="028090"/>
            </a:solidFill>
            <a:prstDash val="solid"/>
          </a:ln>
        </p:spPr>
      </p:sp>
      <p:sp>
        <p:nvSpPr>
          <p:cNvPr id="17" name="Text 15"/>
          <p:cNvSpPr/>
          <p:nvPr/>
        </p:nvSpPr>
        <p:spPr>
          <a:xfrm>
            <a:off x="3163824" y="795528"/>
            <a:ext cx="2834640" cy="438912"/>
          </a:xfrm>
          <a:prstGeom prst="rect">
            <a:avLst/>
          </a:prstGeom>
          <a:noFill/>
          <a:ln/>
        </p:spPr>
        <p:txBody>
          <a:bodyPr wrap="square" lIns="0" tIns="0" rIns="0" bIns="0" rtlCol="0" anchor="ctr"/>
          <a:lstStyle/>
          <a:p>
            <a:pPr algn="ctr" indent="0" marL="0">
              <a:buNone/>
            </a:pPr>
            <a:r>
              <a:rPr lang="en-US" sz="1100" b="1" dirty="0">
                <a:solidFill>
                  <a:srgbClr val="FFFFFF"/>
                </a:solidFill>
              </a:rPr>
              <a:t>Phase 2: Scale to Full-Time</a:t>
            </a:r>
            <a:endParaRPr lang="en-US" sz="1100" dirty="0"/>
          </a:p>
        </p:txBody>
      </p:sp>
      <p:sp>
        <p:nvSpPr>
          <p:cNvPr id="18" name="Shape 16"/>
          <p:cNvSpPr/>
          <p:nvPr/>
        </p:nvSpPr>
        <p:spPr>
          <a:xfrm>
            <a:off x="3163824" y="1252728"/>
            <a:ext cx="2834640" cy="274320"/>
          </a:xfrm>
          <a:prstGeom prst="rect">
            <a:avLst/>
          </a:prstGeom>
          <a:solidFill>
            <a:srgbClr val="E2E8F0"/>
          </a:solidFill>
          <a:ln w="12700">
            <a:solidFill>
              <a:srgbClr val="E2E8F0"/>
            </a:solidFill>
            <a:prstDash val="solid"/>
          </a:ln>
        </p:spPr>
      </p:sp>
      <p:sp>
        <p:nvSpPr>
          <p:cNvPr id="19" name="Text 17"/>
          <p:cNvSpPr/>
          <p:nvPr/>
        </p:nvSpPr>
        <p:spPr>
          <a:xfrm>
            <a:off x="3163824" y="1252728"/>
            <a:ext cx="2834640" cy="274320"/>
          </a:xfrm>
          <a:prstGeom prst="rect">
            <a:avLst/>
          </a:prstGeom>
          <a:noFill/>
          <a:ln/>
        </p:spPr>
        <p:txBody>
          <a:bodyPr wrap="square" lIns="0" tIns="0" rIns="0" bIns="0" rtlCol="0" anchor="ctr"/>
          <a:lstStyle/>
          <a:p>
            <a:pPr algn="ctr" indent="0" marL="0">
              <a:buNone/>
            </a:pPr>
            <a:r>
              <a:rPr lang="en-US" sz="900" b="1" dirty="0">
                <a:solidFill>
                  <a:srgbClr val="334155"/>
                </a:solidFill>
              </a:rPr>
              <a:t>Months 4–8 · Transition</a:t>
            </a:r>
            <a:endParaRPr lang="en-US" sz="900" dirty="0"/>
          </a:p>
        </p:txBody>
      </p:sp>
      <p:sp>
        <p:nvSpPr>
          <p:cNvPr id="20" name="Shape 18"/>
          <p:cNvSpPr/>
          <p:nvPr/>
        </p:nvSpPr>
        <p:spPr>
          <a:xfrm>
            <a:off x="3163824" y="1527048"/>
            <a:ext cx="2834640" cy="3474720"/>
          </a:xfrm>
          <a:prstGeom prst="rect">
            <a:avLst/>
          </a:prstGeom>
          <a:solidFill>
            <a:srgbClr val="FFFFFF"/>
          </a:solidFill>
          <a:ln w="10160">
            <a:solidFill>
              <a:srgbClr val="E2E8F0"/>
            </a:solidFill>
            <a:prstDash val="solid"/>
          </a:ln>
        </p:spPr>
      </p:sp>
      <p:sp>
        <p:nvSpPr>
          <p:cNvPr id="21" name="Text 19"/>
          <p:cNvSpPr/>
          <p:nvPr/>
        </p:nvSpPr>
        <p:spPr>
          <a:xfrm>
            <a:off x="3255264" y="1581912"/>
            <a:ext cx="2651760" cy="457200"/>
          </a:xfrm>
          <a:prstGeom prst="rect">
            <a:avLst/>
          </a:prstGeom>
          <a:noFill/>
          <a:ln/>
        </p:spPr>
        <p:txBody>
          <a:bodyPr wrap="square" lIns="0" tIns="0" rIns="0" bIns="0" rtlCol="0" anchor="t"/>
          <a:lstStyle/>
          <a:p>
            <a:pPr indent="0" marL="0">
              <a:buNone/>
            </a:pPr>
            <a:r>
              <a:rPr lang="en-US" sz="950" dirty="0">
                <a:solidFill>
                  <a:srgbClr val="334155"/>
                </a:solidFill>
              </a:rPr>
              <a:t>›  Pitch HOA boards in Sun City Lincoln Hills + Placer One</a:t>
            </a:r>
            <a:endParaRPr lang="en-US" sz="950" dirty="0"/>
          </a:p>
        </p:txBody>
      </p:sp>
      <p:sp>
        <p:nvSpPr>
          <p:cNvPr id="22" name="Text 20"/>
          <p:cNvSpPr/>
          <p:nvPr/>
        </p:nvSpPr>
        <p:spPr>
          <a:xfrm>
            <a:off x="3255264" y="2057400"/>
            <a:ext cx="2651760" cy="457200"/>
          </a:xfrm>
          <a:prstGeom prst="rect">
            <a:avLst/>
          </a:prstGeom>
          <a:noFill/>
          <a:ln/>
        </p:spPr>
        <p:txBody>
          <a:bodyPr wrap="square" lIns="0" tIns="0" rIns="0" bIns="0" rtlCol="0" anchor="t"/>
          <a:lstStyle/>
          <a:p>
            <a:pPr indent="0" marL="0">
              <a:buNone/>
            </a:pPr>
            <a:r>
              <a:rPr lang="en-US" sz="950" dirty="0">
                <a:solidFill>
                  <a:srgbClr val="334155"/>
                </a:solidFill>
              </a:rPr>
              <a:t>›  Launch annual subscription ($99/visit × 2/yr) to convert one-timers</a:t>
            </a:r>
            <a:endParaRPr lang="en-US" sz="950" dirty="0"/>
          </a:p>
        </p:txBody>
      </p:sp>
      <p:sp>
        <p:nvSpPr>
          <p:cNvPr id="23" name="Text 21"/>
          <p:cNvSpPr/>
          <p:nvPr/>
        </p:nvSpPr>
        <p:spPr>
          <a:xfrm>
            <a:off x="3255264" y="2532888"/>
            <a:ext cx="2651760" cy="457200"/>
          </a:xfrm>
          <a:prstGeom prst="rect">
            <a:avLst/>
          </a:prstGeom>
          <a:noFill/>
          <a:ln/>
        </p:spPr>
        <p:txBody>
          <a:bodyPr wrap="square" lIns="0" tIns="0" rIns="0" bIns="0" rtlCol="0" anchor="t"/>
          <a:lstStyle/>
          <a:p>
            <a:pPr indent="0" marL="0">
              <a:buNone/>
            </a:pPr>
            <a:r>
              <a:rPr lang="en-US" sz="950" dirty="0">
                <a:solidFill>
                  <a:srgbClr val="334155"/>
                </a:solidFill>
              </a:rPr>
              <a:t>›  Buster runs Google LSA ads ($10/day) + review automation</a:t>
            </a:r>
            <a:endParaRPr lang="en-US" sz="950" dirty="0"/>
          </a:p>
        </p:txBody>
      </p:sp>
      <p:sp>
        <p:nvSpPr>
          <p:cNvPr id="24" name="Text 22"/>
          <p:cNvSpPr/>
          <p:nvPr/>
        </p:nvSpPr>
        <p:spPr>
          <a:xfrm>
            <a:off x="3255264" y="3008376"/>
            <a:ext cx="2651760" cy="457200"/>
          </a:xfrm>
          <a:prstGeom prst="rect">
            <a:avLst/>
          </a:prstGeom>
          <a:noFill/>
          <a:ln/>
        </p:spPr>
        <p:txBody>
          <a:bodyPr wrap="square" lIns="0" tIns="0" rIns="0" bIns="0" rtlCol="0" anchor="t"/>
          <a:lstStyle/>
          <a:p>
            <a:pPr indent="0" marL="0">
              <a:buNone/>
            </a:pPr>
            <a:r>
              <a:rPr lang="en-US" sz="950" dirty="0">
                <a:solidFill>
                  <a:srgbClr val="334155"/>
                </a:solidFill>
              </a:rPr>
              <a:t>›  Build neighborhood density: finish 1 street → pitch adjacent</a:t>
            </a:r>
            <a:endParaRPr lang="en-US" sz="950" dirty="0"/>
          </a:p>
        </p:txBody>
      </p:sp>
      <p:sp>
        <p:nvSpPr>
          <p:cNvPr id="25" name="Text 23"/>
          <p:cNvSpPr/>
          <p:nvPr/>
        </p:nvSpPr>
        <p:spPr>
          <a:xfrm>
            <a:off x="3255264" y="3483864"/>
            <a:ext cx="2651760" cy="457200"/>
          </a:xfrm>
          <a:prstGeom prst="rect">
            <a:avLst/>
          </a:prstGeom>
          <a:noFill/>
          <a:ln/>
        </p:spPr>
        <p:txBody>
          <a:bodyPr wrap="square" lIns="0" tIns="0" rIns="0" bIns="0" rtlCol="0" anchor="t"/>
          <a:lstStyle/>
          <a:p>
            <a:pPr indent="0" marL="0">
              <a:buNone/>
            </a:pPr>
            <a:r>
              <a:rPr lang="en-US" sz="950" dirty="0">
                <a:solidFill>
                  <a:srgbClr val="334155"/>
                </a:solidFill>
              </a:rPr>
              <a:t>›  Roger goes full-time when MRR clears $6K (estimated month 6)</a:t>
            </a:r>
            <a:endParaRPr lang="en-US" sz="950" dirty="0"/>
          </a:p>
        </p:txBody>
      </p:sp>
      <p:sp>
        <p:nvSpPr>
          <p:cNvPr id="26" name="Text 24"/>
          <p:cNvSpPr/>
          <p:nvPr/>
        </p:nvSpPr>
        <p:spPr>
          <a:xfrm>
            <a:off x="3255264" y="3959352"/>
            <a:ext cx="2651760" cy="457200"/>
          </a:xfrm>
          <a:prstGeom prst="rect">
            <a:avLst/>
          </a:prstGeom>
          <a:noFill/>
          <a:ln/>
        </p:spPr>
        <p:txBody>
          <a:bodyPr wrap="square" lIns="0" tIns="0" rIns="0" bIns="0" rtlCol="0" anchor="t"/>
          <a:lstStyle/>
          <a:p>
            <a:pPr indent="0" marL="0">
              <a:buNone/>
            </a:pPr>
            <a:r>
              <a:rPr lang="en-US" sz="950" dirty="0">
                <a:solidFill>
                  <a:srgbClr val="334155"/>
                </a:solidFill>
              </a:rPr>
              <a:t>›  Solar Scout AI monitors Reddit/Nextdoor for buying signals</a:t>
            </a:r>
            <a:endParaRPr lang="en-US" sz="950" dirty="0"/>
          </a:p>
        </p:txBody>
      </p:sp>
      <p:sp>
        <p:nvSpPr>
          <p:cNvPr id="27" name="Text 25"/>
          <p:cNvSpPr/>
          <p:nvPr/>
        </p:nvSpPr>
        <p:spPr>
          <a:xfrm>
            <a:off x="3255264" y="4434840"/>
            <a:ext cx="2651760" cy="457200"/>
          </a:xfrm>
          <a:prstGeom prst="rect">
            <a:avLst/>
          </a:prstGeom>
          <a:noFill/>
          <a:ln/>
        </p:spPr>
        <p:txBody>
          <a:bodyPr wrap="square" lIns="0" tIns="0" rIns="0" bIns="0" rtlCol="0" anchor="t"/>
          <a:lstStyle/>
          <a:p>
            <a:pPr indent="0" marL="0">
              <a:buNone/>
            </a:pPr>
            <a:r>
              <a:rPr lang="en-US" sz="950" dirty="0">
                <a:solidFill>
                  <a:srgbClr val="334155"/>
                </a:solidFill>
              </a:rPr>
              <a:t>›  Target: 25–35 jobs/week → $4,000–5,500/week revenue</a:t>
            </a:r>
            <a:endParaRPr lang="en-US" sz="950" dirty="0"/>
          </a:p>
        </p:txBody>
      </p:sp>
      <p:sp>
        <p:nvSpPr>
          <p:cNvPr id="28" name="Shape 26"/>
          <p:cNvSpPr/>
          <p:nvPr/>
        </p:nvSpPr>
        <p:spPr>
          <a:xfrm>
            <a:off x="6126480" y="777240"/>
            <a:ext cx="2834640" cy="475488"/>
          </a:xfrm>
          <a:prstGeom prst="rect">
            <a:avLst/>
          </a:prstGeom>
          <a:solidFill>
            <a:srgbClr val="0B1F3A"/>
          </a:solidFill>
          <a:ln w="12700">
            <a:solidFill>
              <a:srgbClr val="0B1F3A"/>
            </a:solidFill>
            <a:prstDash val="solid"/>
          </a:ln>
        </p:spPr>
      </p:sp>
      <p:sp>
        <p:nvSpPr>
          <p:cNvPr id="29" name="Text 27"/>
          <p:cNvSpPr/>
          <p:nvPr/>
        </p:nvSpPr>
        <p:spPr>
          <a:xfrm>
            <a:off x="6126480" y="795528"/>
            <a:ext cx="2834640" cy="438912"/>
          </a:xfrm>
          <a:prstGeom prst="rect">
            <a:avLst/>
          </a:prstGeom>
          <a:noFill/>
          <a:ln/>
        </p:spPr>
        <p:txBody>
          <a:bodyPr wrap="square" lIns="0" tIns="0" rIns="0" bIns="0" rtlCol="0" anchor="ctr"/>
          <a:lstStyle/>
          <a:p>
            <a:pPr algn="ctr" indent="0" marL="0">
              <a:buNone/>
            </a:pPr>
            <a:r>
              <a:rPr lang="en-US" sz="1100" b="1" dirty="0">
                <a:solidFill>
                  <a:srgbClr val="FFFFFF"/>
                </a:solidFill>
              </a:rPr>
              <a:t>Phase 3: Team &amp; Systems</a:t>
            </a:r>
            <a:endParaRPr lang="en-US" sz="1100" dirty="0"/>
          </a:p>
        </p:txBody>
      </p:sp>
      <p:sp>
        <p:nvSpPr>
          <p:cNvPr id="30" name="Shape 28"/>
          <p:cNvSpPr/>
          <p:nvPr/>
        </p:nvSpPr>
        <p:spPr>
          <a:xfrm>
            <a:off x="6126480" y="1252728"/>
            <a:ext cx="2834640" cy="274320"/>
          </a:xfrm>
          <a:prstGeom prst="rect">
            <a:avLst/>
          </a:prstGeom>
          <a:solidFill>
            <a:srgbClr val="E2E8F0"/>
          </a:solidFill>
          <a:ln w="12700">
            <a:solidFill>
              <a:srgbClr val="E2E8F0"/>
            </a:solidFill>
            <a:prstDash val="solid"/>
          </a:ln>
        </p:spPr>
      </p:sp>
      <p:sp>
        <p:nvSpPr>
          <p:cNvPr id="31" name="Text 29"/>
          <p:cNvSpPr/>
          <p:nvPr/>
        </p:nvSpPr>
        <p:spPr>
          <a:xfrm>
            <a:off x="6126480" y="1252728"/>
            <a:ext cx="2834640" cy="274320"/>
          </a:xfrm>
          <a:prstGeom prst="rect">
            <a:avLst/>
          </a:prstGeom>
          <a:noFill/>
          <a:ln/>
        </p:spPr>
        <p:txBody>
          <a:bodyPr wrap="square" lIns="0" tIns="0" rIns="0" bIns="0" rtlCol="0" anchor="ctr"/>
          <a:lstStyle/>
          <a:p>
            <a:pPr algn="ctr" indent="0" marL="0">
              <a:buNone/>
            </a:pPr>
            <a:r>
              <a:rPr lang="en-US" sz="900" b="1" dirty="0">
                <a:solidFill>
                  <a:srgbClr val="334155"/>
                </a:solidFill>
              </a:rPr>
              <a:t>Months 9–18 · Hire &amp; Automate</a:t>
            </a:r>
            <a:endParaRPr lang="en-US" sz="900" dirty="0"/>
          </a:p>
        </p:txBody>
      </p:sp>
      <p:sp>
        <p:nvSpPr>
          <p:cNvPr id="32" name="Shape 30"/>
          <p:cNvSpPr/>
          <p:nvPr/>
        </p:nvSpPr>
        <p:spPr>
          <a:xfrm>
            <a:off x="6126480" y="1527048"/>
            <a:ext cx="2834640" cy="3474720"/>
          </a:xfrm>
          <a:prstGeom prst="rect">
            <a:avLst/>
          </a:prstGeom>
          <a:solidFill>
            <a:srgbClr val="FFFFFF"/>
          </a:solidFill>
          <a:ln w="10160">
            <a:solidFill>
              <a:srgbClr val="E2E8F0"/>
            </a:solidFill>
            <a:prstDash val="solid"/>
          </a:ln>
        </p:spPr>
      </p:sp>
      <p:sp>
        <p:nvSpPr>
          <p:cNvPr id="33" name="Text 31"/>
          <p:cNvSpPr/>
          <p:nvPr/>
        </p:nvSpPr>
        <p:spPr>
          <a:xfrm>
            <a:off x="6217920" y="1581912"/>
            <a:ext cx="2651760" cy="457200"/>
          </a:xfrm>
          <a:prstGeom prst="rect">
            <a:avLst/>
          </a:prstGeom>
          <a:noFill/>
          <a:ln/>
        </p:spPr>
        <p:txBody>
          <a:bodyPr wrap="square" lIns="0" tIns="0" rIns="0" bIns="0" rtlCol="0" anchor="t"/>
          <a:lstStyle/>
          <a:p>
            <a:pPr indent="0" marL="0">
              <a:buNone/>
            </a:pPr>
            <a:r>
              <a:rPr lang="en-US" sz="950" dirty="0">
                <a:solidFill>
                  <a:srgbClr val="334155"/>
                </a:solidFill>
              </a:rPr>
              <a:t>›  Hire Employee #1 at $22–25/hr → double capacity</a:t>
            </a:r>
            <a:endParaRPr lang="en-US" sz="950" dirty="0"/>
          </a:p>
        </p:txBody>
      </p:sp>
      <p:sp>
        <p:nvSpPr>
          <p:cNvPr id="34" name="Text 32"/>
          <p:cNvSpPr/>
          <p:nvPr/>
        </p:nvSpPr>
        <p:spPr>
          <a:xfrm>
            <a:off x="6217920" y="2057400"/>
            <a:ext cx="2651760" cy="457200"/>
          </a:xfrm>
          <a:prstGeom prst="rect">
            <a:avLst/>
          </a:prstGeom>
          <a:noFill/>
          <a:ln/>
        </p:spPr>
        <p:txBody>
          <a:bodyPr wrap="square" lIns="0" tIns="0" rIns="0" bIns="0" rtlCol="0" anchor="t"/>
          <a:lstStyle/>
          <a:p>
            <a:pPr indent="0" marL="0">
              <a:buNone/>
            </a:pPr>
            <a:r>
              <a:rPr lang="en-US" sz="950" dirty="0">
                <a:solidFill>
                  <a:srgbClr val="334155"/>
                </a:solidFill>
              </a:rPr>
              <a:t>›  Penelope manages scheduling, dispatch, route optimization</a:t>
            </a:r>
            <a:endParaRPr lang="en-US" sz="950" dirty="0"/>
          </a:p>
        </p:txBody>
      </p:sp>
      <p:sp>
        <p:nvSpPr>
          <p:cNvPr id="35" name="Text 33"/>
          <p:cNvSpPr/>
          <p:nvPr/>
        </p:nvSpPr>
        <p:spPr>
          <a:xfrm>
            <a:off x="6217920" y="2532888"/>
            <a:ext cx="2651760" cy="457200"/>
          </a:xfrm>
          <a:prstGeom prst="rect">
            <a:avLst/>
          </a:prstGeom>
          <a:noFill/>
          <a:ln/>
        </p:spPr>
        <p:txBody>
          <a:bodyPr wrap="square" lIns="0" tIns="0" rIns="0" bIns="0" rtlCol="0" anchor="t"/>
          <a:lstStyle/>
          <a:p>
            <a:pPr indent="0" marL="0">
              <a:buNone/>
            </a:pPr>
            <a:r>
              <a:rPr lang="en-US" sz="950" dirty="0">
                <a:solidFill>
                  <a:srgbClr val="334155"/>
                </a:solidFill>
              </a:rPr>
              <a:t>›  Acquire retiring competitor's client list ($5–15K seller-financed)</a:t>
            </a:r>
            <a:endParaRPr lang="en-US" sz="950" dirty="0"/>
          </a:p>
        </p:txBody>
      </p:sp>
      <p:sp>
        <p:nvSpPr>
          <p:cNvPr id="36" name="Text 34"/>
          <p:cNvSpPr/>
          <p:nvPr/>
        </p:nvSpPr>
        <p:spPr>
          <a:xfrm>
            <a:off x="6217920" y="3008376"/>
            <a:ext cx="2651760" cy="457200"/>
          </a:xfrm>
          <a:prstGeom prst="rect">
            <a:avLst/>
          </a:prstGeom>
          <a:noFill/>
          <a:ln/>
        </p:spPr>
        <p:txBody>
          <a:bodyPr wrap="square" lIns="0" tIns="0" rIns="0" bIns="0" rtlCol="0" anchor="t"/>
          <a:lstStyle/>
          <a:p>
            <a:pPr indent="0" marL="0">
              <a:buNone/>
            </a:pPr>
            <a:r>
              <a:rPr lang="en-US" sz="950" dirty="0">
                <a:solidFill>
                  <a:srgbClr val="334155"/>
                </a:solidFill>
              </a:rPr>
              <a:t>›  Add window cleaning + gutter flush upsell (zero extra CAC)</a:t>
            </a:r>
            <a:endParaRPr lang="en-US" sz="950" dirty="0"/>
          </a:p>
        </p:txBody>
      </p:sp>
      <p:sp>
        <p:nvSpPr>
          <p:cNvPr id="37" name="Text 35"/>
          <p:cNvSpPr/>
          <p:nvPr/>
        </p:nvSpPr>
        <p:spPr>
          <a:xfrm>
            <a:off x="6217920" y="3483864"/>
            <a:ext cx="2651760" cy="457200"/>
          </a:xfrm>
          <a:prstGeom prst="rect">
            <a:avLst/>
          </a:prstGeom>
          <a:noFill/>
          <a:ln/>
        </p:spPr>
        <p:txBody>
          <a:bodyPr wrap="square" lIns="0" tIns="0" rIns="0" bIns="0" rtlCol="0" anchor="t"/>
          <a:lstStyle/>
          <a:p>
            <a:pPr indent="0" marL="0">
              <a:buNone/>
            </a:pPr>
            <a:r>
              <a:rPr lang="en-US" sz="950" dirty="0">
                <a:solidFill>
                  <a:srgbClr val="334155"/>
                </a:solidFill>
              </a:rPr>
              <a:t>›  Lock 5+ HOA contracts = 400+ homes under management</a:t>
            </a:r>
            <a:endParaRPr lang="en-US" sz="950" dirty="0"/>
          </a:p>
        </p:txBody>
      </p:sp>
      <p:sp>
        <p:nvSpPr>
          <p:cNvPr id="38" name="Text 36"/>
          <p:cNvSpPr/>
          <p:nvPr/>
        </p:nvSpPr>
        <p:spPr>
          <a:xfrm>
            <a:off x="6217920" y="3959352"/>
            <a:ext cx="2651760" cy="457200"/>
          </a:xfrm>
          <a:prstGeom prst="rect">
            <a:avLst/>
          </a:prstGeom>
          <a:noFill/>
          <a:ln/>
        </p:spPr>
        <p:txBody>
          <a:bodyPr wrap="square" lIns="0" tIns="0" rIns="0" bIns="0" rtlCol="0" anchor="t"/>
          <a:lstStyle/>
          <a:p>
            <a:pPr indent="0" marL="0">
              <a:buNone/>
            </a:pPr>
            <a:r>
              <a:rPr lang="en-US" sz="950" dirty="0">
                <a:solidFill>
                  <a:srgbClr val="334155"/>
                </a:solidFill>
              </a:rPr>
              <a:t>›  Employee #2 at month 18 for commercial accounts</a:t>
            </a:r>
            <a:endParaRPr lang="en-US" sz="950" dirty="0"/>
          </a:p>
        </p:txBody>
      </p:sp>
      <p:sp>
        <p:nvSpPr>
          <p:cNvPr id="39" name="Text 37"/>
          <p:cNvSpPr/>
          <p:nvPr/>
        </p:nvSpPr>
        <p:spPr>
          <a:xfrm>
            <a:off x="6217920" y="4434840"/>
            <a:ext cx="2651760" cy="457200"/>
          </a:xfrm>
          <a:prstGeom prst="rect">
            <a:avLst/>
          </a:prstGeom>
          <a:noFill/>
          <a:ln/>
        </p:spPr>
        <p:txBody>
          <a:bodyPr wrap="square" lIns="0" tIns="0" rIns="0" bIns="0" rtlCol="0" anchor="t"/>
          <a:lstStyle/>
          <a:p>
            <a:pPr indent="0" marL="0">
              <a:buNone/>
            </a:pPr>
            <a:r>
              <a:rPr lang="en-US" sz="950" dirty="0">
                <a:solidFill>
                  <a:srgbClr val="334155"/>
                </a:solidFill>
              </a:rPr>
              <a:t>›  Target: $22,000–$28,000/month → $285K Year 3 run rate</a:t>
            </a:r>
            <a:endParaRPr lang="en-US" sz="9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4B942"/>
          </a:solidFill>
          <a:ln w="12700">
            <a:solidFill>
              <a:srgbClr val="F4B942"/>
            </a:solidFill>
            <a:prstDash val="solid"/>
          </a:ln>
        </p:spPr>
      </p:sp>
      <p:sp>
        <p:nvSpPr>
          <p:cNvPr id="3" name="Text 1"/>
          <p:cNvSpPr/>
          <p:nvPr/>
        </p:nvSpPr>
        <p:spPr>
          <a:xfrm>
            <a:off x="457200" y="0"/>
            <a:ext cx="8412480" cy="658368"/>
          </a:xfrm>
          <a:prstGeom prst="rect">
            <a:avLst/>
          </a:prstGeom>
          <a:noFill/>
          <a:ln/>
        </p:spPr>
        <p:txBody>
          <a:bodyPr wrap="square" lIns="0" tIns="0" rIns="0" bIns="0" rtlCol="0" anchor="ctr"/>
          <a:lstStyle/>
          <a:p>
            <a:pPr indent="0" marL="0">
              <a:buNone/>
            </a:pPr>
            <a:r>
              <a:rPr lang="en-US" sz="1300" b="1" spc="300" kern="0" dirty="0">
                <a:solidFill>
                  <a:srgbClr val="0B1F3A"/>
                </a:solidFill>
              </a:rPr>
              <a:t>AI AUTOMATION STACK — CAC: $225 → $14.50</a:t>
            </a:r>
            <a:endParaRPr lang="en-US" sz="1300" dirty="0"/>
          </a:p>
        </p:txBody>
      </p:sp>
      <p:sp>
        <p:nvSpPr>
          <p:cNvPr id="4" name="Shape 2"/>
          <p:cNvSpPr/>
          <p:nvPr/>
        </p:nvSpPr>
        <p:spPr>
          <a:xfrm>
            <a:off x="274320" y="804672"/>
            <a:ext cx="4160520" cy="1298448"/>
          </a:xfrm>
          <a:prstGeom prst="rect">
            <a:avLst/>
          </a:prstGeom>
          <a:solidFill>
            <a:srgbClr val="0D2137"/>
          </a:solidFill>
          <a:ln w="10160">
            <a:solidFill>
              <a:srgbClr val="028090"/>
            </a:solidFill>
            <a:prstDash val="solid"/>
          </a:ln>
        </p:spPr>
      </p:sp>
      <p:sp>
        <p:nvSpPr>
          <p:cNvPr id="5" name="Shape 3"/>
          <p:cNvSpPr/>
          <p:nvPr/>
        </p:nvSpPr>
        <p:spPr>
          <a:xfrm>
            <a:off x="274320" y="804672"/>
            <a:ext cx="91440" cy="1298448"/>
          </a:xfrm>
          <a:prstGeom prst="rect">
            <a:avLst/>
          </a:prstGeom>
          <a:solidFill>
            <a:srgbClr val="F4B942"/>
          </a:solidFill>
          <a:ln w="12700">
            <a:solidFill>
              <a:srgbClr val="F4B942"/>
            </a:solidFill>
            <a:prstDash val="solid"/>
          </a:ln>
        </p:spPr>
      </p:sp>
      <p:sp>
        <p:nvSpPr>
          <p:cNvPr id="6" name="Text 4"/>
          <p:cNvSpPr/>
          <p:nvPr/>
        </p:nvSpPr>
        <p:spPr>
          <a:xfrm>
            <a:off x="457200" y="896112"/>
            <a:ext cx="2651760" cy="274320"/>
          </a:xfrm>
          <a:prstGeom prst="rect">
            <a:avLst/>
          </a:prstGeom>
          <a:noFill/>
          <a:ln/>
        </p:spPr>
        <p:txBody>
          <a:bodyPr wrap="square" lIns="0" tIns="0" rIns="0" bIns="0" rtlCol="0" anchor="ctr"/>
          <a:lstStyle/>
          <a:p>
            <a:pPr indent="0" marL="0">
              <a:buNone/>
            </a:pPr>
            <a:r>
              <a:rPr lang="en-US" sz="1100" b="1" dirty="0">
                <a:solidFill>
                  <a:srgbClr val="F4B942"/>
                </a:solidFill>
              </a:rPr>
              <a:t>Buster (Beezeybot)</a:t>
            </a:r>
            <a:endParaRPr lang="en-US" sz="1100" dirty="0"/>
          </a:p>
        </p:txBody>
      </p:sp>
      <p:sp>
        <p:nvSpPr>
          <p:cNvPr id="7" name="Text 5"/>
          <p:cNvSpPr/>
          <p:nvPr/>
        </p:nvSpPr>
        <p:spPr>
          <a:xfrm>
            <a:off x="3200400" y="896112"/>
            <a:ext cx="1143000" cy="256032"/>
          </a:xfrm>
          <a:prstGeom prst="rect">
            <a:avLst/>
          </a:prstGeom>
          <a:noFill/>
          <a:ln/>
        </p:spPr>
        <p:txBody>
          <a:bodyPr wrap="square" lIns="0" tIns="0" rIns="0" bIns="0" rtlCol="0" anchor="ctr"/>
          <a:lstStyle/>
          <a:p>
            <a:pPr algn="r" indent="0" marL="0">
              <a:buNone/>
            </a:pPr>
            <a:r>
              <a:rPr lang="en-US" sz="900" dirty="0">
                <a:solidFill>
                  <a:srgbClr val="02C39A"/>
                </a:solidFill>
              </a:rPr>
              <a:t>CEO Agent</a:t>
            </a:r>
            <a:endParaRPr lang="en-US" sz="900" dirty="0"/>
          </a:p>
        </p:txBody>
      </p:sp>
      <p:sp>
        <p:nvSpPr>
          <p:cNvPr id="8" name="Text 6"/>
          <p:cNvSpPr/>
          <p:nvPr/>
        </p:nvSpPr>
        <p:spPr>
          <a:xfrm>
            <a:off x="457200" y="1216152"/>
            <a:ext cx="3886200" cy="777240"/>
          </a:xfrm>
          <a:prstGeom prst="rect">
            <a:avLst/>
          </a:prstGeom>
          <a:noFill/>
          <a:ln/>
        </p:spPr>
        <p:txBody>
          <a:bodyPr wrap="square" lIns="0" tIns="0" rIns="0" bIns="0" rtlCol="0" anchor="t"/>
          <a:lstStyle/>
          <a:p>
            <a:pPr indent="0" marL="0">
              <a:buNone/>
            </a:pPr>
            <a:r>
              <a:rPr lang="en-US" sz="1000" dirty="0">
                <a:solidFill>
                  <a:srgbClr val="E2E8F0"/>
                </a:solidFill>
              </a:rPr>
              <a:t>Daily Nextdoor + Facebook posts. Monitors solar-related conversations and responds helpfully with booking link. Runs Google LSA campaign. No competitor has this — Buster is on 24/7 while Roger sleeps.</a:t>
            </a:r>
            <a:endParaRPr lang="en-US" sz="1000" dirty="0"/>
          </a:p>
        </p:txBody>
      </p:sp>
      <p:sp>
        <p:nvSpPr>
          <p:cNvPr id="9" name="Shape 7"/>
          <p:cNvSpPr/>
          <p:nvPr/>
        </p:nvSpPr>
        <p:spPr>
          <a:xfrm>
            <a:off x="4754880" y="804672"/>
            <a:ext cx="4160520" cy="1298448"/>
          </a:xfrm>
          <a:prstGeom prst="rect">
            <a:avLst/>
          </a:prstGeom>
          <a:solidFill>
            <a:srgbClr val="0D2137"/>
          </a:solidFill>
          <a:ln w="10160">
            <a:solidFill>
              <a:srgbClr val="028090"/>
            </a:solidFill>
            <a:prstDash val="solid"/>
          </a:ln>
        </p:spPr>
      </p:sp>
      <p:sp>
        <p:nvSpPr>
          <p:cNvPr id="10" name="Shape 8"/>
          <p:cNvSpPr/>
          <p:nvPr/>
        </p:nvSpPr>
        <p:spPr>
          <a:xfrm>
            <a:off x="4754880" y="804672"/>
            <a:ext cx="91440" cy="1298448"/>
          </a:xfrm>
          <a:prstGeom prst="rect">
            <a:avLst/>
          </a:prstGeom>
          <a:solidFill>
            <a:srgbClr val="F4B942"/>
          </a:solidFill>
          <a:ln w="12700">
            <a:solidFill>
              <a:srgbClr val="F4B942"/>
            </a:solidFill>
            <a:prstDash val="solid"/>
          </a:ln>
        </p:spPr>
      </p:sp>
      <p:sp>
        <p:nvSpPr>
          <p:cNvPr id="11" name="Text 9"/>
          <p:cNvSpPr/>
          <p:nvPr/>
        </p:nvSpPr>
        <p:spPr>
          <a:xfrm>
            <a:off x="4937760" y="896112"/>
            <a:ext cx="2651760" cy="274320"/>
          </a:xfrm>
          <a:prstGeom prst="rect">
            <a:avLst/>
          </a:prstGeom>
          <a:noFill/>
          <a:ln/>
        </p:spPr>
        <p:txBody>
          <a:bodyPr wrap="square" lIns="0" tIns="0" rIns="0" bIns="0" rtlCol="0" anchor="ctr"/>
          <a:lstStyle/>
          <a:p>
            <a:pPr indent="0" marL="0">
              <a:buNone/>
            </a:pPr>
            <a:r>
              <a:rPr lang="en-US" sz="1100" b="1" dirty="0">
                <a:solidFill>
                  <a:srgbClr val="F4B942"/>
                </a:solidFill>
              </a:rPr>
              <a:t>Penelope (P1 Engine)</a:t>
            </a:r>
            <a:endParaRPr lang="en-US" sz="1100" dirty="0"/>
          </a:p>
        </p:txBody>
      </p:sp>
      <p:sp>
        <p:nvSpPr>
          <p:cNvPr id="12" name="Text 10"/>
          <p:cNvSpPr/>
          <p:nvPr/>
        </p:nvSpPr>
        <p:spPr>
          <a:xfrm>
            <a:off x="7680960" y="896112"/>
            <a:ext cx="1143000" cy="256032"/>
          </a:xfrm>
          <a:prstGeom prst="rect">
            <a:avLst/>
          </a:prstGeom>
          <a:noFill/>
          <a:ln/>
        </p:spPr>
        <p:txBody>
          <a:bodyPr wrap="square" lIns="0" tIns="0" rIns="0" bIns="0" rtlCol="0" anchor="ctr"/>
          <a:lstStyle/>
          <a:p>
            <a:pPr algn="r" indent="0" marL="0">
              <a:buNone/>
            </a:pPr>
            <a:r>
              <a:rPr lang="en-US" sz="900" dirty="0">
                <a:solidFill>
                  <a:srgbClr val="02C39A"/>
                </a:solidFill>
              </a:rPr>
              <a:t>Ops Manager</a:t>
            </a:r>
            <a:endParaRPr lang="en-US" sz="900" dirty="0"/>
          </a:p>
        </p:txBody>
      </p:sp>
      <p:sp>
        <p:nvSpPr>
          <p:cNvPr id="13" name="Text 11"/>
          <p:cNvSpPr/>
          <p:nvPr/>
        </p:nvSpPr>
        <p:spPr>
          <a:xfrm>
            <a:off x="4937760" y="1216152"/>
            <a:ext cx="3886200" cy="777240"/>
          </a:xfrm>
          <a:prstGeom prst="rect">
            <a:avLst/>
          </a:prstGeom>
          <a:noFill/>
          <a:ln/>
        </p:spPr>
        <p:txBody>
          <a:bodyPr wrap="square" lIns="0" tIns="0" rIns="0" bIns="0" rtlCol="0" anchor="t"/>
          <a:lstStyle/>
          <a:p>
            <a:pPr indent="0" marL="0">
              <a:buNone/>
            </a:pPr>
            <a:r>
              <a:rPr lang="en-US" sz="1000" dirty="0">
                <a:solidFill>
                  <a:srgbClr val="E2E8F0"/>
                </a:solidFill>
              </a:rPr>
              <a:t>Quote requests, scheduling, SMS appointment reminders, route density optimization by neighborhood. Batches jobs geographically to maximize daily job count and minimize drive time.</a:t>
            </a:r>
            <a:endParaRPr lang="en-US" sz="1000" dirty="0"/>
          </a:p>
        </p:txBody>
      </p:sp>
      <p:sp>
        <p:nvSpPr>
          <p:cNvPr id="14" name="Shape 12"/>
          <p:cNvSpPr/>
          <p:nvPr/>
        </p:nvSpPr>
        <p:spPr>
          <a:xfrm>
            <a:off x="274320" y="2221992"/>
            <a:ext cx="4160520" cy="1298448"/>
          </a:xfrm>
          <a:prstGeom prst="rect">
            <a:avLst/>
          </a:prstGeom>
          <a:solidFill>
            <a:srgbClr val="0D2137"/>
          </a:solidFill>
          <a:ln w="10160">
            <a:solidFill>
              <a:srgbClr val="028090"/>
            </a:solidFill>
            <a:prstDash val="solid"/>
          </a:ln>
        </p:spPr>
      </p:sp>
      <p:sp>
        <p:nvSpPr>
          <p:cNvPr id="15" name="Shape 13"/>
          <p:cNvSpPr/>
          <p:nvPr/>
        </p:nvSpPr>
        <p:spPr>
          <a:xfrm>
            <a:off x="274320" y="2221992"/>
            <a:ext cx="91440" cy="1298448"/>
          </a:xfrm>
          <a:prstGeom prst="rect">
            <a:avLst/>
          </a:prstGeom>
          <a:solidFill>
            <a:srgbClr val="F4B942"/>
          </a:solidFill>
          <a:ln w="12700">
            <a:solidFill>
              <a:srgbClr val="F4B942"/>
            </a:solidFill>
            <a:prstDash val="solid"/>
          </a:ln>
        </p:spPr>
      </p:sp>
      <p:sp>
        <p:nvSpPr>
          <p:cNvPr id="16" name="Text 14"/>
          <p:cNvSpPr/>
          <p:nvPr/>
        </p:nvSpPr>
        <p:spPr>
          <a:xfrm>
            <a:off x="457200" y="2313432"/>
            <a:ext cx="2651760" cy="274320"/>
          </a:xfrm>
          <a:prstGeom prst="rect">
            <a:avLst/>
          </a:prstGeom>
          <a:noFill/>
          <a:ln/>
        </p:spPr>
        <p:txBody>
          <a:bodyPr wrap="square" lIns="0" tIns="0" rIns="0" bIns="0" rtlCol="0" anchor="ctr"/>
          <a:lstStyle/>
          <a:p>
            <a:pPr indent="0" marL="0">
              <a:buNone/>
            </a:pPr>
            <a:r>
              <a:rPr lang="en-US" sz="1100" b="1" dirty="0">
                <a:solidFill>
                  <a:srgbClr val="F4B942"/>
                </a:solidFill>
              </a:rPr>
              <a:t>AI Chatbot (Website)</a:t>
            </a:r>
            <a:endParaRPr lang="en-US" sz="1100" dirty="0"/>
          </a:p>
        </p:txBody>
      </p:sp>
      <p:sp>
        <p:nvSpPr>
          <p:cNvPr id="17" name="Text 15"/>
          <p:cNvSpPr/>
          <p:nvPr/>
        </p:nvSpPr>
        <p:spPr>
          <a:xfrm>
            <a:off x="3200400" y="2313432"/>
            <a:ext cx="1143000" cy="256032"/>
          </a:xfrm>
          <a:prstGeom prst="rect">
            <a:avLst/>
          </a:prstGeom>
          <a:noFill/>
          <a:ln/>
        </p:spPr>
        <p:txBody>
          <a:bodyPr wrap="square" lIns="0" tIns="0" rIns="0" bIns="0" rtlCol="0" anchor="ctr"/>
          <a:lstStyle/>
          <a:p>
            <a:pPr algn="r" indent="0" marL="0">
              <a:buNone/>
            </a:pPr>
            <a:r>
              <a:rPr lang="en-US" sz="900" dirty="0">
                <a:solidFill>
                  <a:srgbClr val="02C39A"/>
                </a:solidFill>
              </a:rPr>
              <a:t>24/7 Closer</a:t>
            </a:r>
            <a:endParaRPr lang="en-US" sz="900" dirty="0"/>
          </a:p>
        </p:txBody>
      </p:sp>
      <p:sp>
        <p:nvSpPr>
          <p:cNvPr id="18" name="Text 16"/>
          <p:cNvSpPr/>
          <p:nvPr/>
        </p:nvSpPr>
        <p:spPr>
          <a:xfrm>
            <a:off x="457200" y="2633472"/>
            <a:ext cx="3886200" cy="777240"/>
          </a:xfrm>
          <a:prstGeom prst="rect">
            <a:avLst/>
          </a:prstGeom>
          <a:noFill/>
          <a:ln/>
        </p:spPr>
        <p:txBody>
          <a:bodyPr wrap="square" lIns="0" tIns="0" rIns="0" bIns="0" rtlCol="0" anchor="t"/>
          <a:lstStyle/>
          <a:p>
            <a:pPr indent="0" marL="0">
              <a:buNone/>
            </a:pPr>
            <a:r>
              <a:rPr lang="en-US" sz="1000" dirty="0">
                <a:solidFill>
                  <a:srgbClr val="E2E8F0"/>
                </a:solidFill>
              </a:rPr>
              <a:t>Instant quote calculator: enter panel count → get price → book appointment. Response in &lt;60 seconds. All 8 competitors force a phone call or form fill. Roger converts while they sleep.</a:t>
            </a:r>
            <a:endParaRPr lang="en-US" sz="1000" dirty="0"/>
          </a:p>
        </p:txBody>
      </p:sp>
      <p:sp>
        <p:nvSpPr>
          <p:cNvPr id="19" name="Shape 17"/>
          <p:cNvSpPr/>
          <p:nvPr/>
        </p:nvSpPr>
        <p:spPr>
          <a:xfrm>
            <a:off x="4754880" y="2221992"/>
            <a:ext cx="4160520" cy="1298448"/>
          </a:xfrm>
          <a:prstGeom prst="rect">
            <a:avLst/>
          </a:prstGeom>
          <a:solidFill>
            <a:srgbClr val="0D2137"/>
          </a:solidFill>
          <a:ln w="10160">
            <a:solidFill>
              <a:srgbClr val="028090"/>
            </a:solidFill>
            <a:prstDash val="solid"/>
          </a:ln>
        </p:spPr>
      </p:sp>
      <p:sp>
        <p:nvSpPr>
          <p:cNvPr id="20" name="Shape 18"/>
          <p:cNvSpPr/>
          <p:nvPr/>
        </p:nvSpPr>
        <p:spPr>
          <a:xfrm>
            <a:off x="4754880" y="2221992"/>
            <a:ext cx="91440" cy="1298448"/>
          </a:xfrm>
          <a:prstGeom prst="rect">
            <a:avLst/>
          </a:prstGeom>
          <a:solidFill>
            <a:srgbClr val="F4B942"/>
          </a:solidFill>
          <a:ln w="12700">
            <a:solidFill>
              <a:srgbClr val="F4B942"/>
            </a:solidFill>
            <a:prstDash val="solid"/>
          </a:ln>
        </p:spPr>
      </p:sp>
      <p:sp>
        <p:nvSpPr>
          <p:cNvPr id="21" name="Text 19"/>
          <p:cNvSpPr/>
          <p:nvPr/>
        </p:nvSpPr>
        <p:spPr>
          <a:xfrm>
            <a:off x="4937760" y="2313432"/>
            <a:ext cx="2651760" cy="274320"/>
          </a:xfrm>
          <a:prstGeom prst="rect">
            <a:avLst/>
          </a:prstGeom>
          <a:noFill/>
          <a:ln/>
        </p:spPr>
        <p:txBody>
          <a:bodyPr wrap="square" lIns="0" tIns="0" rIns="0" bIns="0" rtlCol="0" anchor="ctr"/>
          <a:lstStyle/>
          <a:p>
            <a:pPr indent="0" marL="0">
              <a:buNone/>
            </a:pPr>
            <a:r>
              <a:rPr lang="en-US" sz="1100" b="1" dirty="0">
                <a:solidFill>
                  <a:srgbClr val="F4B942"/>
                </a:solidFill>
              </a:rPr>
              <a:t>Solar Scout AI</a:t>
            </a:r>
            <a:endParaRPr lang="en-US" sz="1100" dirty="0"/>
          </a:p>
        </p:txBody>
      </p:sp>
      <p:sp>
        <p:nvSpPr>
          <p:cNvPr id="22" name="Text 20"/>
          <p:cNvSpPr/>
          <p:nvPr/>
        </p:nvSpPr>
        <p:spPr>
          <a:xfrm>
            <a:off x="7680960" y="2313432"/>
            <a:ext cx="1143000" cy="256032"/>
          </a:xfrm>
          <a:prstGeom prst="rect">
            <a:avLst/>
          </a:prstGeom>
          <a:noFill/>
          <a:ln/>
        </p:spPr>
        <p:txBody>
          <a:bodyPr wrap="square" lIns="0" tIns="0" rIns="0" bIns="0" rtlCol="0" anchor="ctr"/>
          <a:lstStyle/>
          <a:p>
            <a:pPr algn="r" indent="0" marL="0">
              <a:buNone/>
            </a:pPr>
            <a:r>
              <a:rPr lang="en-US" sz="900" dirty="0">
                <a:solidFill>
                  <a:srgbClr val="02C39A"/>
                </a:solidFill>
              </a:rPr>
              <a:t>Intent Miner</a:t>
            </a:r>
            <a:endParaRPr lang="en-US" sz="900" dirty="0"/>
          </a:p>
        </p:txBody>
      </p:sp>
      <p:sp>
        <p:nvSpPr>
          <p:cNvPr id="23" name="Text 21"/>
          <p:cNvSpPr/>
          <p:nvPr/>
        </p:nvSpPr>
        <p:spPr>
          <a:xfrm>
            <a:off x="4937760" y="2633472"/>
            <a:ext cx="3886200" cy="777240"/>
          </a:xfrm>
          <a:prstGeom prst="rect">
            <a:avLst/>
          </a:prstGeom>
          <a:noFill/>
          <a:ln/>
        </p:spPr>
        <p:txBody>
          <a:bodyPr wrap="square" lIns="0" tIns="0" rIns="0" bIns="0" rtlCol="0" anchor="t"/>
          <a:lstStyle/>
          <a:p>
            <a:pPr indent="0" marL="0">
              <a:buNone/>
            </a:pPr>
            <a:r>
              <a:rPr lang="en-US" sz="1000" dirty="0">
                <a:solidFill>
                  <a:srgbClr val="E2E8F0"/>
                </a:solidFill>
              </a:rPr>
              <a:t>Scans Reddit, Facebook, Nextdoor for homeowners mentioning dirty panels, high energy bills, or solar maintenance. Delivers intent-qualified leads before competitors see them. ~$12/lead.</a:t>
            </a:r>
            <a:endParaRPr lang="en-US" sz="1000" dirty="0"/>
          </a:p>
        </p:txBody>
      </p:sp>
      <p:sp>
        <p:nvSpPr>
          <p:cNvPr id="24" name="Shape 22"/>
          <p:cNvSpPr/>
          <p:nvPr/>
        </p:nvSpPr>
        <p:spPr>
          <a:xfrm>
            <a:off x="274320" y="3639312"/>
            <a:ext cx="4160520" cy="1298448"/>
          </a:xfrm>
          <a:prstGeom prst="rect">
            <a:avLst/>
          </a:prstGeom>
          <a:solidFill>
            <a:srgbClr val="0D2137"/>
          </a:solidFill>
          <a:ln w="10160">
            <a:solidFill>
              <a:srgbClr val="028090"/>
            </a:solidFill>
            <a:prstDash val="solid"/>
          </a:ln>
        </p:spPr>
      </p:sp>
      <p:sp>
        <p:nvSpPr>
          <p:cNvPr id="25" name="Shape 23"/>
          <p:cNvSpPr/>
          <p:nvPr/>
        </p:nvSpPr>
        <p:spPr>
          <a:xfrm>
            <a:off x="274320" y="3639312"/>
            <a:ext cx="91440" cy="1298448"/>
          </a:xfrm>
          <a:prstGeom prst="rect">
            <a:avLst/>
          </a:prstGeom>
          <a:solidFill>
            <a:srgbClr val="F4B942"/>
          </a:solidFill>
          <a:ln w="12700">
            <a:solidFill>
              <a:srgbClr val="F4B942"/>
            </a:solidFill>
            <a:prstDash val="solid"/>
          </a:ln>
        </p:spPr>
      </p:sp>
      <p:sp>
        <p:nvSpPr>
          <p:cNvPr id="26" name="Text 24"/>
          <p:cNvSpPr/>
          <p:nvPr/>
        </p:nvSpPr>
        <p:spPr>
          <a:xfrm>
            <a:off x="457200" y="3730752"/>
            <a:ext cx="2651760" cy="274320"/>
          </a:xfrm>
          <a:prstGeom prst="rect">
            <a:avLst/>
          </a:prstGeom>
          <a:noFill/>
          <a:ln/>
        </p:spPr>
        <p:txBody>
          <a:bodyPr wrap="square" lIns="0" tIns="0" rIns="0" bIns="0" rtlCol="0" anchor="ctr"/>
          <a:lstStyle/>
          <a:p>
            <a:pPr indent="0" marL="0">
              <a:buNone/>
            </a:pPr>
            <a:r>
              <a:rPr lang="en-US" sz="1100" b="1" dirty="0">
                <a:solidFill>
                  <a:srgbClr val="F4B942"/>
                </a:solidFill>
              </a:rPr>
              <a:t>Google LSA + Reviews</a:t>
            </a:r>
            <a:endParaRPr lang="en-US" sz="1100" dirty="0"/>
          </a:p>
        </p:txBody>
      </p:sp>
      <p:sp>
        <p:nvSpPr>
          <p:cNvPr id="27" name="Text 25"/>
          <p:cNvSpPr/>
          <p:nvPr/>
        </p:nvSpPr>
        <p:spPr>
          <a:xfrm>
            <a:off x="3200400" y="3730752"/>
            <a:ext cx="1143000" cy="256032"/>
          </a:xfrm>
          <a:prstGeom prst="rect">
            <a:avLst/>
          </a:prstGeom>
          <a:noFill/>
          <a:ln/>
        </p:spPr>
        <p:txBody>
          <a:bodyPr wrap="square" lIns="0" tIns="0" rIns="0" bIns="0" rtlCol="0" anchor="ctr"/>
          <a:lstStyle/>
          <a:p>
            <a:pPr algn="r" indent="0" marL="0">
              <a:buNone/>
            </a:pPr>
            <a:r>
              <a:rPr lang="en-US" sz="900" dirty="0">
                <a:solidFill>
                  <a:srgbClr val="02C39A"/>
                </a:solidFill>
              </a:rPr>
              <a:t>Search Owner</a:t>
            </a:r>
            <a:endParaRPr lang="en-US" sz="900" dirty="0"/>
          </a:p>
        </p:txBody>
      </p:sp>
      <p:sp>
        <p:nvSpPr>
          <p:cNvPr id="28" name="Text 26"/>
          <p:cNvSpPr/>
          <p:nvPr/>
        </p:nvSpPr>
        <p:spPr>
          <a:xfrm>
            <a:off x="457200" y="4050792"/>
            <a:ext cx="3886200" cy="777240"/>
          </a:xfrm>
          <a:prstGeom prst="rect">
            <a:avLst/>
          </a:prstGeom>
          <a:noFill/>
          <a:ln/>
        </p:spPr>
        <p:txBody>
          <a:bodyPr wrap="square" lIns="0" tIns="0" rIns="0" bIns="0" rtlCol="0" anchor="t"/>
          <a:lstStyle/>
          <a:p>
            <a:pPr indent="0" marL="0">
              <a:buNone/>
            </a:pPr>
            <a:r>
              <a:rPr lang="en-US" sz="1000" dirty="0">
                <a:solidFill>
                  <a:srgbClr val="E2E8F0"/>
                </a:solidFill>
              </a:rPr>
              <a:t>Guaranteed top placement for 'solar cleaning Rocklin/Roseville.' AI bid management. Every post-job auto-text asks for a Google review. Higher review velocity than competitors = ranking dominance.</a:t>
            </a:r>
            <a:endParaRPr lang="en-US" sz="1000" dirty="0"/>
          </a:p>
        </p:txBody>
      </p:sp>
      <p:sp>
        <p:nvSpPr>
          <p:cNvPr id="29" name="Shape 27"/>
          <p:cNvSpPr/>
          <p:nvPr/>
        </p:nvSpPr>
        <p:spPr>
          <a:xfrm>
            <a:off x="4754880" y="3639312"/>
            <a:ext cx="4160520" cy="1298448"/>
          </a:xfrm>
          <a:prstGeom prst="rect">
            <a:avLst/>
          </a:prstGeom>
          <a:solidFill>
            <a:srgbClr val="0D2137"/>
          </a:solidFill>
          <a:ln w="10160">
            <a:solidFill>
              <a:srgbClr val="028090"/>
            </a:solidFill>
            <a:prstDash val="solid"/>
          </a:ln>
        </p:spPr>
      </p:sp>
      <p:sp>
        <p:nvSpPr>
          <p:cNvPr id="30" name="Shape 28"/>
          <p:cNvSpPr/>
          <p:nvPr/>
        </p:nvSpPr>
        <p:spPr>
          <a:xfrm>
            <a:off x="4754880" y="3639312"/>
            <a:ext cx="91440" cy="1298448"/>
          </a:xfrm>
          <a:prstGeom prst="rect">
            <a:avLst/>
          </a:prstGeom>
          <a:solidFill>
            <a:srgbClr val="F4B942"/>
          </a:solidFill>
          <a:ln w="12700">
            <a:solidFill>
              <a:srgbClr val="F4B942"/>
            </a:solidFill>
            <a:prstDash val="solid"/>
          </a:ln>
        </p:spPr>
      </p:sp>
      <p:sp>
        <p:nvSpPr>
          <p:cNvPr id="31" name="Text 29"/>
          <p:cNvSpPr/>
          <p:nvPr/>
        </p:nvSpPr>
        <p:spPr>
          <a:xfrm>
            <a:off x="4937760" y="3730752"/>
            <a:ext cx="2651760" cy="274320"/>
          </a:xfrm>
          <a:prstGeom prst="rect">
            <a:avLst/>
          </a:prstGeom>
          <a:noFill/>
          <a:ln/>
        </p:spPr>
        <p:txBody>
          <a:bodyPr wrap="square" lIns="0" tIns="0" rIns="0" bIns="0" rtlCol="0" anchor="ctr"/>
          <a:lstStyle/>
          <a:p>
            <a:pPr indent="0" marL="0">
              <a:buNone/>
            </a:pPr>
            <a:r>
              <a:rPr lang="en-US" sz="1100" b="1" dirty="0">
                <a:solidFill>
                  <a:srgbClr val="F4B942"/>
                </a:solidFill>
              </a:rPr>
              <a:t>Stripe + Auto-Billing</a:t>
            </a:r>
            <a:endParaRPr lang="en-US" sz="1100" dirty="0"/>
          </a:p>
        </p:txBody>
      </p:sp>
      <p:sp>
        <p:nvSpPr>
          <p:cNvPr id="32" name="Text 30"/>
          <p:cNvSpPr/>
          <p:nvPr/>
        </p:nvSpPr>
        <p:spPr>
          <a:xfrm>
            <a:off x="7680960" y="3730752"/>
            <a:ext cx="1143000" cy="256032"/>
          </a:xfrm>
          <a:prstGeom prst="rect">
            <a:avLst/>
          </a:prstGeom>
          <a:noFill/>
          <a:ln/>
        </p:spPr>
        <p:txBody>
          <a:bodyPr wrap="square" lIns="0" tIns="0" rIns="0" bIns="0" rtlCol="0" anchor="ctr"/>
          <a:lstStyle/>
          <a:p>
            <a:pPr algn="r" indent="0" marL="0">
              <a:buNone/>
            </a:pPr>
            <a:r>
              <a:rPr lang="en-US" sz="900" dirty="0">
                <a:solidFill>
                  <a:srgbClr val="02C39A"/>
                </a:solidFill>
              </a:rPr>
              <a:t>Revenue Engine</a:t>
            </a:r>
            <a:endParaRPr lang="en-US" sz="900" dirty="0"/>
          </a:p>
        </p:txBody>
      </p:sp>
      <p:sp>
        <p:nvSpPr>
          <p:cNvPr id="33" name="Text 31"/>
          <p:cNvSpPr/>
          <p:nvPr/>
        </p:nvSpPr>
        <p:spPr>
          <a:xfrm>
            <a:off x="4937760" y="4050792"/>
            <a:ext cx="3886200" cy="777240"/>
          </a:xfrm>
          <a:prstGeom prst="rect">
            <a:avLst/>
          </a:prstGeom>
          <a:noFill/>
          <a:ln/>
        </p:spPr>
        <p:txBody>
          <a:bodyPr wrap="square" lIns="0" tIns="0" rIns="0" bIns="0" rtlCol="0" anchor="t"/>
          <a:lstStyle/>
          <a:p>
            <a:pPr indent="0" marL="0">
              <a:buNone/>
            </a:pPr>
            <a:r>
              <a:rPr lang="en-US" sz="1000" dirty="0">
                <a:solidFill>
                  <a:srgbClr val="E2E8F0"/>
                </a:solidFill>
              </a:rPr>
              <a:t>Subscription auto-renewals, failed payment recovery, annual email report showing $ saved through Roger's cleaning. Retention tool. Zero admin. Cash lands in Roger's account automatically.</a:t>
            </a:r>
            <a:endParaRPr lang="en-US" sz="1000" dirty="0"/>
          </a:p>
        </p:txBody>
      </p:sp>
      <p:sp>
        <p:nvSpPr>
          <p:cNvPr id="34" name="Text 32"/>
          <p:cNvSpPr/>
          <p:nvPr/>
        </p:nvSpPr>
        <p:spPr>
          <a:xfrm>
            <a:off x="274320" y="4754880"/>
            <a:ext cx="8595360" cy="274320"/>
          </a:xfrm>
          <a:prstGeom prst="rect">
            <a:avLst/>
          </a:prstGeom>
          <a:noFill/>
          <a:ln/>
        </p:spPr>
        <p:txBody>
          <a:bodyPr wrap="square" lIns="0" tIns="0" rIns="0" bIns="0" rtlCol="0" anchor="ctr"/>
          <a:lstStyle/>
          <a:p>
            <a:pPr algn="ctr" indent="0" marL="0">
              <a:buNone/>
            </a:pPr>
            <a:r>
              <a:rPr lang="en-US" sz="1100" b="1" dirty="0">
                <a:solidFill>
                  <a:srgbClr val="F4B942"/>
                </a:solidFill>
              </a:rPr>
              <a:t>No local competitor uses any of these tools. This is Roger's unfair, durable, defensible advantage.</a:t>
            </a:r>
            <a:endParaRPr lang="en-US" sz="11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28090"/>
          </a:solidFill>
          <a:ln w="12700">
            <a:solidFill>
              <a:srgbClr val="028090"/>
            </a:solidFill>
            <a:prstDash val="solid"/>
          </a:ln>
        </p:spPr>
      </p:sp>
      <p:sp>
        <p:nvSpPr>
          <p:cNvPr id="3" name="Text 1"/>
          <p:cNvSpPr/>
          <p:nvPr/>
        </p:nvSpPr>
        <p:spPr>
          <a:xfrm>
            <a:off x="365760" y="0"/>
            <a:ext cx="8412480" cy="658368"/>
          </a:xfrm>
          <a:prstGeom prst="rect">
            <a:avLst/>
          </a:prstGeom>
          <a:noFill/>
          <a:ln/>
        </p:spPr>
        <p:txBody>
          <a:bodyPr wrap="square" lIns="0" tIns="0" rIns="0" bIns="0" rtlCol="0" anchor="ctr"/>
          <a:lstStyle/>
          <a:p>
            <a:pPr indent="0" marL="0">
              <a:buNone/>
            </a:pPr>
            <a:r>
              <a:rPr lang="en-US" sz="1200" b="1" spc="300" kern="0" dirty="0">
                <a:solidFill>
                  <a:srgbClr val="FFFFFF"/>
                </a:solidFill>
              </a:rPr>
              <a:t>CAC STRATEGY — FROM $225 INDUSTRY AVERAGE TO $14.50</a:t>
            </a:r>
            <a:endParaRPr lang="en-US" sz="1200" dirty="0"/>
          </a:p>
        </p:txBody>
      </p:sp>
      <p:sp>
        <p:nvSpPr>
          <p:cNvPr id="4" name="Text 2"/>
          <p:cNvSpPr/>
          <p:nvPr/>
        </p:nvSpPr>
        <p:spPr>
          <a:xfrm>
            <a:off x="365760" y="777240"/>
            <a:ext cx="5029200" cy="292608"/>
          </a:xfrm>
          <a:prstGeom prst="rect">
            <a:avLst/>
          </a:prstGeom>
          <a:noFill/>
          <a:ln/>
        </p:spPr>
        <p:txBody>
          <a:bodyPr wrap="square" lIns="0" tIns="0" rIns="0" bIns="0" rtlCol="0" anchor="ctr"/>
          <a:lstStyle/>
          <a:p>
            <a:pPr indent="0" marL="0">
              <a:buNone/>
            </a:pPr>
            <a:r>
              <a:rPr lang="en-US" sz="1300" b="1" dirty="0">
                <a:solidFill>
                  <a:srgbClr val="0B1F3A"/>
                </a:solidFill>
              </a:rPr>
              <a:t>Channel breakdown</a:t>
            </a:r>
            <a:endParaRPr lang="en-US" sz="1300" dirty="0"/>
          </a:p>
        </p:txBody>
      </p:sp>
      <p:sp>
        <p:nvSpPr>
          <p:cNvPr id="5" name="Text 3"/>
          <p:cNvSpPr/>
          <p:nvPr/>
        </p:nvSpPr>
        <p:spPr>
          <a:xfrm>
            <a:off x="365760" y="1115568"/>
            <a:ext cx="4160520" cy="237744"/>
          </a:xfrm>
          <a:prstGeom prst="rect">
            <a:avLst/>
          </a:prstGeom>
          <a:noFill/>
          <a:ln/>
        </p:spPr>
        <p:txBody>
          <a:bodyPr wrap="square" lIns="0" tIns="0" rIns="0" bIns="0" rtlCol="0" anchor="ctr"/>
          <a:lstStyle/>
          <a:p>
            <a:pPr indent="0" marL="0">
              <a:buNone/>
            </a:pPr>
            <a:r>
              <a:rPr lang="en-US" sz="950" b="1" dirty="0">
                <a:solidFill>
                  <a:srgbClr val="94A3B8"/>
                </a:solidFill>
              </a:rPr>
              <a:t>Channel</a:t>
            </a:r>
            <a:endParaRPr lang="en-US" sz="950" dirty="0"/>
          </a:p>
        </p:txBody>
      </p:sp>
      <p:sp>
        <p:nvSpPr>
          <p:cNvPr id="6" name="Text 4"/>
          <p:cNvSpPr/>
          <p:nvPr/>
        </p:nvSpPr>
        <p:spPr>
          <a:xfrm>
            <a:off x="4572000" y="1115568"/>
            <a:ext cx="1005840" cy="237744"/>
          </a:xfrm>
          <a:prstGeom prst="rect">
            <a:avLst/>
          </a:prstGeom>
          <a:noFill/>
          <a:ln/>
        </p:spPr>
        <p:txBody>
          <a:bodyPr wrap="square" lIns="0" tIns="0" rIns="0" bIns="0" rtlCol="0" anchor="ctr"/>
          <a:lstStyle/>
          <a:p>
            <a:pPr indent="0" marL="0">
              <a:buNone/>
            </a:pPr>
            <a:r>
              <a:rPr lang="en-US" sz="950" b="1" dirty="0">
                <a:solidFill>
                  <a:srgbClr val="94A3B8"/>
                </a:solidFill>
              </a:rPr>
              <a:t>CAC</a:t>
            </a:r>
            <a:endParaRPr lang="en-US" sz="950" dirty="0"/>
          </a:p>
        </p:txBody>
      </p:sp>
      <p:sp>
        <p:nvSpPr>
          <p:cNvPr id="7" name="Text 5"/>
          <p:cNvSpPr/>
          <p:nvPr/>
        </p:nvSpPr>
        <p:spPr>
          <a:xfrm>
            <a:off x="5623560" y="1115568"/>
            <a:ext cx="1051560" cy="237744"/>
          </a:xfrm>
          <a:prstGeom prst="rect">
            <a:avLst/>
          </a:prstGeom>
          <a:noFill/>
          <a:ln/>
        </p:spPr>
        <p:txBody>
          <a:bodyPr wrap="square" lIns="0" tIns="0" rIns="0" bIns="0" rtlCol="0" anchor="ctr"/>
          <a:lstStyle/>
          <a:p>
            <a:pPr indent="0" marL="0">
              <a:buNone/>
            </a:pPr>
            <a:r>
              <a:rPr lang="en-US" sz="950" b="1" dirty="0">
                <a:solidFill>
                  <a:srgbClr val="94A3B8"/>
                </a:solidFill>
              </a:rPr>
              <a:t>Conv. Rate</a:t>
            </a:r>
            <a:endParaRPr lang="en-US" sz="950" dirty="0"/>
          </a:p>
        </p:txBody>
      </p:sp>
      <p:sp>
        <p:nvSpPr>
          <p:cNvPr id="8" name="Text 6"/>
          <p:cNvSpPr/>
          <p:nvPr/>
        </p:nvSpPr>
        <p:spPr>
          <a:xfrm>
            <a:off x="6720840" y="1115568"/>
            <a:ext cx="1417320" cy="237744"/>
          </a:xfrm>
          <a:prstGeom prst="rect">
            <a:avLst/>
          </a:prstGeom>
          <a:noFill/>
          <a:ln/>
        </p:spPr>
        <p:txBody>
          <a:bodyPr wrap="square" lIns="0" tIns="0" rIns="0" bIns="0" rtlCol="0" anchor="ctr"/>
          <a:lstStyle/>
          <a:p>
            <a:pPr indent="0" marL="0">
              <a:buNone/>
            </a:pPr>
            <a:r>
              <a:rPr lang="en-US" sz="950" b="1" dirty="0">
                <a:solidFill>
                  <a:srgbClr val="94A3B8"/>
                </a:solidFill>
              </a:rPr>
              <a:t>Retention</a:t>
            </a:r>
            <a:endParaRPr lang="en-US" sz="950" dirty="0"/>
          </a:p>
        </p:txBody>
      </p:sp>
      <p:sp>
        <p:nvSpPr>
          <p:cNvPr id="9" name="Text 7"/>
          <p:cNvSpPr/>
          <p:nvPr/>
        </p:nvSpPr>
        <p:spPr>
          <a:xfrm>
            <a:off x="8183880" y="1115568"/>
            <a:ext cx="868680" cy="237744"/>
          </a:xfrm>
          <a:prstGeom prst="rect">
            <a:avLst/>
          </a:prstGeom>
          <a:noFill/>
          <a:ln/>
        </p:spPr>
        <p:txBody>
          <a:bodyPr wrap="square" lIns="0" tIns="0" rIns="0" bIns="0" rtlCol="0" anchor="ctr"/>
          <a:lstStyle/>
          <a:p>
            <a:pPr indent="0" marL="0">
              <a:buNone/>
            </a:pPr>
            <a:endParaRPr lang="en-US" sz="950" dirty="0"/>
          </a:p>
        </p:txBody>
      </p:sp>
      <p:sp>
        <p:nvSpPr>
          <p:cNvPr id="10" name="Shape 8"/>
          <p:cNvSpPr/>
          <p:nvPr/>
        </p:nvSpPr>
        <p:spPr>
          <a:xfrm>
            <a:off x="365760" y="1389888"/>
            <a:ext cx="8686800" cy="438912"/>
          </a:xfrm>
          <a:prstGeom prst="rect">
            <a:avLst/>
          </a:prstGeom>
          <a:solidFill>
            <a:srgbClr val="FFFFFF"/>
          </a:solidFill>
          <a:ln w="5080">
            <a:solidFill>
              <a:srgbClr val="E2E8F0"/>
            </a:solidFill>
            <a:prstDash val="solid"/>
          </a:ln>
        </p:spPr>
      </p:sp>
      <p:sp>
        <p:nvSpPr>
          <p:cNvPr id="11" name="Shape 9"/>
          <p:cNvSpPr/>
          <p:nvPr/>
        </p:nvSpPr>
        <p:spPr>
          <a:xfrm>
            <a:off x="365760" y="1481328"/>
            <a:ext cx="54864" cy="274320"/>
          </a:xfrm>
          <a:prstGeom prst="rect">
            <a:avLst/>
          </a:prstGeom>
          <a:solidFill>
            <a:srgbClr val="E74C3C"/>
          </a:solidFill>
          <a:ln w="12700">
            <a:solidFill>
              <a:srgbClr val="E74C3C"/>
            </a:solidFill>
            <a:prstDash val="solid"/>
          </a:ln>
        </p:spPr>
      </p:sp>
      <p:sp>
        <p:nvSpPr>
          <p:cNvPr id="12" name="Text 10"/>
          <p:cNvSpPr/>
          <p:nvPr/>
        </p:nvSpPr>
        <p:spPr>
          <a:xfrm>
            <a:off x="457200" y="1389888"/>
            <a:ext cx="4069080" cy="438912"/>
          </a:xfrm>
          <a:prstGeom prst="rect">
            <a:avLst/>
          </a:prstGeom>
          <a:noFill/>
          <a:ln/>
        </p:spPr>
        <p:txBody>
          <a:bodyPr wrap="square" lIns="0" tIns="0" rIns="0" bIns="0" rtlCol="0" anchor="ctr"/>
          <a:lstStyle/>
          <a:p>
            <a:pPr indent="0" marL="0">
              <a:buNone/>
            </a:pPr>
            <a:r>
              <a:rPr lang="en-US" sz="1000" dirty="0">
                <a:solidFill>
                  <a:srgbClr val="334155"/>
                </a:solidFill>
              </a:rPr>
              <a:t>Angi / HomeAdvisor (industry average)</a:t>
            </a:r>
            <a:endParaRPr lang="en-US" sz="1000" dirty="0"/>
          </a:p>
        </p:txBody>
      </p:sp>
      <p:sp>
        <p:nvSpPr>
          <p:cNvPr id="13" name="Text 11"/>
          <p:cNvSpPr/>
          <p:nvPr/>
        </p:nvSpPr>
        <p:spPr>
          <a:xfrm>
            <a:off x="4572000" y="1389888"/>
            <a:ext cx="1005840" cy="438912"/>
          </a:xfrm>
          <a:prstGeom prst="rect">
            <a:avLst/>
          </a:prstGeom>
          <a:noFill/>
          <a:ln/>
        </p:spPr>
        <p:txBody>
          <a:bodyPr wrap="square" lIns="0" tIns="0" rIns="0" bIns="0" rtlCol="0" anchor="ctr"/>
          <a:lstStyle/>
          <a:p>
            <a:pPr indent="0" marL="0">
              <a:buNone/>
            </a:pPr>
            <a:r>
              <a:rPr lang="en-US" sz="1000" b="1" dirty="0">
                <a:solidFill>
                  <a:srgbClr val="0B1F3A"/>
                </a:solidFill>
              </a:rPr>
              <a:t>$225–557</a:t>
            </a:r>
            <a:endParaRPr lang="en-US" sz="1000" dirty="0"/>
          </a:p>
        </p:txBody>
      </p:sp>
      <p:sp>
        <p:nvSpPr>
          <p:cNvPr id="14" name="Text 12"/>
          <p:cNvSpPr/>
          <p:nvPr/>
        </p:nvSpPr>
        <p:spPr>
          <a:xfrm>
            <a:off x="5623560" y="1389888"/>
            <a:ext cx="1051560" cy="438912"/>
          </a:xfrm>
          <a:prstGeom prst="rect">
            <a:avLst/>
          </a:prstGeom>
          <a:noFill/>
          <a:ln/>
        </p:spPr>
        <p:txBody>
          <a:bodyPr wrap="square" lIns="0" tIns="0" rIns="0" bIns="0" rtlCol="0" anchor="ctr"/>
          <a:lstStyle/>
          <a:p>
            <a:pPr indent="0" marL="0">
              <a:buNone/>
            </a:pPr>
            <a:r>
              <a:rPr lang="en-US" sz="1000" dirty="0">
                <a:solidFill>
                  <a:srgbClr val="334155"/>
                </a:solidFill>
              </a:rPr>
              <a:t>3–7%</a:t>
            </a:r>
            <a:endParaRPr lang="en-US" sz="1000" dirty="0"/>
          </a:p>
        </p:txBody>
      </p:sp>
      <p:sp>
        <p:nvSpPr>
          <p:cNvPr id="15" name="Text 13"/>
          <p:cNvSpPr/>
          <p:nvPr/>
        </p:nvSpPr>
        <p:spPr>
          <a:xfrm>
            <a:off x="6720840" y="1389888"/>
            <a:ext cx="1417320" cy="438912"/>
          </a:xfrm>
          <a:prstGeom prst="rect">
            <a:avLst/>
          </a:prstGeom>
          <a:noFill/>
          <a:ln/>
        </p:spPr>
        <p:txBody>
          <a:bodyPr wrap="square" lIns="0" tIns="0" rIns="0" bIns="0" rtlCol="0" anchor="ctr"/>
          <a:lstStyle/>
          <a:p>
            <a:pPr indent="0" marL="0">
              <a:buNone/>
            </a:pPr>
            <a:r>
              <a:rPr lang="en-US" sz="1000" dirty="0">
                <a:solidFill>
                  <a:srgbClr val="334155"/>
                </a:solidFill>
              </a:rPr>
              <a:t>Low — shared leads</a:t>
            </a:r>
            <a:endParaRPr lang="en-US" sz="1000" dirty="0"/>
          </a:p>
        </p:txBody>
      </p:sp>
      <p:sp>
        <p:nvSpPr>
          <p:cNvPr id="16" name="Shape 14"/>
          <p:cNvSpPr/>
          <p:nvPr/>
        </p:nvSpPr>
        <p:spPr>
          <a:xfrm>
            <a:off x="8183880" y="1472184"/>
            <a:ext cx="868680" cy="256032"/>
          </a:xfrm>
          <a:prstGeom prst="rect">
            <a:avLst/>
          </a:prstGeom>
          <a:solidFill>
            <a:srgbClr val="E74C3C"/>
          </a:solidFill>
          <a:ln w="12700">
            <a:solidFill>
              <a:srgbClr val="E74C3C"/>
            </a:solidFill>
            <a:prstDash val="solid"/>
          </a:ln>
        </p:spPr>
      </p:sp>
      <p:sp>
        <p:nvSpPr>
          <p:cNvPr id="17" name="Text 15"/>
          <p:cNvSpPr/>
          <p:nvPr/>
        </p:nvSpPr>
        <p:spPr>
          <a:xfrm>
            <a:off x="8183880" y="1472184"/>
            <a:ext cx="868680" cy="256032"/>
          </a:xfrm>
          <a:prstGeom prst="rect">
            <a:avLst/>
          </a:prstGeom>
          <a:noFill/>
          <a:ln/>
        </p:spPr>
        <p:txBody>
          <a:bodyPr wrap="square" lIns="0" tIns="0" rIns="0" bIns="0" rtlCol="0" anchor="ctr"/>
          <a:lstStyle/>
          <a:p>
            <a:pPr algn="ctr" indent="0" marL="0">
              <a:buNone/>
            </a:pPr>
            <a:r>
              <a:rPr lang="en-US" sz="750" b="1" dirty="0">
                <a:solidFill>
                  <a:srgbClr val="FFFFFF"/>
                </a:solidFill>
              </a:rPr>
              <a:t>AVOID</a:t>
            </a:r>
            <a:endParaRPr lang="en-US" sz="750" dirty="0"/>
          </a:p>
        </p:txBody>
      </p:sp>
      <p:sp>
        <p:nvSpPr>
          <p:cNvPr id="18" name="Shape 16"/>
          <p:cNvSpPr/>
          <p:nvPr/>
        </p:nvSpPr>
        <p:spPr>
          <a:xfrm>
            <a:off x="365760" y="1865376"/>
            <a:ext cx="8686800" cy="438912"/>
          </a:xfrm>
          <a:prstGeom prst="rect">
            <a:avLst/>
          </a:prstGeom>
          <a:solidFill>
            <a:srgbClr val="F7F9FB"/>
          </a:solidFill>
          <a:ln w="5080">
            <a:solidFill>
              <a:srgbClr val="E2E8F0"/>
            </a:solidFill>
            <a:prstDash val="solid"/>
          </a:ln>
        </p:spPr>
      </p:sp>
      <p:sp>
        <p:nvSpPr>
          <p:cNvPr id="19" name="Shape 17"/>
          <p:cNvSpPr/>
          <p:nvPr/>
        </p:nvSpPr>
        <p:spPr>
          <a:xfrm>
            <a:off x="365760" y="1956816"/>
            <a:ext cx="54864" cy="274320"/>
          </a:xfrm>
          <a:prstGeom prst="rect">
            <a:avLst/>
          </a:prstGeom>
          <a:solidFill>
            <a:srgbClr val="028090"/>
          </a:solidFill>
          <a:ln w="12700">
            <a:solidFill>
              <a:srgbClr val="028090"/>
            </a:solidFill>
            <a:prstDash val="solid"/>
          </a:ln>
        </p:spPr>
      </p:sp>
      <p:sp>
        <p:nvSpPr>
          <p:cNvPr id="20" name="Text 18"/>
          <p:cNvSpPr/>
          <p:nvPr/>
        </p:nvSpPr>
        <p:spPr>
          <a:xfrm>
            <a:off x="457200" y="1865376"/>
            <a:ext cx="4069080" cy="438912"/>
          </a:xfrm>
          <a:prstGeom prst="rect">
            <a:avLst/>
          </a:prstGeom>
          <a:noFill/>
          <a:ln/>
        </p:spPr>
        <p:txBody>
          <a:bodyPr wrap="square" lIns="0" tIns="0" rIns="0" bIns="0" rtlCol="0" anchor="ctr"/>
          <a:lstStyle/>
          <a:p>
            <a:pPr indent="0" marL="0">
              <a:buNone/>
            </a:pPr>
            <a:r>
              <a:rPr lang="en-US" sz="1000" dirty="0">
                <a:solidFill>
                  <a:srgbClr val="334155"/>
                </a:solidFill>
              </a:rPr>
              <a:t>Google LSA (AI-managed bids)</a:t>
            </a:r>
            <a:endParaRPr lang="en-US" sz="1000" dirty="0"/>
          </a:p>
        </p:txBody>
      </p:sp>
      <p:sp>
        <p:nvSpPr>
          <p:cNvPr id="21" name="Text 19"/>
          <p:cNvSpPr/>
          <p:nvPr/>
        </p:nvSpPr>
        <p:spPr>
          <a:xfrm>
            <a:off x="4572000" y="1865376"/>
            <a:ext cx="1005840" cy="438912"/>
          </a:xfrm>
          <a:prstGeom prst="rect">
            <a:avLst/>
          </a:prstGeom>
          <a:noFill/>
          <a:ln/>
        </p:spPr>
        <p:txBody>
          <a:bodyPr wrap="square" lIns="0" tIns="0" rIns="0" bIns="0" rtlCol="0" anchor="ctr"/>
          <a:lstStyle/>
          <a:p>
            <a:pPr indent="0" marL="0">
              <a:buNone/>
            </a:pPr>
            <a:r>
              <a:rPr lang="en-US" sz="1000" b="1" dirty="0">
                <a:solidFill>
                  <a:srgbClr val="0B1F3A"/>
                </a:solidFill>
              </a:rPr>
              <a:t>$18–30</a:t>
            </a:r>
            <a:endParaRPr lang="en-US" sz="1000" dirty="0"/>
          </a:p>
        </p:txBody>
      </p:sp>
      <p:sp>
        <p:nvSpPr>
          <p:cNvPr id="22" name="Text 20"/>
          <p:cNvSpPr/>
          <p:nvPr/>
        </p:nvSpPr>
        <p:spPr>
          <a:xfrm>
            <a:off x="5623560" y="1865376"/>
            <a:ext cx="1051560" cy="438912"/>
          </a:xfrm>
          <a:prstGeom prst="rect">
            <a:avLst/>
          </a:prstGeom>
          <a:noFill/>
          <a:ln/>
        </p:spPr>
        <p:txBody>
          <a:bodyPr wrap="square" lIns="0" tIns="0" rIns="0" bIns="0" rtlCol="0" anchor="ctr"/>
          <a:lstStyle/>
          <a:p>
            <a:pPr indent="0" marL="0">
              <a:buNone/>
            </a:pPr>
            <a:r>
              <a:rPr lang="en-US" sz="1000" dirty="0">
                <a:solidFill>
                  <a:srgbClr val="334155"/>
                </a:solidFill>
              </a:rPr>
              <a:t>22–35%</a:t>
            </a:r>
            <a:endParaRPr lang="en-US" sz="1000" dirty="0"/>
          </a:p>
        </p:txBody>
      </p:sp>
      <p:sp>
        <p:nvSpPr>
          <p:cNvPr id="23" name="Text 21"/>
          <p:cNvSpPr/>
          <p:nvPr/>
        </p:nvSpPr>
        <p:spPr>
          <a:xfrm>
            <a:off x="6720840" y="1865376"/>
            <a:ext cx="1417320" cy="438912"/>
          </a:xfrm>
          <a:prstGeom prst="rect">
            <a:avLst/>
          </a:prstGeom>
          <a:noFill/>
          <a:ln/>
        </p:spPr>
        <p:txBody>
          <a:bodyPr wrap="square" lIns="0" tIns="0" rIns="0" bIns="0" rtlCol="0" anchor="ctr"/>
          <a:lstStyle/>
          <a:p>
            <a:pPr indent="0" marL="0">
              <a:buNone/>
            </a:pPr>
            <a:r>
              <a:rPr lang="en-US" sz="1000" dirty="0">
                <a:solidFill>
                  <a:srgbClr val="334155"/>
                </a:solidFill>
              </a:rPr>
              <a:t>High — intent search</a:t>
            </a:r>
            <a:endParaRPr lang="en-US" sz="1000" dirty="0"/>
          </a:p>
        </p:txBody>
      </p:sp>
      <p:sp>
        <p:nvSpPr>
          <p:cNvPr id="24" name="Shape 22"/>
          <p:cNvSpPr/>
          <p:nvPr/>
        </p:nvSpPr>
        <p:spPr>
          <a:xfrm>
            <a:off x="8183880" y="1947672"/>
            <a:ext cx="868680" cy="256032"/>
          </a:xfrm>
          <a:prstGeom prst="rect">
            <a:avLst/>
          </a:prstGeom>
          <a:solidFill>
            <a:srgbClr val="028090"/>
          </a:solidFill>
          <a:ln w="12700">
            <a:solidFill>
              <a:srgbClr val="028090"/>
            </a:solidFill>
            <a:prstDash val="solid"/>
          </a:ln>
        </p:spPr>
      </p:sp>
      <p:sp>
        <p:nvSpPr>
          <p:cNvPr id="25" name="Text 23"/>
          <p:cNvSpPr/>
          <p:nvPr/>
        </p:nvSpPr>
        <p:spPr>
          <a:xfrm>
            <a:off x="8183880" y="1947672"/>
            <a:ext cx="868680" cy="256032"/>
          </a:xfrm>
          <a:prstGeom prst="rect">
            <a:avLst/>
          </a:prstGeom>
          <a:noFill/>
          <a:ln/>
        </p:spPr>
        <p:txBody>
          <a:bodyPr wrap="square" lIns="0" tIns="0" rIns="0" bIns="0" rtlCol="0" anchor="ctr"/>
          <a:lstStyle/>
          <a:p>
            <a:pPr algn="ctr" indent="0" marL="0">
              <a:buNone/>
            </a:pPr>
            <a:r>
              <a:rPr lang="en-US" sz="750" b="1" dirty="0">
                <a:solidFill>
                  <a:srgbClr val="FFFFFF"/>
                </a:solidFill>
              </a:rPr>
              <a:t>USE</a:t>
            </a:r>
            <a:endParaRPr lang="en-US" sz="750" dirty="0"/>
          </a:p>
        </p:txBody>
      </p:sp>
      <p:sp>
        <p:nvSpPr>
          <p:cNvPr id="26" name="Shape 24"/>
          <p:cNvSpPr/>
          <p:nvPr/>
        </p:nvSpPr>
        <p:spPr>
          <a:xfrm>
            <a:off x="365760" y="2340864"/>
            <a:ext cx="8686800" cy="438912"/>
          </a:xfrm>
          <a:prstGeom prst="rect">
            <a:avLst/>
          </a:prstGeom>
          <a:solidFill>
            <a:srgbClr val="FFFFFF"/>
          </a:solidFill>
          <a:ln w="5080">
            <a:solidFill>
              <a:srgbClr val="E2E8F0"/>
            </a:solidFill>
            <a:prstDash val="solid"/>
          </a:ln>
        </p:spPr>
      </p:sp>
      <p:sp>
        <p:nvSpPr>
          <p:cNvPr id="27" name="Shape 25"/>
          <p:cNvSpPr/>
          <p:nvPr/>
        </p:nvSpPr>
        <p:spPr>
          <a:xfrm>
            <a:off x="365760" y="2432304"/>
            <a:ext cx="54864" cy="274320"/>
          </a:xfrm>
          <a:prstGeom prst="rect">
            <a:avLst/>
          </a:prstGeom>
          <a:solidFill>
            <a:srgbClr val="27AE60"/>
          </a:solidFill>
          <a:ln w="12700">
            <a:solidFill>
              <a:srgbClr val="27AE60"/>
            </a:solidFill>
            <a:prstDash val="solid"/>
          </a:ln>
        </p:spPr>
      </p:sp>
      <p:sp>
        <p:nvSpPr>
          <p:cNvPr id="28" name="Text 26"/>
          <p:cNvSpPr/>
          <p:nvPr/>
        </p:nvSpPr>
        <p:spPr>
          <a:xfrm>
            <a:off x="457200" y="2340864"/>
            <a:ext cx="4069080" cy="438912"/>
          </a:xfrm>
          <a:prstGeom prst="rect">
            <a:avLst/>
          </a:prstGeom>
          <a:noFill/>
          <a:ln/>
        </p:spPr>
        <p:txBody>
          <a:bodyPr wrap="square" lIns="0" tIns="0" rIns="0" bIns="0" rtlCol="0" anchor="ctr"/>
          <a:lstStyle/>
          <a:p>
            <a:pPr indent="0" marL="0">
              <a:buNone/>
            </a:pPr>
            <a:r>
              <a:rPr lang="en-US" sz="1000" dirty="0">
                <a:solidFill>
                  <a:srgbClr val="334155"/>
                </a:solidFill>
              </a:rPr>
              <a:t>Nextdoor organic (Buster agent)</a:t>
            </a:r>
            <a:endParaRPr lang="en-US" sz="1000" dirty="0"/>
          </a:p>
        </p:txBody>
      </p:sp>
      <p:sp>
        <p:nvSpPr>
          <p:cNvPr id="29" name="Text 27"/>
          <p:cNvSpPr/>
          <p:nvPr/>
        </p:nvSpPr>
        <p:spPr>
          <a:xfrm>
            <a:off x="4572000" y="2340864"/>
            <a:ext cx="1005840" cy="438912"/>
          </a:xfrm>
          <a:prstGeom prst="rect">
            <a:avLst/>
          </a:prstGeom>
          <a:noFill/>
          <a:ln/>
        </p:spPr>
        <p:txBody>
          <a:bodyPr wrap="square" lIns="0" tIns="0" rIns="0" bIns="0" rtlCol="0" anchor="ctr"/>
          <a:lstStyle/>
          <a:p>
            <a:pPr indent="0" marL="0">
              <a:buNone/>
            </a:pPr>
            <a:r>
              <a:rPr lang="en-US" sz="1000" b="1" dirty="0">
                <a:solidFill>
                  <a:srgbClr val="0B1F3A"/>
                </a:solidFill>
              </a:rPr>
              <a:t>$3–8</a:t>
            </a:r>
            <a:endParaRPr lang="en-US" sz="1000" dirty="0"/>
          </a:p>
        </p:txBody>
      </p:sp>
      <p:sp>
        <p:nvSpPr>
          <p:cNvPr id="30" name="Text 28"/>
          <p:cNvSpPr/>
          <p:nvPr/>
        </p:nvSpPr>
        <p:spPr>
          <a:xfrm>
            <a:off x="5623560" y="2340864"/>
            <a:ext cx="1051560" cy="438912"/>
          </a:xfrm>
          <a:prstGeom prst="rect">
            <a:avLst/>
          </a:prstGeom>
          <a:noFill/>
          <a:ln/>
        </p:spPr>
        <p:txBody>
          <a:bodyPr wrap="square" lIns="0" tIns="0" rIns="0" bIns="0" rtlCol="0" anchor="ctr"/>
          <a:lstStyle/>
          <a:p>
            <a:pPr indent="0" marL="0">
              <a:buNone/>
            </a:pPr>
            <a:r>
              <a:rPr lang="en-US" sz="1000" dirty="0">
                <a:solidFill>
                  <a:srgbClr val="334155"/>
                </a:solidFill>
              </a:rPr>
              <a:t>25–40%</a:t>
            </a:r>
            <a:endParaRPr lang="en-US" sz="1000" dirty="0"/>
          </a:p>
        </p:txBody>
      </p:sp>
      <p:sp>
        <p:nvSpPr>
          <p:cNvPr id="31" name="Text 29"/>
          <p:cNvSpPr/>
          <p:nvPr/>
        </p:nvSpPr>
        <p:spPr>
          <a:xfrm>
            <a:off x="6720840" y="2340864"/>
            <a:ext cx="1417320" cy="438912"/>
          </a:xfrm>
          <a:prstGeom prst="rect">
            <a:avLst/>
          </a:prstGeom>
          <a:noFill/>
          <a:ln/>
        </p:spPr>
        <p:txBody>
          <a:bodyPr wrap="square" lIns="0" tIns="0" rIns="0" bIns="0" rtlCol="0" anchor="ctr"/>
          <a:lstStyle/>
          <a:p>
            <a:pPr indent="0" marL="0">
              <a:buNone/>
            </a:pPr>
            <a:r>
              <a:rPr lang="en-US" sz="1000" dirty="0">
                <a:solidFill>
                  <a:srgbClr val="334155"/>
                </a:solidFill>
              </a:rPr>
              <a:t>Very high — neighbor trust</a:t>
            </a:r>
            <a:endParaRPr lang="en-US" sz="1000" dirty="0"/>
          </a:p>
        </p:txBody>
      </p:sp>
      <p:sp>
        <p:nvSpPr>
          <p:cNvPr id="32" name="Shape 30"/>
          <p:cNvSpPr/>
          <p:nvPr/>
        </p:nvSpPr>
        <p:spPr>
          <a:xfrm>
            <a:off x="8183880" y="2423160"/>
            <a:ext cx="868680" cy="256032"/>
          </a:xfrm>
          <a:prstGeom prst="rect">
            <a:avLst/>
          </a:prstGeom>
          <a:solidFill>
            <a:srgbClr val="27AE60"/>
          </a:solidFill>
          <a:ln w="12700">
            <a:solidFill>
              <a:srgbClr val="27AE60"/>
            </a:solidFill>
            <a:prstDash val="solid"/>
          </a:ln>
        </p:spPr>
      </p:sp>
      <p:sp>
        <p:nvSpPr>
          <p:cNvPr id="33" name="Text 31"/>
          <p:cNvSpPr/>
          <p:nvPr/>
        </p:nvSpPr>
        <p:spPr>
          <a:xfrm>
            <a:off x="8183880" y="2423160"/>
            <a:ext cx="868680" cy="256032"/>
          </a:xfrm>
          <a:prstGeom prst="rect">
            <a:avLst/>
          </a:prstGeom>
          <a:noFill/>
          <a:ln/>
        </p:spPr>
        <p:txBody>
          <a:bodyPr wrap="square" lIns="0" tIns="0" rIns="0" bIns="0" rtlCol="0" anchor="ctr"/>
          <a:lstStyle/>
          <a:p>
            <a:pPr algn="ctr" indent="0" marL="0">
              <a:buNone/>
            </a:pPr>
            <a:r>
              <a:rPr lang="en-US" sz="750" b="1" dirty="0">
                <a:solidFill>
                  <a:srgbClr val="FFFFFF"/>
                </a:solidFill>
              </a:rPr>
              <a:t>PRIMARY</a:t>
            </a:r>
            <a:endParaRPr lang="en-US" sz="750" dirty="0"/>
          </a:p>
        </p:txBody>
      </p:sp>
      <p:sp>
        <p:nvSpPr>
          <p:cNvPr id="34" name="Shape 32"/>
          <p:cNvSpPr/>
          <p:nvPr/>
        </p:nvSpPr>
        <p:spPr>
          <a:xfrm>
            <a:off x="365760" y="2816352"/>
            <a:ext cx="8686800" cy="438912"/>
          </a:xfrm>
          <a:prstGeom prst="rect">
            <a:avLst/>
          </a:prstGeom>
          <a:solidFill>
            <a:srgbClr val="F7F9FB"/>
          </a:solidFill>
          <a:ln w="5080">
            <a:solidFill>
              <a:srgbClr val="E2E8F0"/>
            </a:solidFill>
            <a:prstDash val="solid"/>
          </a:ln>
        </p:spPr>
      </p:sp>
      <p:sp>
        <p:nvSpPr>
          <p:cNvPr id="35" name="Shape 33"/>
          <p:cNvSpPr/>
          <p:nvPr/>
        </p:nvSpPr>
        <p:spPr>
          <a:xfrm>
            <a:off x="365760" y="2907792"/>
            <a:ext cx="54864" cy="274320"/>
          </a:xfrm>
          <a:prstGeom prst="rect">
            <a:avLst/>
          </a:prstGeom>
          <a:solidFill>
            <a:srgbClr val="028090"/>
          </a:solidFill>
          <a:ln w="12700">
            <a:solidFill>
              <a:srgbClr val="028090"/>
            </a:solidFill>
            <a:prstDash val="solid"/>
          </a:ln>
        </p:spPr>
      </p:sp>
      <p:sp>
        <p:nvSpPr>
          <p:cNvPr id="36" name="Text 34"/>
          <p:cNvSpPr/>
          <p:nvPr/>
        </p:nvSpPr>
        <p:spPr>
          <a:xfrm>
            <a:off x="457200" y="2816352"/>
            <a:ext cx="4069080" cy="438912"/>
          </a:xfrm>
          <a:prstGeom prst="rect">
            <a:avLst/>
          </a:prstGeom>
          <a:noFill/>
          <a:ln/>
        </p:spPr>
        <p:txBody>
          <a:bodyPr wrap="square" lIns="0" tIns="0" rIns="0" bIns="0" rtlCol="0" anchor="ctr"/>
          <a:lstStyle/>
          <a:p>
            <a:pPr indent="0" marL="0">
              <a:buNone/>
            </a:pPr>
            <a:r>
              <a:rPr lang="en-US" sz="1000" dirty="0">
                <a:solidFill>
                  <a:srgbClr val="334155"/>
                </a:solidFill>
              </a:rPr>
              <a:t>Solar Scout AI (Reddit/FB intent mine)</a:t>
            </a:r>
            <a:endParaRPr lang="en-US" sz="1000" dirty="0"/>
          </a:p>
        </p:txBody>
      </p:sp>
      <p:sp>
        <p:nvSpPr>
          <p:cNvPr id="37" name="Text 35"/>
          <p:cNvSpPr/>
          <p:nvPr/>
        </p:nvSpPr>
        <p:spPr>
          <a:xfrm>
            <a:off x="4572000" y="2816352"/>
            <a:ext cx="1005840" cy="438912"/>
          </a:xfrm>
          <a:prstGeom prst="rect">
            <a:avLst/>
          </a:prstGeom>
          <a:noFill/>
          <a:ln/>
        </p:spPr>
        <p:txBody>
          <a:bodyPr wrap="square" lIns="0" tIns="0" rIns="0" bIns="0" rtlCol="0" anchor="ctr"/>
          <a:lstStyle/>
          <a:p>
            <a:pPr indent="0" marL="0">
              <a:buNone/>
            </a:pPr>
            <a:r>
              <a:rPr lang="en-US" sz="1000" b="1" dirty="0">
                <a:solidFill>
                  <a:srgbClr val="0B1F3A"/>
                </a:solidFill>
              </a:rPr>
              <a:t>$11–15</a:t>
            </a:r>
            <a:endParaRPr lang="en-US" sz="1000" dirty="0"/>
          </a:p>
        </p:txBody>
      </p:sp>
      <p:sp>
        <p:nvSpPr>
          <p:cNvPr id="38" name="Text 36"/>
          <p:cNvSpPr/>
          <p:nvPr/>
        </p:nvSpPr>
        <p:spPr>
          <a:xfrm>
            <a:off x="5623560" y="2816352"/>
            <a:ext cx="1051560" cy="438912"/>
          </a:xfrm>
          <a:prstGeom prst="rect">
            <a:avLst/>
          </a:prstGeom>
          <a:noFill/>
          <a:ln/>
        </p:spPr>
        <p:txBody>
          <a:bodyPr wrap="square" lIns="0" tIns="0" rIns="0" bIns="0" rtlCol="0" anchor="ctr"/>
          <a:lstStyle/>
          <a:p>
            <a:pPr indent="0" marL="0">
              <a:buNone/>
            </a:pPr>
            <a:r>
              <a:rPr lang="en-US" sz="1000" dirty="0">
                <a:solidFill>
                  <a:srgbClr val="334155"/>
                </a:solidFill>
              </a:rPr>
              <a:t>30–45%</a:t>
            </a:r>
            <a:endParaRPr lang="en-US" sz="1000" dirty="0"/>
          </a:p>
        </p:txBody>
      </p:sp>
      <p:sp>
        <p:nvSpPr>
          <p:cNvPr id="39" name="Text 37"/>
          <p:cNvSpPr/>
          <p:nvPr/>
        </p:nvSpPr>
        <p:spPr>
          <a:xfrm>
            <a:off x="6720840" y="2816352"/>
            <a:ext cx="1417320" cy="438912"/>
          </a:xfrm>
          <a:prstGeom prst="rect">
            <a:avLst/>
          </a:prstGeom>
          <a:noFill/>
          <a:ln/>
        </p:spPr>
        <p:txBody>
          <a:bodyPr wrap="square" lIns="0" tIns="0" rIns="0" bIns="0" rtlCol="0" anchor="ctr"/>
          <a:lstStyle/>
          <a:p>
            <a:pPr indent="0" marL="0">
              <a:buNone/>
            </a:pPr>
            <a:r>
              <a:rPr lang="en-US" sz="1000" dirty="0">
                <a:solidFill>
                  <a:srgbClr val="334155"/>
                </a:solidFill>
              </a:rPr>
              <a:t>High — already shopping</a:t>
            </a:r>
            <a:endParaRPr lang="en-US" sz="1000" dirty="0"/>
          </a:p>
        </p:txBody>
      </p:sp>
      <p:sp>
        <p:nvSpPr>
          <p:cNvPr id="40" name="Shape 38"/>
          <p:cNvSpPr/>
          <p:nvPr/>
        </p:nvSpPr>
        <p:spPr>
          <a:xfrm>
            <a:off x="8183880" y="2898648"/>
            <a:ext cx="868680" cy="256032"/>
          </a:xfrm>
          <a:prstGeom prst="rect">
            <a:avLst/>
          </a:prstGeom>
          <a:solidFill>
            <a:srgbClr val="028090"/>
          </a:solidFill>
          <a:ln w="12700">
            <a:solidFill>
              <a:srgbClr val="028090"/>
            </a:solidFill>
            <a:prstDash val="solid"/>
          </a:ln>
        </p:spPr>
      </p:sp>
      <p:sp>
        <p:nvSpPr>
          <p:cNvPr id="41" name="Text 39"/>
          <p:cNvSpPr/>
          <p:nvPr/>
        </p:nvSpPr>
        <p:spPr>
          <a:xfrm>
            <a:off x="8183880" y="2898648"/>
            <a:ext cx="868680" cy="256032"/>
          </a:xfrm>
          <a:prstGeom prst="rect">
            <a:avLst/>
          </a:prstGeom>
          <a:noFill/>
          <a:ln/>
        </p:spPr>
        <p:txBody>
          <a:bodyPr wrap="square" lIns="0" tIns="0" rIns="0" bIns="0" rtlCol="0" anchor="ctr"/>
          <a:lstStyle/>
          <a:p>
            <a:pPr algn="ctr" indent="0" marL="0">
              <a:buNone/>
            </a:pPr>
            <a:r>
              <a:rPr lang="en-US" sz="750" b="1" dirty="0">
                <a:solidFill>
                  <a:srgbClr val="FFFFFF"/>
                </a:solidFill>
              </a:rPr>
              <a:t>USE</a:t>
            </a:r>
            <a:endParaRPr lang="en-US" sz="750" dirty="0"/>
          </a:p>
        </p:txBody>
      </p:sp>
      <p:sp>
        <p:nvSpPr>
          <p:cNvPr id="42" name="Shape 40"/>
          <p:cNvSpPr/>
          <p:nvPr/>
        </p:nvSpPr>
        <p:spPr>
          <a:xfrm>
            <a:off x="365760" y="3291840"/>
            <a:ext cx="8686800" cy="438912"/>
          </a:xfrm>
          <a:prstGeom prst="rect">
            <a:avLst/>
          </a:prstGeom>
          <a:solidFill>
            <a:srgbClr val="FFFFFF"/>
          </a:solidFill>
          <a:ln w="5080">
            <a:solidFill>
              <a:srgbClr val="E2E8F0"/>
            </a:solidFill>
            <a:prstDash val="solid"/>
          </a:ln>
        </p:spPr>
      </p:sp>
      <p:sp>
        <p:nvSpPr>
          <p:cNvPr id="43" name="Shape 41"/>
          <p:cNvSpPr/>
          <p:nvPr/>
        </p:nvSpPr>
        <p:spPr>
          <a:xfrm>
            <a:off x="365760" y="3383280"/>
            <a:ext cx="54864" cy="274320"/>
          </a:xfrm>
          <a:prstGeom prst="rect">
            <a:avLst/>
          </a:prstGeom>
          <a:solidFill>
            <a:srgbClr val="27AE60"/>
          </a:solidFill>
          <a:ln w="12700">
            <a:solidFill>
              <a:srgbClr val="27AE60"/>
            </a:solidFill>
            <a:prstDash val="solid"/>
          </a:ln>
        </p:spPr>
      </p:sp>
      <p:sp>
        <p:nvSpPr>
          <p:cNvPr id="44" name="Text 42"/>
          <p:cNvSpPr/>
          <p:nvPr/>
        </p:nvSpPr>
        <p:spPr>
          <a:xfrm>
            <a:off x="457200" y="3291840"/>
            <a:ext cx="4069080" cy="438912"/>
          </a:xfrm>
          <a:prstGeom prst="rect">
            <a:avLst/>
          </a:prstGeom>
          <a:noFill/>
          <a:ln/>
        </p:spPr>
        <p:txBody>
          <a:bodyPr wrap="square" lIns="0" tIns="0" rIns="0" bIns="0" rtlCol="0" anchor="ctr"/>
          <a:lstStyle/>
          <a:p>
            <a:pPr indent="0" marL="0">
              <a:buNone/>
            </a:pPr>
            <a:r>
              <a:rPr lang="en-US" sz="1000" dirty="0">
                <a:solidFill>
                  <a:srgbClr val="334155"/>
                </a:solidFill>
              </a:rPr>
              <a:t>Referral program ($25 credit per referral)</a:t>
            </a:r>
            <a:endParaRPr lang="en-US" sz="1000" dirty="0"/>
          </a:p>
        </p:txBody>
      </p:sp>
      <p:sp>
        <p:nvSpPr>
          <p:cNvPr id="45" name="Text 43"/>
          <p:cNvSpPr/>
          <p:nvPr/>
        </p:nvSpPr>
        <p:spPr>
          <a:xfrm>
            <a:off x="4572000" y="3291840"/>
            <a:ext cx="1005840" cy="438912"/>
          </a:xfrm>
          <a:prstGeom prst="rect">
            <a:avLst/>
          </a:prstGeom>
          <a:noFill/>
          <a:ln/>
        </p:spPr>
        <p:txBody>
          <a:bodyPr wrap="square" lIns="0" tIns="0" rIns="0" bIns="0" rtlCol="0" anchor="ctr"/>
          <a:lstStyle/>
          <a:p>
            <a:pPr indent="0" marL="0">
              <a:buNone/>
            </a:pPr>
            <a:r>
              <a:rPr lang="en-US" sz="1000" b="1" dirty="0">
                <a:solidFill>
                  <a:srgbClr val="0B1F3A"/>
                </a:solidFill>
              </a:rPr>
              <a:t>~$25 credit</a:t>
            </a:r>
            <a:endParaRPr lang="en-US" sz="1000" dirty="0"/>
          </a:p>
        </p:txBody>
      </p:sp>
      <p:sp>
        <p:nvSpPr>
          <p:cNvPr id="46" name="Text 44"/>
          <p:cNvSpPr/>
          <p:nvPr/>
        </p:nvSpPr>
        <p:spPr>
          <a:xfrm>
            <a:off x="5623560" y="3291840"/>
            <a:ext cx="1051560" cy="438912"/>
          </a:xfrm>
          <a:prstGeom prst="rect">
            <a:avLst/>
          </a:prstGeom>
          <a:noFill/>
          <a:ln/>
        </p:spPr>
        <p:txBody>
          <a:bodyPr wrap="square" lIns="0" tIns="0" rIns="0" bIns="0" rtlCol="0" anchor="ctr"/>
          <a:lstStyle/>
          <a:p>
            <a:pPr indent="0" marL="0">
              <a:buNone/>
            </a:pPr>
            <a:r>
              <a:rPr lang="en-US" sz="1000" dirty="0">
                <a:solidFill>
                  <a:srgbClr val="334155"/>
                </a:solidFill>
              </a:rPr>
              <a:t>55–70%</a:t>
            </a:r>
            <a:endParaRPr lang="en-US" sz="1000" dirty="0"/>
          </a:p>
        </p:txBody>
      </p:sp>
      <p:sp>
        <p:nvSpPr>
          <p:cNvPr id="47" name="Text 45"/>
          <p:cNvSpPr/>
          <p:nvPr/>
        </p:nvSpPr>
        <p:spPr>
          <a:xfrm>
            <a:off x="6720840" y="3291840"/>
            <a:ext cx="1417320" cy="438912"/>
          </a:xfrm>
          <a:prstGeom prst="rect">
            <a:avLst/>
          </a:prstGeom>
          <a:noFill/>
          <a:ln/>
        </p:spPr>
        <p:txBody>
          <a:bodyPr wrap="square" lIns="0" tIns="0" rIns="0" bIns="0" rtlCol="0" anchor="ctr"/>
          <a:lstStyle/>
          <a:p>
            <a:pPr indent="0" marL="0">
              <a:buNone/>
            </a:pPr>
            <a:r>
              <a:rPr lang="en-US" sz="1000" dirty="0">
                <a:solidFill>
                  <a:srgbClr val="334155"/>
                </a:solidFill>
              </a:rPr>
              <a:t>Very high — pre-sold</a:t>
            </a:r>
            <a:endParaRPr lang="en-US" sz="1000" dirty="0"/>
          </a:p>
        </p:txBody>
      </p:sp>
      <p:sp>
        <p:nvSpPr>
          <p:cNvPr id="48" name="Shape 46"/>
          <p:cNvSpPr/>
          <p:nvPr/>
        </p:nvSpPr>
        <p:spPr>
          <a:xfrm>
            <a:off x="8183880" y="3374136"/>
            <a:ext cx="868680" cy="256032"/>
          </a:xfrm>
          <a:prstGeom prst="rect">
            <a:avLst/>
          </a:prstGeom>
          <a:solidFill>
            <a:srgbClr val="27AE60"/>
          </a:solidFill>
          <a:ln w="12700">
            <a:solidFill>
              <a:srgbClr val="27AE60"/>
            </a:solidFill>
            <a:prstDash val="solid"/>
          </a:ln>
        </p:spPr>
      </p:sp>
      <p:sp>
        <p:nvSpPr>
          <p:cNvPr id="49" name="Text 47"/>
          <p:cNvSpPr/>
          <p:nvPr/>
        </p:nvSpPr>
        <p:spPr>
          <a:xfrm>
            <a:off x="8183880" y="3374136"/>
            <a:ext cx="868680" cy="256032"/>
          </a:xfrm>
          <a:prstGeom prst="rect">
            <a:avLst/>
          </a:prstGeom>
          <a:noFill/>
          <a:ln/>
        </p:spPr>
        <p:txBody>
          <a:bodyPr wrap="square" lIns="0" tIns="0" rIns="0" bIns="0" rtlCol="0" anchor="ctr"/>
          <a:lstStyle/>
          <a:p>
            <a:pPr algn="ctr" indent="0" marL="0">
              <a:buNone/>
            </a:pPr>
            <a:r>
              <a:rPr lang="en-US" sz="750" b="1" dirty="0">
                <a:solidFill>
                  <a:srgbClr val="FFFFFF"/>
                </a:solidFill>
              </a:rPr>
              <a:t>PRIMARY</a:t>
            </a:r>
            <a:endParaRPr lang="en-US" sz="750" dirty="0"/>
          </a:p>
        </p:txBody>
      </p:sp>
      <p:sp>
        <p:nvSpPr>
          <p:cNvPr id="50" name="Shape 48"/>
          <p:cNvSpPr/>
          <p:nvPr/>
        </p:nvSpPr>
        <p:spPr>
          <a:xfrm>
            <a:off x="365760" y="3767328"/>
            <a:ext cx="8686800" cy="438912"/>
          </a:xfrm>
          <a:prstGeom prst="rect">
            <a:avLst/>
          </a:prstGeom>
          <a:solidFill>
            <a:srgbClr val="F7F9FB"/>
          </a:solidFill>
          <a:ln w="5080">
            <a:solidFill>
              <a:srgbClr val="E2E8F0"/>
            </a:solidFill>
            <a:prstDash val="solid"/>
          </a:ln>
        </p:spPr>
      </p:sp>
      <p:sp>
        <p:nvSpPr>
          <p:cNvPr id="51" name="Shape 49"/>
          <p:cNvSpPr/>
          <p:nvPr/>
        </p:nvSpPr>
        <p:spPr>
          <a:xfrm>
            <a:off x="365760" y="3858768"/>
            <a:ext cx="54864" cy="274320"/>
          </a:xfrm>
          <a:prstGeom prst="rect">
            <a:avLst/>
          </a:prstGeom>
          <a:solidFill>
            <a:srgbClr val="27AE60"/>
          </a:solidFill>
          <a:ln w="12700">
            <a:solidFill>
              <a:srgbClr val="27AE60"/>
            </a:solidFill>
            <a:prstDash val="solid"/>
          </a:ln>
        </p:spPr>
      </p:sp>
      <p:sp>
        <p:nvSpPr>
          <p:cNvPr id="52" name="Text 50"/>
          <p:cNvSpPr/>
          <p:nvPr/>
        </p:nvSpPr>
        <p:spPr>
          <a:xfrm>
            <a:off x="457200" y="3767328"/>
            <a:ext cx="4069080" cy="438912"/>
          </a:xfrm>
          <a:prstGeom prst="rect">
            <a:avLst/>
          </a:prstGeom>
          <a:noFill/>
          <a:ln/>
        </p:spPr>
        <p:txBody>
          <a:bodyPr wrap="square" lIns="0" tIns="0" rIns="0" bIns="0" rtlCol="0" anchor="ctr"/>
          <a:lstStyle/>
          <a:p>
            <a:pPr indent="0" marL="0">
              <a:buNone/>
            </a:pPr>
            <a:r>
              <a:rPr lang="en-US" sz="1000" dirty="0">
                <a:solidFill>
                  <a:srgbClr val="334155"/>
                </a:solidFill>
              </a:rPr>
              <a:t>'While I'm here' neighbor pitch post-job</a:t>
            </a:r>
            <a:endParaRPr lang="en-US" sz="1000" dirty="0"/>
          </a:p>
        </p:txBody>
      </p:sp>
      <p:sp>
        <p:nvSpPr>
          <p:cNvPr id="53" name="Text 51"/>
          <p:cNvSpPr/>
          <p:nvPr/>
        </p:nvSpPr>
        <p:spPr>
          <a:xfrm>
            <a:off x="4572000" y="3767328"/>
            <a:ext cx="1005840" cy="438912"/>
          </a:xfrm>
          <a:prstGeom prst="rect">
            <a:avLst/>
          </a:prstGeom>
          <a:noFill/>
          <a:ln/>
        </p:spPr>
        <p:txBody>
          <a:bodyPr wrap="square" lIns="0" tIns="0" rIns="0" bIns="0" rtlCol="0" anchor="ctr"/>
          <a:lstStyle/>
          <a:p>
            <a:pPr indent="0" marL="0">
              <a:buNone/>
            </a:pPr>
            <a:r>
              <a:rPr lang="en-US" sz="1000" b="1" dirty="0">
                <a:solidFill>
                  <a:srgbClr val="0B1F3A"/>
                </a:solidFill>
              </a:rPr>
              <a:t>$0 (time only)</a:t>
            </a:r>
            <a:endParaRPr lang="en-US" sz="1000" dirty="0"/>
          </a:p>
        </p:txBody>
      </p:sp>
      <p:sp>
        <p:nvSpPr>
          <p:cNvPr id="54" name="Text 52"/>
          <p:cNvSpPr/>
          <p:nvPr/>
        </p:nvSpPr>
        <p:spPr>
          <a:xfrm>
            <a:off x="5623560" y="3767328"/>
            <a:ext cx="1051560" cy="438912"/>
          </a:xfrm>
          <a:prstGeom prst="rect">
            <a:avLst/>
          </a:prstGeom>
          <a:noFill/>
          <a:ln/>
        </p:spPr>
        <p:txBody>
          <a:bodyPr wrap="square" lIns="0" tIns="0" rIns="0" bIns="0" rtlCol="0" anchor="ctr"/>
          <a:lstStyle/>
          <a:p>
            <a:pPr indent="0" marL="0">
              <a:buNone/>
            </a:pPr>
            <a:r>
              <a:rPr lang="en-US" sz="1000" dirty="0">
                <a:solidFill>
                  <a:srgbClr val="334155"/>
                </a:solidFill>
              </a:rPr>
              <a:t>15–25%</a:t>
            </a:r>
            <a:endParaRPr lang="en-US" sz="1000" dirty="0"/>
          </a:p>
        </p:txBody>
      </p:sp>
      <p:sp>
        <p:nvSpPr>
          <p:cNvPr id="55" name="Text 53"/>
          <p:cNvSpPr/>
          <p:nvPr/>
        </p:nvSpPr>
        <p:spPr>
          <a:xfrm>
            <a:off x="6720840" y="3767328"/>
            <a:ext cx="1417320" cy="438912"/>
          </a:xfrm>
          <a:prstGeom prst="rect">
            <a:avLst/>
          </a:prstGeom>
          <a:noFill/>
          <a:ln/>
        </p:spPr>
        <p:txBody>
          <a:bodyPr wrap="square" lIns="0" tIns="0" rIns="0" bIns="0" rtlCol="0" anchor="ctr"/>
          <a:lstStyle/>
          <a:p>
            <a:pPr indent="0" marL="0">
              <a:buNone/>
            </a:pPr>
            <a:r>
              <a:rPr lang="en-US" sz="1000" dirty="0">
                <a:solidFill>
                  <a:srgbClr val="334155"/>
                </a:solidFill>
              </a:rPr>
              <a:t>High — live demo proof</a:t>
            </a:r>
            <a:endParaRPr lang="en-US" sz="1000" dirty="0"/>
          </a:p>
        </p:txBody>
      </p:sp>
      <p:sp>
        <p:nvSpPr>
          <p:cNvPr id="56" name="Shape 54"/>
          <p:cNvSpPr/>
          <p:nvPr/>
        </p:nvSpPr>
        <p:spPr>
          <a:xfrm>
            <a:off x="8183880" y="3849624"/>
            <a:ext cx="868680" cy="256032"/>
          </a:xfrm>
          <a:prstGeom prst="rect">
            <a:avLst/>
          </a:prstGeom>
          <a:solidFill>
            <a:srgbClr val="27AE60"/>
          </a:solidFill>
          <a:ln w="12700">
            <a:solidFill>
              <a:srgbClr val="27AE60"/>
            </a:solidFill>
            <a:prstDash val="solid"/>
          </a:ln>
        </p:spPr>
      </p:sp>
      <p:sp>
        <p:nvSpPr>
          <p:cNvPr id="57" name="Text 55"/>
          <p:cNvSpPr/>
          <p:nvPr/>
        </p:nvSpPr>
        <p:spPr>
          <a:xfrm>
            <a:off x="8183880" y="3849624"/>
            <a:ext cx="868680" cy="256032"/>
          </a:xfrm>
          <a:prstGeom prst="rect">
            <a:avLst/>
          </a:prstGeom>
          <a:noFill/>
          <a:ln/>
        </p:spPr>
        <p:txBody>
          <a:bodyPr wrap="square" lIns="0" tIns="0" rIns="0" bIns="0" rtlCol="0" anchor="ctr"/>
          <a:lstStyle/>
          <a:p>
            <a:pPr algn="ctr" indent="0" marL="0">
              <a:buNone/>
            </a:pPr>
            <a:r>
              <a:rPr lang="en-US" sz="750" b="1" dirty="0">
                <a:solidFill>
                  <a:srgbClr val="FFFFFF"/>
                </a:solidFill>
              </a:rPr>
              <a:t>PRIMARY</a:t>
            </a:r>
            <a:endParaRPr lang="en-US" sz="750" dirty="0"/>
          </a:p>
        </p:txBody>
      </p:sp>
      <p:sp>
        <p:nvSpPr>
          <p:cNvPr id="58" name="Shape 56"/>
          <p:cNvSpPr/>
          <p:nvPr/>
        </p:nvSpPr>
        <p:spPr>
          <a:xfrm>
            <a:off x="365760" y="4242816"/>
            <a:ext cx="8686800" cy="438912"/>
          </a:xfrm>
          <a:prstGeom prst="rect">
            <a:avLst/>
          </a:prstGeom>
          <a:solidFill>
            <a:srgbClr val="FFFFFF"/>
          </a:solidFill>
          <a:ln w="5080">
            <a:solidFill>
              <a:srgbClr val="E2E8F0"/>
            </a:solidFill>
            <a:prstDash val="solid"/>
          </a:ln>
        </p:spPr>
      </p:sp>
      <p:sp>
        <p:nvSpPr>
          <p:cNvPr id="59" name="Shape 57"/>
          <p:cNvSpPr/>
          <p:nvPr/>
        </p:nvSpPr>
        <p:spPr>
          <a:xfrm>
            <a:off x="365760" y="4334256"/>
            <a:ext cx="54864" cy="274320"/>
          </a:xfrm>
          <a:prstGeom prst="rect">
            <a:avLst/>
          </a:prstGeom>
          <a:solidFill>
            <a:srgbClr val="028090"/>
          </a:solidFill>
          <a:ln w="12700">
            <a:solidFill>
              <a:srgbClr val="028090"/>
            </a:solidFill>
            <a:prstDash val="solid"/>
          </a:ln>
        </p:spPr>
      </p:sp>
      <p:sp>
        <p:nvSpPr>
          <p:cNvPr id="60" name="Text 58"/>
          <p:cNvSpPr/>
          <p:nvPr/>
        </p:nvSpPr>
        <p:spPr>
          <a:xfrm>
            <a:off x="457200" y="4242816"/>
            <a:ext cx="4069080" cy="438912"/>
          </a:xfrm>
          <a:prstGeom prst="rect">
            <a:avLst/>
          </a:prstGeom>
          <a:noFill/>
          <a:ln/>
        </p:spPr>
        <p:txBody>
          <a:bodyPr wrap="square" lIns="0" tIns="0" rIns="0" bIns="0" rtlCol="0" anchor="ctr"/>
          <a:lstStyle/>
          <a:p>
            <a:pPr indent="0" marL="0">
              <a:buNone/>
            </a:pPr>
            <a:r>
              <a:rPr lang="en-US" sz="1000" dirty="0">
                <a:solidFill>
                  <a:srgbClr val="334155"/>
                </a:solidFill>
              </a:rPr>
              <a:t>Door hanger blitz (new subdivisions)</a:t>
            </a:r>
            <a:endParaRPr lang="en-US" sz="1000" dirty="0"/>
          </a:p>
        </p:txBody>
      </p:sp>
      <p:sp>
        <p:nvSpPr>
          <p:cNvPr id="61" name="Text 59"/>
          <p:cNvSpPr/>
          <p:nvPr/>
        </p:nvSpPr>
        <p:spPr>
          <a:xfrm>
            <a:off x="4572000" y="4242816"/>
            <a:ext cx="1005840" cy="438912"/>
          </a:xfrm>
          <a:prstGeom prst="rect">
            <a:avLst/>
          </a:prstGeom>
          <a:noFill/>
          <a:ln/>
        </p:spPr>
        <p:txBody>
          <a:bodyPr wrap="square" lIns="0" tIns="0" rIns="0" bIns="0" rtlCol="0" anchor="ctr"/>
          <a:lstStyle/>
          <a:p>
            <a:pPr indent="0" marL="0">
              <a:buNone/>
            </a:pPr>
            <a:r>
              <a:rPr lang="en-US" sz="1000" b="1" dirty="0">
                <a:solidFill>
                  <a:srgbClr val="0B1F3A"/>
                </a:solidFill>
              </a:rPr>
              <a:t>$0.08/home</a:t>
            </a:r>
            <a:endParaRPr lang="en-US" sz="1000" dirty="0"/>
          </a:p>
        </p:txBody>
      </p:sp>
      <p:sp>
        <p:nvSpPr>
          <p:cNvPr id="62" name="Text 60"/>
          <p:cNvSpPr/>
          <p:nvPr/>
        </p:nvSpPr>
        <p:spPr>
          <a:xfrm>
            <a:off x="5623560" y="4242816"/>
            <a:ext cx="1051560" cy="438912"/>
          </a:xfrm>
          <a:prstGeom prst="rect">
            <a:avLst/>
          </a:prstGeom>
          <a:noFill/>
          <a:ln/>
        </p:spPr>
        <p:txBody>
          <a:bodyPr wrap="square" lIns="0" tIns="0" rIns="0" bIns="0" rtlCol="0" anchor="ctr"/>
          <a:lstStyle/>
          <a:p>
            <a:pPr indent="0" marL="0">
              <a:buNone/>
            </a:pPr>
            <a:r>
              <a:rPr lang="en-US" sz="1000" dirty="0">
                <a:solidFill>
                  <a:srgbClr val="334155"/>
                </a:solidFill>
              </a:rPr>
              <a:t>3–8%</a:t>
            </a:r>
            <a:endParaRPr lang="en-US" sz="1000" dirty="0"/>
          </a:p>
        </p:txBody>
      </p:sp>
      <p:sp>
        <p:nvSpPr>
          <p:cNvPr id="63" name="Text 61"/>
          <p:cNvSpPr/>
          <p:nvPr/>
        </p:nvSpPr>
        <p:spPr>
          <a:xfrm>
            <a:off x="6720840" y="4242816"/>
            <a:ext cx="1417320" cy="438912"/>
          </a:xfrm>
          <a:prstGeom prst="rect">
            <a:avLst/>
          </a:prstGeom>
          <a:noFill/>
          <a:ln/>
        </p:spPr>
        <p:txBody>
          <a:bodyPr wrap="square" lIns="0" tIns="0" rIns="0" bIns="0" rtlCol="0" anchor="ctr"/>
          <a:lstStyle/>
          <a:p>
            <a:pPr indent="0" marL="0">
              <a:buNone/>
            </a:pPr>
            <a:r>
              <a:rPr lang="en-US" sz="1000" dirty="0">
                <a:solidFill>
                  <a:srgbClr val="334155"/>
                </a:solidFill>
              </a:rPr>
              <a:t>Med — high volume moat</a:t>
            </a:r>
            <a:endParaRPr lang="en-US" sz="1000" dirty="0"/>
          </a:p>
        </p:txBody>
      </p:sp>
      <p:sp>
        <p:nvSpPr>
          <p:cNvPr id="64" name="Shape 62"/>
          <p:cNvSpPr/>
          <p:nvPr/>
        </p:nvSpPr>
        <p:spPr>
          <a:xfrm>
            <a:off x="8183880" y="4325112"/>
            <a:ext cx="868680" cy="256032"/>
          </a:xfrm>
          <a:prstGeom prst="rect">
            <a:avLst/>
          </a:prstGeom>
          <a:solidFill>
            <a:srgbClr val="028090"/>
          </a:solidFill>
          <a:ln w="12700">
            <a:solidFill>
              <a:srgbClr val="028090"/>
            </a:solidFill>
            <a:prstDash val="solid"/>
          </a:ln>
        </p:spPr>
      </p:sp>
      <p:sp>
        <p:nvSpPr>
          <p:cNvPr id="65" name="Text 63"/>
          <p:cNvSpPr/>
          <p:nvPr/>
        </p:nvSpPr>
        <p:spPr>
          <a:xfrm>
            <a:off x="8183880" y="4325112"/>
            <a:ext cx="868680" cy="256032"/>
          </a:xfrm>
          <a:prstGeom prst="rect">
            <a:avLst/>
          </a:prstGeom>
          <a:noFill/>
          <a:ln/>
        </p:spPr>
        <p:txBody>
          <a:bodyPr wrap="square" lIns="0" tIns="0" rIns="0" bIns="0" rtlCol="0" anchor="ctr"/>
          <a:lstStyle/>
          <a:p>
            <a:pPr algn="ctr" indent="0" marL="0">
              <a:buNone/>
            </a:pPr>
            <a:r>
              <a:rPr lang="en-US" sz="750" b="1" dirty="0">
                <a:solidFill>
                  <a:srgbClr val="FFFFFF"/>
                </a:solidFill>
              </a:rPr>
              <a:t>USE</a:t>
            </a:r>
            <a:endParaRPr lang="en-US" sz="750" dirty="0"/>
          </a:p>
        </p:txBody>
      </p:sp>
      <p:sp>
        <p:nvSpPr>
          <p:cNvPr id="66" name="Shape 64"/>
          <p:cNvSpPr/>
          <p:nvPr/>
        </p:nvSpPr>
        <p:spPr>
          <a:xfrm>
            <a:off x="365760" y="4727448"/>
            <a:ext cx="8686800" cy="320040"/>
          </a:xfrm>
          <a:prstGeom prst="rect">
            <a:avLst/>
          </a:prstGeom>
          <a:solidFill>
            <a:srgbClr val="0B1F3A"/>
          </a:solidFill>
          <a:ln w="12700">
            <a:solidFill>
              <a:srgbClr val="0B1F3A"/>
            </a:solidFill>
            <a:prstDash val="solid"/>
          </a:ln>
        </p:spPr>
      </p:sp>
      <p:sp>
        <p:nvSpPr>
          <p:cNvPr id="67" name="Text 65"/>
          <p:cNvSpPr/>
          <p:nvPr/>
        </p:nvSpPr>
        <p:spPr>
          <a:xfrm>
            <a:off x="457200" y="4745736"/>
            <a:ext cx="8503920" cy="274320"/>
          </a:xfrm>
          <a:prstGeom prst="rect">
            <a:avLst/>
          </a:prstGeom>
          <a:noFill/>
          <a:ln/>
        </p:spPr>
        <p:txBody>
          <a:bodyPr wrap="square" lIns="0" tIns="0" rIns="0" bIns="0" rtlCol="0" anchor="ctr"/>
          <a:lstStyle/>
          <a:p>
            <a:pPr algn="ctr" indent="0" marL="0">
              <a:buNone/>
            </a:pPr>
            <a:r>
              <a:rPr lang="en-US" sz="1050" b="1" dirty="0">
                <a:solidFill>
                  <a:srgbClr val="F4B942"/>
                </a:solidFill>
              </a:rPr>
              <a:t>Blended CAC target: $14.50  ·  LTV per subscriber: $420+/yr  ·  LTV:CAC = 29:1  ·  Roger's CAC is 15× lower than industry average</a:t>
            </a:r>
            <a:endParaRPr lang="en-US" sz="10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indent="0" marL="0">
              <a:buNone/>
            </a:pPr>
            <a:r>
              <a:rPr lang="en-US" sz="1300" b="1" spc="500" kern="0" dirty="0">
                <a:solidFill>
                  <a:srgbClr val="F4B942"/>
                </a:solidFill>
              </a:rPr>
              <a:t>NEW NEIGHBORHOOD ENTRY — 5-STEP PLAYBOOK</a:t>
            </a:r>
            <a:endParaRPr lang="en-US" sz="1300" dirty="0"/>
          </a:p>
        </p:txBody>
      </p:sp>
      <p:sp>
        <p:nvSpPr>
          <p:cNvPr id="4" name="Shape 2"/>
          <p:cNvSpPr/>
          <p:nvPr/>
        </p:nvSpPr>
        <p:spPr>
          <a:xfrm>
            <a:off x="274320" y="804672"/>
            <a:ext cx="530352" cy="658368"/>
          </a:xfrm>
          <a:prstGeom prst="rect">
            <a:avLst/>
          </a:prstGeom>
          <a:solidFill>
            <a:srgbClr val="028090"/>
          </a:solidFill>
          <a:ln w="12700">
            <a:solidFill>
              <a:srgbClr val="028090"/>
            </a:solidFill>
            <a:prstDash val="solid"/>
          </a:ln>
        </p:spPr>
      </p:sp>
      <p:sp>
        <p:nvSpPr>
          <p:cNvPr id="5" name="Text 3"/>
          <p:cNvSpPr/>
          <p:nvPr/>
        </p:nvSpPr>
        <p:spPr>
          <a:xfrm>
            <a:off x="274320" y="804672"/>
            <a:ext cx="530352" cy="658368"/>
          </a:xfrm>
          <a:prstGeom prst="rect">
            <a:avLst/>
          </a:prstGeom>
          <a:noFill/>
          <a:ln/>
        </p:spPr>
        <p:txBody>
          <a:bodyPr wrap="square" lIns="0" tIns="0" rIns="0" bIns="0" rtlCol="0" anchor="ctr"/>
          <a:lstStyle/>
          <a:p>
            <a:pPr algn="ctr" indent="0" marL="0">
              <a:buNone/>
            </a:pPr>
            <a:r>
              <a:rPr lang="en-US" sz="1700" b="1" dirty="0">
                <a:solidFill>
                  <a:srgbClr val="FFFFFF"/>
                </a:solidFill>
              </a:rPr>
              <a:t>01</a:t>
            </a:r>
            <a:endParaRPr lang="en-US" sz="1700" dirty="0"/>
          </a:p>
        </p:txBody>
      </p:sp>
      <p:sp>
        <p:nvSpPr>
          <p:cNvPr id="6" name="Shape 4"/>
          <p:cNvSpPr/>
          <p:nvPr/>
        </p:nvSpPr>
        <p:spPr>
          <a:xfrm>
            <a:off x="841248" y="804672"/>
            <a:ext cx="8028432" cy="658368"/>
          </a:xfrm>
          <a:prstGeom prst="rect">
            <a:avLst/>
          </a:prstGeom>
          <a:solidFill>
            <a:srgbClr val="FFFFFF"/>
          </a:solidFill>
          <a:ln w="6350">
            <a:solidFill>
              <a:srgbClr val="E2E8F0"/>
            </a:solidFill>
            <a:prstDash val="solid"/>
          </a:ln>
        </p:spPr>
      </p:sp>
      <p:sp>
        <p:nvSpPr>
          <p:cNvPr id="7" name="Text 5"/>
          <p:cNvSpPr/>
          <p:nvPr/>
        </p:nvSpPr>
        <p:spPr>
          <a:xfrm>
            <a:off x="960120" y="868680"/>
            <a:ext cx="7818120" cy="256032"/>
          </a:xfrm>
          <a:prstGeom prst="rect">
            <a:avLst/>
          </a:prstGeom>
          <a:noFill/>
          <a:ln/>
        </p:spPr>
        <p:txBody>
          <a:bodyPr wrap="square" lIns="0" tIns="0" rIns="0" bIns="0" rtlCol="0" anchor="ctr"/>
          <a:lstStyle/>
          <a:p>
            <a:pPr indent="0" marL="0">
              <a:buNone/>
            </a:pPr>
            <a:r>
              <a:rPr lang="en-US" sz="1200" b="1" dirty="0">
                <a:solidFill>
                  <a:srgbClr val="0B1F3A"/>
                </a:solidFill>
              </a:rPr>
              <a:t>Scout the target subdivision:</a:t>
            </a:r>
            <a:endParaRPr lang="en-US" sz="1200" dirty="0"/>
          </a:p>
        </p:txBody>
      </p:sp>
      <p:sp>
        <p:nvSpPr>
          <p:cNvPr id="8" name="Text 6"/>
          <p:cNvSpPr/>
          <p:nvPr/>
        </p:nvSpPr>
        <p:spPr>
          <a:xfrm>
            <a:off x="960120" y="1143000"/>
            <a:ext cx="7818120" cy="256032"/>
          </a:xfrm>
          <a:prstGeom prst="rect">
            <a:avLst/>
          </a:prstGeom>
          <a:noFill/>
          <a:ln/>
        </p:spPr>
        <p:txBody>
          <a:bodyPr wrap="square" lIns="0" tIns="0" rIns="0" bIns="0" rtlCol="0" anchor="ctr"/>
          <a:lstStyle/>
          <a:p>
            <a:pPr indent="0" marL="0">
              <a:buNone/>
            </a:pPr>
            <a:r>
              <a:rPr lang="en-US" sz="1000" dirty="0">
                <a:solidFill>
                  <a:srgbClr val="334155"/>
                </a:solidFill>
              </a:rPr>
              <a:t>Pull subdivision building permits from Placer County records. Use Google Maps solar layer to confirm panel saturation. Target streets built 2022–2026 in Whitney Ranch, Placer One, Amoruso Ranch, Sun City Lincoln Hills. These homeowners just got their systems — they haven't thought about cleaning yet and no competitor has reached them.</a:t>
            </a:r>
            <a:endParaRPr lang="en-US" sz="1000" dirty="0"/>
          </a:p>
        </p:txBody>
      </p:sp>
      <p:sp>
        <p:nvSpPr>
          <p:cNvPr id="9" name="Shape 7"/>
          <p:cNvSpPr/>
          <p:nvPr/>
        </p:nvSpPr>
        <p:spPr>
          <a:xfrm>
            <a:off x="274320" y="1636776"/>
            <a:ext cx="530352" cy="658368"/>
          </a:xfrm>
          <a:prstGeom prst="rect">
            <a:avLst/>
          </a:prstGeom>
          <a:solidFill>
            <a:srgbClr val="028090"/>
          </a:solidFill>
          <a:ln w="12700">
            <a:solidFill>
              <a:srgbClr val="028090"/>
            </a:solidFill>
            <a:prstDash val="solid"/>
          </a:ln>
        </p:spPr>
      </p:sp>
      <p:sp>
        <p:nvSpPr>
          <p:cNvPr id="10" name="Text 8"/>
          <p:cNvSpPr/>
          <p:nvPr/>
        </p:nvSpPr>
        <p:spPr>
          <a:xfrm>
            <a:off x="274320" y="1636776"/>
            <a:ext cx="530352" cy="658368"/>
          </a:xfrm>
          <a:prstGeom prst="rect">
            <a:avLst/>
          </a:prstGeom>
          <a:noFill/>
          <a:ln/>
        </p:spPr>
        <p:txBody>
          <a:bodyPr wrap="square" lIns="0" tIns="0" rIns="0" bIns="0" rtlCol="0" anchor="ctr"/>
          <a:lstStyle/>
          <a:p>
            <a:pPr algn="ctr" indent="0" marL="0">
              <a:buNone/>
            </a:pPr>
            <a:r>
              <a:rPr lang="en-US" sz="1700" b="1" dirty="0">
                <a:solidFill>
                  <a:srgbClr val="FFFFFF"/>
                </a:solidFill>
              </a:rPr>
              <a:t>02</a:t>
            </a:r>
            <a:endParaRPr lang="en-US" sz="1700" dirty="0"/>
          </a:p>
        </p:txBody>
      </p:sp>
      <p:sp>
        <p:nvSpPr>
          <p:cNvPr id="11" name="Shape 9"/>
          <p:cNvSpPr/>
          <p:nvPr/>
        </p:nvSpPr>
        <p:spPr>
          <a:xfrm>
            <a:off x="841248" y="1636776"/>
            <a:ext cx="8028432" cy="658368"/>
          </a:xfrm>
          <a:prstGeom prst="rect">
            <a:avLst/>
          </a:prstGeom>
          <a:solidFill>
            <a:srgbClr val="FFFFFF"/>
          </a:solidFill>
          <a:ln w="6350">
            <a:solidFill>
              <a:srgbClr val="E2E8F0"/>
            </a:solidFill>
            <a:prstDash val="solid"/>
          </a:ln>
        </p:spPr>
      </p:sp>
      <p:sp>
        <p:nvSpPr>
          <p:cNvPr id="12" name="Text 10"/>
          <p:cNvSpPr/>
          <p:nvPr/>
        </p:nvSpPr>
        <p:spPr>
          <a:xfrm>
            <a:off x="960120" y="1700784"/>
            <a:ext cx="7818120" cy="256032"/>
          </a:xfrm>
          <a:prstGeom prst="rect">
            <a:avLst/>
          </a:prstGeom>
          <a:noFill/>
          <a:ln/>
        </p:spPr>
        <p:txBody>
          <a:bodyPr wrap="square" lIns="0" tIns="0" rIns="0" bIns="0" rtlCol="0" anchor="ctr"/>
          <a:lstStyle/>
          <a:p>
            <a:pPr indent="0" marL="0">
              <a:buNone/>
            </a:pPr>
            <a:r>
              <a:rPr lang="en-US" sz="1200" b="1" dirty="0">
                <a:solidFill>
                  <a:srgbClr val="0B1F3A"/>
                </a:solidFill>
              </a:rPr>
              <a:t>The Demo House move:</a:t>
            </a:r>
            <a:endParaRPr lang="en-US" sz="1200" dirty="0"/>
          </a:p>
        </p:txBody>
      </p:sp>
      <p:sp>
        <p:nvSpPr>
          <p:cNvPr id="13" name="Text 11"/>
          <p:cNvSpPr/>
          <p:nvPr/>
        </p:nvSpPr>
        <p:spPr>
          <a:xfrm>
            <a:off x="960120" y="1975104"/>
            <a:ext cx="7818120" cy="256032"/>
          </a:xfrm>
          <a:prstGeom prst="rect">
            <a:avLst/>
          </a:prstGeom>
          <a:noFill/>
          <a:ln/>
        </p:spPr>
        <p:txBody>
          <a:bodyPr wrap="square" lIns="0" tIns="0" rIns="0" bIns="0" rtlCol="0" anchor="ctr"/>
          <a:lstStyle/>
          <a:p>
            <a:pPr indent="0" marL="0">
              <a:buNone/>
            </a:pPr>
            <a:r>
              <a:rPr lang="en-US" sz="1000" dirty="0">
                <a:solidFill>
                  <a:srgbClr val="334155"/>
                </a:solidFill>
              </a:rPr>
              <a:t>Offer one free/discounted clean to the most visible home on the block (corner lot, cul-de-sac center, best curb appeal). Place a door hanger on every adjacent neighbor: 'We just cleaned #[address]. Your panels are probably losing 15–20% efficiency right now. Scan for a free quote →' QR code links to AI chatbot.</a:t>
            </a:r>
            <a:endParaRPr lang="en-US" sz="1000" dirty="0"/>
          </a:p>
        </p:txBody>
      </p:sp>
      <p:sp>
        <p:nvSpPr>
          <p:cNvPr id="14" name="Shape 12"/>
          <p:cNvSpPr/>
          <p:nvPr/>
        </p:nvSpPr>
        <p:spPr>
          <a:xfrm>
            <a:off x="274320" y="2468880"/>
            <a:ext cx="530352" cy="658368"/>
          </a:xfrm>
          <a:prstGeom prst="rect">
            <a:avLst/>
          </a:prstGeom>
          <a:solidFill>
            <a:srgbClr val="028090"/>
          </a:solidFill>
          <a:ln w="12700">
            <a:solidFill>
              <a:srgbClr val="028090"/>
            </a:solidFill>
            <a:prstDash val="solid"/>
          </a:ln>
        </p:spPr>
      </p:sp>
      <p:sp>
        <p:nvSpPr>
          <p:cNvPr id="15" name="Text 13"/>
          <p:cNvSpPr/>
          <p:nvPr/>
        </p:nvSpPr>
        <p:spPr>
          <a:xfrm>
            <a:off x="274320" y="2468880"/>
            <a:ext cx="530352" cy="658368"/>
          </a:xfrm>
          <a:prstGeom prst="rect">
            <a:avLst/>
          </a:prstGeom>
          <a:noFill/>
          <a:ln/>
        </p:spPr>
        <p:txBody>
          <a:bodyPr wrap="square" lIns="0" tIns="0" rIns="0" bIns="0" rtlCol="0" anchor="ctr"/>
          <a:lstStyle/>
          <a:p>
            <a:pPr algn="ctr" indent="0" marL="0">
              <a:buNone/>
            </a:pPr>
            <a:r>
              <a:rPr lang="en-US" sz="1700" b="1" dirty="0">
                <a:solidFill>
                  <a:srgbClr val="FFFFFF"/>
                </a:solidFill>
              </a:rPr>
              <a:t>03</a:t>
            </a:r>
            <a:endParaRPr lang="en-US" sz="1700" dirty="0"/>
          </a:p>
        </p:txBody>
      </p:sp>
      <p:sp>
        <p:nvSpPr>
          <p:cNvPr id="16" name="Shape 14"/>
          <p:cNvSpPr/>
          <p:nvPr/>
        </p:nvSpPr>
        <p:spPr>
          <a:xfrm>
            <a:off x="841248" y="2468880"/>
            <a:ext cx="8028432" cy="658368"/>
          </a:xfrm>
          <a:prstGeom prst="rect">
            <a:avLst/>
          </a:prstGeom>
          <a:solidFill>
            <a:srgbClr val="FFFFFF"/>
          </a:solidFill>
          <a:ln w="6350">
            <a:solidFill>
              <a:srgbClr val="E2E8F0"/>
            </a:solidFill>
            <a:prstDash val="solid"/>
          </a:ln>
        </p:spPr>
      </p:sp>
      <p:sp>
        <p:nvSpPr>
          <p:cNvPr id="17" name="Text 15"/>
          <p:cNvSpPr/>
          <p:nvPr/>
        </p:nvSpPr>
        <p:spPr>
          <a:xfrm>
            <a:off x="960120" y="2532888"/>
            <a:ext cx="7818120" cy="256032"/>
          </a:xfrm>
          <a:prstGeom prst="rect">
            <a:avLst/>
          </a:prstGeom>
          <a:noFill/>
          <a:ln/>
        </p:spPr>
        <p:txBody>
          <a:bodyPr wrap="square" lIns="0" tIns="0" rIns="0" bIns="0" rtlCol="0" anchor="ctr"/>
          <a:lstStyle/>
          <a:p>
            <a:pPr indent="0" marL="0">
              <a:buNone/>
            </a:pPr>
            <a:r>
              <a:rPr lang="en-US" sz="1200" b="1" dirty="0">
                <a:solidFill>
                  <a:srgbClr val="0B1F3A"/>
                </a:solidFill>
              </a:rPr>
              <a:t>Buster goes neighborhood-native:</a:t>
            </a:r>
            <a:endParaRPr lang="en-US" sz="1200" dirty="0"/>
          </a:p>
        </p:txBody>
      </p:sp>
      <p:sp>
        <p:nvSpPr>
          <p:cNvPr id="18" name="Text 16"/>
          <p:cNvSpPr/>
          <p:nvPr/>
        </p:nvSpPr>
        <p:spPr>
          <a:xfrm>
            <a:off x="960120" y="2807208"/>
            <a:ext cx="7818120" cy="256032"/>
          </a:xfrm>
          <a:prstGeom prst="rect">
            <a:avLst/>
          </a:prstGeom>
          <a:noFill/>
          <a:ln/>
        </p:spPr>
        <p:txBody>
          <a:bodyPr wrap="square" lIns="0" tIns="0" rIns="0" bIns="0" rtlCol="0" anchor="ctr"/>
          <a:lstStyle/>
          <a:p>
            <a:pPr indent="0" marL="0">
              <a:buNone/>
            </a:pPr>
            <a:r>
              <a:rPr lang="en-US" sz="1000" dirty="0">
                <a:solidFill>
                  <a:srgbClr val="334155"/>
                </a:solidFill>
              </a:rPr>
              <a:t>Buster joins the specific Nextdoor neighborhood group and the Facebook Group for that subdivision. Posts helpful, non-salesy content: 'Tips for maintaining your solar panels in Sacramento heat' with a reply that mentions Roger's local service. Never spams. Builds trust before pitching.</a:t>
            </a:r>
            <a:endParaRPr lang="en-US" sz="1000" dirty="0"/>
          </a:p>
        </p:txBody>
      </p:sp>
      <p:sp>
        <p:nvSpPr>
          <p:cNvPr id="19" name="Shape 17"/>
          <p:cNvSpPr/>
          <p:nvPr/>
        </p:nvSpPr>
        <p:spPr>
          <a:xfrm>
            <a:off x="274320" y="3300984"/>
            <a:ext cx="530352" cy="658368"/>
          </a:xfrm>
          <a:prstGeom prst="rect">
            <a:avLst/>
          </a:prstGeom>
          <a:solidFill>
            <a:srgbClr val="028090"/>
          </a:solidFill>
          <a:ln w="12700">
            <a:solidFill>
              <a:srgbClr val="028090"/>
            </a:solidFill>
            <a:prstDash val="solid"/>
          </a:ln>
        </p:spPr>
      </p:sp>
      <p:sp>
        <p:nvSpPr>
          <p:cNvPr id="20" name="Text 18"/>
          <p:cNvSpPr/>
          <p:nvPr/>
        </p:nvSpPr>
        <p:spPr>
          <a:xfrm>
            <a:off x="274320" y="3300984"/>
            <a:ext cx="530352" cy="658368"/>
          </a:xfrm>
          <a:prstGeom prst="rect">
            <a:avLst/>
          </a:prstGeom>
          <a:noFill/>
          <a:ln/>
        </p:spPr>
        <p:txBody>
          <a:bodyPr wrap="square" lIns="0" tIns="0" rIns="0" bIns="0" rtlCol="0" anchor="ctr"/>
          <a:lstStyle/>
          <a:p>
            <a:pPr algn="ctr" indent="0" marL="0">
              <a:buNone/>
            </a:pPr>
            <a:r>
              <a:rPr lang="en-US" sz="1700" b="1" dirty="0">
                <a:solidFill>
                  <a:srgbClr val="FFFFFF"/>
                </a:solidFill>
              </a:rPr>
              <a:t>04</a:t>
            </a:r>
            <a:endParaRPr lang="en-US" sz="1700" dirty="0"/>
          </a:p>
        </p:txBody>
      </p:sp>
      <p:sp>
        <p:nvSpPr>
          <p:cNvPr id="21" name="Shape 19"/>
          <p:cNvSpPr/>
          <p:nvPr/>
        </p:nvSpPr>
        <p:spPr>
          <a:xfrm>
            <a:off x="841248" y="3300984"/>
            <a:ext cx="8028432" cy="658368"/>
          </a:xfrm>
          <a:prstGeom prst="rect">
            <a:avLst/>
          </a:prstGeom>
          <a:solidFill>
            <a:srgbClr val="FFFFFF"/>
          </a:solidFill>
          <a:ln w="6350">
            <a:solidFill>
              <a:srgbClr val="E2E8F0"/>
            </a:solidFill>
            <a:prstDash val="solid"/>
          </a:ln>
        </p:spPr>
      </p:sp>
      <p:sp>
        <p:nvSpPr>
          <p:cNvPr id="22" name="Text 20"/>
          <p:cNvSpPr/>
          <p:nvPr/>
        </p:nvSpPr>
        <p:spPr>
          <a:xfrm>
            <a:off x="960120" y="3364992"/>
            <a:ext cx="7818120" cy="256032"/>
          </a:xfrm>
          <a:prstGeom prst="rect">
            <a:avLst/>
          </a:prstGeom>
          <a:noFill/>
          <a:ln/>
        </p:spPr>
        <p:txBody>
          <a:bodyPr wrap="square" lIns="0" tIns="0" rIns="0" bIns="0" rtlCol="0" anchor="ctr"/>
          <a:lstStyle/>
          <a:p>
            <a:pPr indent="0" marL="0">
              <a:buNone/>
            </a:pPr>
            <a:r>
              <a:rPr lang="en-US" sz="1200" b="1" dirty="0">
                <a:solidFill>
                  <a:srgbClr val="0B1F3A"/>
                </a:solidFill>
              </a:rPr>
              <a:t>The 'while I'm here' pitch:</a:t>
            </a:r>
            <a:endParaRPr lang="en-US" sz="1200" dirty="0"/>
          </a:p>
        </p:txBody>
      </p:sp>
      <p:sp>
        <p:nvSpPr>
          <p:cNvPr id="23" name="Text 21"/>
          <p:cNvSpPr/>
          <p:nvPr/>
        </p:nvSpPr>
        <p:spPr>
          <a:xfrm>
            <a:off x="960120" y="3639312"/>
            <a:ext cx="7818120" cy="256032"/>
          </a:xfrm>
          <a:prstGeom prst="rect">
            <a:avLst/>
          </a:prstGeom>
          <a:noFill/>
          <a:ln/>
        </p:spPr>
        <p:txBody>
          <a:bodyPr wrap="square" lIns="0" tIns="0" rIns="0" bIns="0" rtlCol="0" anchor="ctr"/>
          <a:lstStyle/>
          <a:p>
            <a:pPr indent="0" marL="0">
              <a:buNone/>
            </a:pPr>
            <a:r>
              <a:rPr lang="en-US" sz="1000" dirty="0">
                <a:solidFill>
                  <a:srgbClr val="334155"/>
                </a:solidFill>
              </a:rPr>
              <a:t>After every job Roger knocks on 6 adjacent doors: 'I just finished cleaning #[address] — I'm already set up with my truck and equipment. I can do yours right now for $20 off since I won't have to drive back.' This converts 15–25% on the spot. One street can yield 4–6 same-day bookings.</a:t>
            </a:r>
            <a:endParaRPr lang="en-US" sz="1000" dirty="0"/>
          </a:p>
        </p:txBody>
      </p:sp>
      <p:sp>
        <p:nvSpPr>
          <p:cNvPr id="24" name="Shape 22"/>
          <p:cNvSpPr/>
          <p:nvPr/>
        </p:nvSpPr>
        <p:spPr>
          <a:xfrm>
            <a:off x="274320" y="4133088"/>
            <a:ext cx="530352" cy="658368"/>
          </a:xfrm>
          <a:prstGeom prst="rect">
            <a:avLst/>
          </a:prstGeom>
          <a:solidFill>
            <a:srgbClr val="028090"/>
          </a:solidFill>
          <a:ln w="12700">
            <a:solidFill>
              <a:srgbClr val="028090"/>
            </a:solidFill>
            <a:prstDash val="solid"/>
          </a:ln>
        </p:spPr>
      </p:sp>
      <p:sp>
        <p:nvSpPr>
          <p:cNvPr id="25" name="Text 23"/>
          <p:cNvSpPr/>
          <p:nvPr/>
        </p:nvSpPr>
        <p:spPr>
          <a:xfrm>
            <a:off x="274320" y="4133088"/>
            <a:ext cx="530352" cy="658368"/>
          </a:xfrm>
          <a:prstGeom prst="rect">
            <a:avLst/>
          </a:prstGeom>
          <a:noFill/>
          <a:ln/>
        </p:spPr>
        <p:txBody>
          <a:bodyPr wrap="square" lIns="0" tIns="0" rIns="0" bIns="0" rtlCol="0" anchor="ctr"/>
          <a:lstStyle/>
          <a:p>
            <a:pPr algn="ctr" indent="0" marL="0">
              <a:buNone/>
            </a:pPr>
            <a:r>
              <a:rPr lang="en-US" sz="1700" b="1" dirty="0">
                <a:solidFill>
                  <a:srgbClr val="FFFFFF"/>
                </a:solidFill>
              </a:rPr>
              <a:t>05</a:t>
            </a:r>
            <a:endParaRPr lang="en-US" sz="1700" dirty="0"/>
          </a:p>
        </p:txBody>
      </p:sp>
      <p:sp>
        <p:nvSpPr>
          <p:cNvPr id="26" name="Shape 24"/>
          <p:cNvSpPr/>
          <p:nvPr/>
        </p:nvSpPr>
        <p:spPr>
          <a:xfrm>
            <a:off x="841248" y="4133088"/>
            <a:ext cx="8028432" cy="658368"/>
          </a:xfrm>
          <a:prstGeom prst="rect">
            <a:avLst/>
          </a:prstGeom>
          <a:solidFill>
            <a:srgbClr val="FFFFFF"/>
          </a:solidFill>
          <a:ln w="6350">
            <a:solidFill>
              <a:srgbClr val="E2E8F0"/>
            </a:solidFill>
            <a:prstDash val="solid"/>
          </a:ln>
        </p:spPr>
      </p:sp>
      <p:sp>
        <p:nvSpPr>
          <p:cNvPr id="27" name="Text 25"/>
          <p:cNvSpPr/>
          <p:nvPr/>
        </p:nvSpPr>
        <p:spPr>
          <a:xfrm>
            <a:off x="960120" y="4197096"/>
            <a:ext cx="7818120" cy="256032"/>
          </a:xfrm>
          <a:prstGeom prst="rect">
            <a:avLst/>
          </a:prstGeom>
          <a:noFill/>
          <a:ln/>
        </p:spPr>
        <p:txBody>
          <a:bodyPr wrap="square" lIns="0" tIns="0" rIns="0" bIns="0" rtlCol="0" anchor="ctr"/>
          <a:lstStyle/>
          <a:p>
            <a:pPr indent="0" marL="0">
              <a:buNone/>
            </a:pPr>
            <a:r>
              <a:rPr lang="en-US" sz="1200" b="1" dirty="0">
                <a:solidFill>
                  <a:srgbClr val="0B1F3A"/>
                </a:solidFill>
              </a:rPr>
              <a:t>Lock the HOA exclusive:</a:t>
            </a:r>
            <a:endParaRPr lang="en-US" sz="1200" dirty="0"/>
          </a:p>
        </p:txBody>
      </p:sp>
      <p:sp>
        <p:nvSpPr>
          <p:cNvPr id="28" name="Text 26"/>
          <p:cNvSpPr/>
          <p:nvPr/>
        </p:nvSpPr>
        <p:spPr>
          <a:xfrm>
            <a:off x="960120" y="4471416"/>
            <a:ext cx="7818120" cy="256032"/>
          </a:xfrm>
          <a:prstGeom prst="rect">
            <a:avLst/>
          </a:prstGeom>
          <a:noFill/>
          <a:ln/>
        </p:spPr>
        <p:txBody>
          <a:bodyPr wrap="square" lIns="0" tIns="0" rIns="0" bIns="0" rtlCol="0" anchor="ctr"/>
          <a:lstStyle/>
          <a:p>
            <a:pPr indent="0" marL="0">
              <a:buNone/>
            </a:pPr>
            <a:r>
              <a:rPr lang="en-US" sz="1000" dirty="0">
                <a:solidFill>
                  <a:srgbClr val="334155"/>
                </a:solidFill>
              </a:rPr>
              <a:t>After 1 month of strong service in a neighborhood, Roger emails the HOA board: 'I've now served [X] homes in your community. I'd like to propose a community cleaning day at a 15% bulk discount — handled by me, invoiced to HOA, one-day street-by-street operation.' One signed HOA contract = 50–300 homes locked.</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Text 1"/>
          <p:cNvSpPr/>
          <p:nvPr/>
        </p:nvSpPr>
        <p:spPr>
          <a:xfrm>
            <a:off x="457200" y="0"/>
            <a:ext cx="8229600" cy="658368"/>
          </a:xfrm>
          <a:prstGeom prst="rect">
            <a:avLst/>
          </a:prstGeom>
          <a:noFill/>
          <a:ln/>
        </p:spPr>
        <p:txBody>
          <a:bodyPr wrap="square" lIns="0" tIns="0" rIns="0" bIns="0" rtlCol="0" anchor="ctr"/>
          <a:lstStyle/>
          <a:p>
            <a:pPr indent="0" marL="0">
              <a:buNone/>
            </a:pPr>
            <a:r>
              <a:rPr lang="en-US" sz="1300" b="1" spc="500" kern="0" dirty="0">
                <a:solidFill>
                  <a:srgbClr val="F4B942"/>
                </a:solidFill>
              </a:rPr>
              <a:t>3-YEAR FINANCIAL FORECAST</a:t>
            </a:r>
            <a:endParaRPr lang="en-US" sz="1300" dirty="0"/>
          </a:p>
        </p:txBody>
      </p:sp>
      <p:graphicFrame>
        <p:nvGraphicFramePr>
          <p:cNvPr id="4" name="Chart 0" descr=""/>
          <p:cNvGraphicFramePr/>
          <p:nvPr/>
        </p:nvGraphicFramePr>
        <p:xfrm>
          <a:off x="274320" y="749808"/>
          <a:ext cx="5669280" cy="3383280"/>
        </p:xfrm>
        <a:graphic xmlns:a="http://schemas.openxmlformats.org/drawingml/2006/main">
          <a:graphicData uri="http://schemas.openxmlformats.org/drawingml/2006/chart">
            <c:chart xmlns:c="http://schemas.openxmlformats.org/drawingml/2006/chart" r:id="rId1"/>
          </a:graphicData>
        </a:graphic>
      </p:graphicFrame>
      <p:sp>
        <p:nvSpPr>
          <p:cNvPr id="5" name="Shape 2"/>
          <p:cNvSpPr/>
          <p:nvPr/>
        </p:nvSpPr>
        <p:spPr>
          <a:xfrm>
            <a:off x="6080760" y="777240"/>
            <a:ext cx="2834640" cy="1298448"/>
          </a:xfrm>
          <a:prstGeom prst="rect">
            <a:avLst/>
          </a:prstGeom>
          <a:solidFill>
            <a:srgbClr val="FFFFFF"/>
          </a:solidFill>
          <a:ln w="10160">
            <a:solidFill>
              <a:srgbClr val="E2E8F0"/>
            </a:solidFill>
            <a:prstDash val="solid"/>
          </a:ln>
        </p:spPr>
      </p:sp>
      <p:sp>
        <p:nvSpPr>
          <p:cNvPr id="6" name="Shape 3"/>
          <p:cNvSpPr/>
          <p:nvPr/>
        </p:nvSpPr>
        <p:spPr>
          <a:xfrm>
            <a:off x="6080760" y="777240"/>
            <a:ext cx="2834640" cy="91440"/>
          </a:xfrm>
          <a:prstGeom prst="rect">
            <a:avLst/>
          </a:prstGeom>
          <a:solidFill>
            <a:srgbClr val="028090"/>
          </a:solidFill>
          <a:ln w="12700">
            <a:solidFill>
              <a:srgbClr val="028090"/>
            </a:solidFill>
            <a:prstDash val="solid"/>
          </a:ln>
        </p:spPr>
      </p:sp>
      <p:sp>
        <p:nvSpPr>
          <p:cNvPr id="7" name="Text 4"/>
          <p:cNvSpPr/>
          <p:nvPr/>
        </p:nvSpPr>
        <p:spPr>
          <a:xfrm>
            <a:off x="6172200" y="886968"/>
            <a:ext cx="1371600" cy="274320"/>
          </a:xfrm>
          <a:prstGeom prst="rect">
            <a:avLst/>
          </a:prstGeom>
          <a:noFill/>
          <a:ln/>
        </p:spPr>
        <p:txBody>
          <a:bodyPr wrap="square" lIns="0" tIns="0" rIns="0" bIns="0" rtlCol="0" anchor="ctr"/>
          <a:lstStyle/>
          <a:p>
            <a:pPr indent="0" marL="0">
              <a:buNone/>
            </a:pPr>
            <a:r>
              <a:rPr lang="en-US" sz="1200" b="1" dirty="0">
                <a:solidFill>
                  <a:srgbClr val="0B1F3A"/>
                </a:solidFill>
              </a:rPr>
              <a:t>Year 1</a:t>
            </a:r>
            <a:endParaRPr lang="en-US" sz="1200" dirty="0"/>
          </a:p>
        </p:txBody>
      </p:sp>
      <p:sp>
        <p:nvSpPr>
          <p:cNvPr id="8" name="Text 5"/>
          <p:cNvSpPr/>
          <p:nvPr/>
        </p:nvSpPr>
        <p:spPr>
          <a:xfrm>
            <a:off x="7543800" y="886968"/>
            <a:ext cx="1280160" cy="274320"/>
          </a:xfrm>
          <a:prstGeom prst="rect">
            <a:avLst/>
          </a:prstGeom>
          <a:noFill/>
          <a:ln/>
        </p:spPr>
        <p:txBody>
          <a:bodyPr wrap="square" lIns="0" tIns="0" rIns="0" bIns="0" rtlCol="0" anchor="ctr"/>
          <a:lstStyle/>
          <a:p>
            <a:pPr algn="r" indent="0" marL="0">
              <a:buNone/>
            </a:pPr>
            <a:r>
              <a:rPr lang="en-US" sz="1000" dirty="0">
                <a:solidFill>
                  <a:srgbClr val="028090"/>
                </a:solidFill>
              </a:rPr>
              <a:t>41% margin</a:t>
            </a:r>
            <a:endParaRPr lang="en-US" sz="1000" dirty="0"/>
          </a:p>
        </p:txBody>
      </p:sp>
      <p:sp>
        <p:nvSpPr>
          <p:cNvPr id="9" name="Text 6"/>
          <p:cNvSpPr/>
          <p:nvPr/>
        </p:nvSpPr>
        <p:spPr>
          <a:xfrm>
            <a:off x="6172200" y="1197864"/>
            <a:ext cx="2651760" cy="274320"/>
          </a:xfrm>
          <a:prstGeom prst="rect">
            <a:avLst/>
          </a:prstGeom>
          <a:noFill/>
          <a:ln/>
        </p:spPr>
        <p:txBody>
          <a:bodyPr wrap="square" lIns="0" tIns="0" rIns="0" bIns="0" rtlCol="0" anchor="ctr"/>
          <a:lstStyle/>
          <a:p>
            <a:pPr indent="0" marL="0">
              <a:buNone/>
            </a:pPr>
            <a:r>
              <a:rPr lang="en-US" sz="1150" b="1" dirty="0">
                <a:solidFill>
                  <a:srgbClr val="334155"/>
                </a:solidFill>
              </a:rPr>
              <a:t>Rev: $78K   Net: $32K</a:t>
            </a:r>
            <a:endParaRPr lang="en-US" sz="1150" dirty="0"/>
          </a:p>
        </p:txBody>
      </p:sp>
      <p:sp>
        <p:nvSpPr>
          <p:cNvPr id="10" name="Text 7"/>
          <p:cNvSpPr/>
          <p:nvPr/>
        </p:nvSpPr>
        <p:spPr>
          <a:xfrm>
            <a:off x="6172200" y="1527048"/>
            <a:ext cx="2651760" cy="438912"/>
          </a:xfrm>
          <a:prstGeom prst="rect">
            <a:avLst/>
          </a:prstGeom>
          <a:noFill/>
          <a:ln/>
        </p:spPr>
        <p:txBody>
          <a:bodyPr wrap="square" lIns="0" tIns="0" rIns="0" bIns="0" rtlCol="0" anchor="ctr"/>
          <a:lstStyle/>
          <a:p>
            <a:pPr indent="0" marL="0">
              <a:buNone/>
            </a:pPr>
            <a:r>
              <a:rPr lang="en-US" sz="950" dirty="0">
                <a:solidFill>
                  <a:srgbClr val="94A3B8"/>
                </a:solidFill>
              </a:rPr>
              <a:t>~320 jobs  ·  Weekends → full-time</a:t>
            </a:r>
            <a:endParaRPr lang="en-US" sz="950" dirty="0"/>
          </a:p>
        </p:txBody>
      </p:sp>
      <p:sp>
        <p:nvSpPr>
          <p:cNvPr id="11" name="Shape 8"/>
          <p:cNvSpPr/>
          <p:nvPr/>
        </p:nvSpPr>
        <p:spPr>
          <a:xfrm>
            <a:off x="6080760" y="2194560"/>
            <a:ext cx="2834640" cy="1298448"/>
          </a:xfrm>
          <a:prstGeom prst="rect">
            <a:avLst/>
          </a:prstGeom>
          <a:solidFill>
            <a:srgbClr val="FFFFFF"/>
          </a:solidFill>
          <a:ln w="10160">
            <a:solidFill>
              <a:srgbClr val="E2E8F0"/>
            </a:solidFill>
            <a:prstDash val="solid"/>
          </a:ln>
        </p:spPr>
      </p:sp>
      <p:sp>
        <p:nvSpPr>
          <p:cNvPr id="12" name="Shape 9"/>
          <p:cNvSpPr/>
          <p:nvPr/>
        </p:nvSpPr>
        <p:spPr>
          <a:xfrm>
            <a:off x="6080760" y="2194560"/>
            <a:ext cx="2834640" cy="91440"/>
          </a:xfrm>
          <a:prstGeom prst="rect">
            <a:avLst/>
          </a:prstGeom>
          <a:solidFill>
            <a:srgbClr val="028090"/>
          </a:solidFill>
          <a:ln w="12700">
            <a:solidFill>
              <a:srgbClr val="028090"/>
            </a:solidFill>
            <a:prstDash val="solid"/>
          </a:ln>
        </p:spPr>
      </p:sp>
      <p:sp>
        <p:nvSpPr>
          <p:cNvPr id="13" name="Text 10"/>
          <p:cNvSpPr/>
          <p:nvPr/>
        </p:nvSpPr>
        <p:spPr>
          <a:xfrm>
            <a:off x="6172200" y="2304288"/>
            <a:ext cx="1371600" cy="274320"/>
          </a:xfrm>
          <a:prstGeom prst="rect">
            <a:avLst/>
          </a:prstGeom>
          <a:noFill/>
          <a:ln/>
        </p:spPr>
        <p:txBody>
          <a:bodyPr wrap="square" lIns="0" tIns="0" rIns="0" bIns="0" rtlCol="0" anchor="ctr"/>
          <a:lstStyle/>
          <a:p>
            <a:pPr indent="0" marL="0">
              <a:buNone/>
            </a:pPr>
            <a:r>
              <a:rPr lang="en-US" sz="1200" b="1" dirty="0">
                <a:solidFill>
                  <a:srgbClr val="0B1F3A"/>
                </a:solidFill>
              </a:rPr>
              <a:t>Year 2</a:t>
            </a:r>
            <a:endParaRPr lang="en-US" sz="1200" dirty="0"/>
          </a:p>
        </p:txBody>
      </p:sp>
      <p:sp>
        <p:nvSpPr>
          <p:cNvPr id="14" name="Text 11"/>
          <p:cNvSpPr/>
          <p:nvPr/>
        </p:nvSpPr>
        <p:spPr>
          <a:xfrm>
            <a:off x="7543800" y="2304288"/>
            <a:ext cx="1280160" cy="274320"/>
          </a:xfrm>
          <a:prstGeom prst="rect">
            <a:avLst/>
          </a:prstGeom>
          <a:noFill/>
          <a:ln/>
        </p:spPr>
        <p:txBody>
          <a:bodyPr wrap="square" lIns="0" tIns="0" rIns="0" bIns="0" rtlCol="0" anchor="ctr"/>
          <a:lstStyle/>
          <a:p>
            <a:pPr algn="r" indent="0" marL="0">
              <a:buNone/>
            </a:pPr>
            <a:r>
              <a:rPr lang="en-US" sz="1000" dirty="0">
                <a:solidFill>
                  <a:srgbClr val="028090"/>
                </a:solidFill>
              </a:rPr>
              <a:t>42% margin</a:t>
            </a:r>
            <a:endParaRPr lang="en-US" sz="1000" dirty="0"/>
          </a:p>
        </p:txBody>
      </p:sp>
      <p:sp>
        <p:nvSpPr>
          <p:cNvPr id="15" name="Text 12"/>
          <p:cNvSpPr/>
          <p:nvPr/>
        </p:nvSpPr>
        <p:spPr>
          <a:xfrm>
            <a:off x="6172200" y="2615184"/>
            <a:ext cx="2651760" cy="274320"/>
          </a:xfrm>
          <a:prstGeom prst="rect">
            <a:avLst/>
          </a:prstGeom>
          <a:noFill/>
          <a:ln/>
        </p:spPr>
        <p:txBody>
          <a:bodyPr wrap="square" lIns="0" tIns="0" rIns="0" bIns="0" rtlCol="0" anchor="ctr"/>
          <a:lstStyle/>
          <a:p>
            <a:pPr indent="0" marL="0">
              <a:buNone/>
            </a:pPr>
            <a:r>
              <a:rPr lang="en-US" sz="1150" b="1" dirty="0">
                <a:solidFill>
                  <a:srgbClr val="334155"/>
                </a:solidFill>
              </a:rPr>
              <a:t>Rev: $162K   Net: $68K</a:t>
            </a:r>
            <a:endParaRPr lang="en-US" sz="1150" dirty="0"/>
          </a:p>
        </p:txBody>
      </p:sp>
      <p:sp>
        <p:nvSpPr>
          <p:cNvPr id="16" name="Text 13"/>
          <p:cNvSpPr/>
          <p:nvPr/>
        </p:nvSpPr>
        <p:spPr>
          <a:xfrm>
            <a:off x="6172200" y="2944368"/>
            <a:ext cx="2651760" cy="438912"/>
          </a:xfrm>
          <a:prstGeom prst="rect">
            <a:avLst/>
          </a:prstGeom>
          <a:noFill/>
          <a:ln/>
        </p:spPr>
        <p:txBody>
          <a:bodyPr wrap="square" lIns="0" tIns="0" rIns="0" bIns="0" rtlCol="0" anchor="ctr"/>
          <a:lstStyle/>
          <a:p>
            <a:pPr indent="0" marL="0">
              <a:buNone/>
            </a:pPr>
            <a:r>
              <a:rPr lang="en-US" sz="950" dirty="0">
                <a:solidFill>
                  <a:srgbClr val="94A3B8"/>
                </a:solidFill>
              </a:rPr>
              <a:t>~640 jobs  ·  1 employee, HOA locked</a:t>
            </a:r>
            <a:endParaRPr lang="en-US" sz="950" dirty="0"/>
          </a:p>
        </p:txBody>
      </p:sp>
      <p:sp>
        <p:nvSpPr>
          <p:cNvPr id="17" name="Shape 14"/>
          <p:cNvSpPr/>
          <p:nvPr/>
        </p:nvSpPr>
        <p:spPr>
          <a:xfrm>
            <a:off x="6080760" y="3611880"/>
            <a:ext cx="2834640" cy="1298448"/>
          </a:xfrm>
          <a:prstGeom prst="rect">
            <a:avLst/>
          </a:prstGeom>
          <a:solidFill>
            <a:srgbClr val="FFFFFF"/>
          </a:solidFill>
          <a:ln w="10160">
            <a:solidFill>
              <a:srgbClr val="E2E8F0"/>
            </a:solidFill>
            <a:prstDash val="solid"/>
          </a:ln>
        </p:spPr>
      </p:sp>
      <p:sp>
        <p:nvSpPr>
          <p:cNvPr id="18" name="Shape 15"/>
          <p:cNvSpPr/>
          <p:nvPr/>
        </p:nvSpPr>
        <p:spPr>
          <a:xfrm>
            <a:off x="6080760" y="3611880"/>
            <a:ext cx="2834640" cy="91440"/>
          </a:xfrm>
          <a:prstGeom prst="rect">
            <a:avLst/>
          </a:prstGeom>
          <a:solidFill>
            <a:srgbClr val="028090"/>
          </a:solidFill>
          <a:ln w="12700">
            <a:solidFill>
              <a:srgbClr val="028090"/>
            </a:solidFill>
            <a:prstDash val="solid"/>
          </a:ln>
        </p:spPr>
      </p:sp>
      <p:sp>
        <p:nvSpPr>
          <p:cNvPr id="19" name="Text 16"/>
          <p:cNvSpPr/>
          <p:nvPr/>
        </p:nvSpPr>
        <p:spPr>
          <a:xfrm>
            <a:off x="6172200" y="3721608"/>
            <a:ext cx="1371600" cy="274320"/>
          </a:xfrm>
          <a:prstGeom prst="rect">
            <a:avLst/>
          </a:prstGeom>
          <a:noFill/>
          <a:ln/>
        </p:spPr>
        <p:txBody>
          <a:bodyPr wrap="square" lIns="0" tIns="0" rIns="0" bIns="0" rtlCol="0" anchor="ctr"/>
          <a:lstStyle/>
          <a:p>
            <a:pPr indent="0" marL="0">
              <a:buNone/>
            </a:pPr>
            <a:r>
              <a:rPr lang="en-US" sz="1200" b="1" dirty="0">
                <a:solidFill>
                  <a:srgbClr val="0B1F3A"/>
                </a:solidFill>
              </a:rPr>
              <a:t>Year 3</a:t>
            </a:r>
            <a:endParaRPr lang="en-US" sz="1200" dirty="0"/>
          </a:p>
        </p:txBody>
      </p:sp>
      <p:sp>
        <p:nvSpPr>
          <p:cNvPr id="20" name="Text 17"/>
          <p:cNvSpPr/>
          <p:nvPr/>
        </p:nvSpPr>
        <p:spPr>
          <a:xfrm>
            <a:off x="7543800" y="3721608"/>
            <a:ext cx="1280160" cy="274320"/>
          </a:xfrm>
          <a:prstGeom prst="rect">
            <a:avLst/>
          </a:prstGeom>
          <a:noFill/>
          <a:ln/>
        </p:spPr>
        <p:txBody>
          <a:bodyPr wrap="square" lIns="0" tIns="0" rIns="0" bIns="0" rtlCol="0" anchor="ctr"/>
          <a:lstStyle/>
          <a:p>
            <a:pPr algn="r" indent="0" marL="0">
              <a:buNone/>
            </a:pPr>
            <a:r>
              <a:rPr lang="en-US" sz="1000" dirty="0">
                <a:solidFill>
                  <a:srgbClr val="028090"/>
                </a:solidFill>
              </a:rPr>
              <a:t>45% margin</a:t>
            </a:r>
            <a:endParaRPr lang="en-US" sz="1000" dirty="0"/>
          </a:p>
        </p:txBody>
      </p:sp>
      <p:sp>
        <p:nvSpPr>
          <p:cNvPr id="21" name="Text 18"/>
          <p:cNvSpPr/>
          <p:nvPr/>
        </p:nvSpPr>
        <p:spPr>
          <a:xfrm>
            <a:off x="6172200" y="4032504"/>
            <a:ext cx="2651760" cy="274320"/>
          </a:xfrm>
          <a:prstGeom prst="rect">
            <a:avLst/>
          </a:prstGeom>
          <a:noFill/>
          <a:ln/>
        </p:spPr>
        <p:txBody>
          <a:bodyPr wrap="square" lIns="0" tIns="0" rIns="0" bIns="0" rtlCol="0" anchor="ctr"/>
          <a:lstStyle/>
          <a:p>
            <a:pPr indent="0" marL="0">
              <a:buNone/>
            </a:pPr>
            <a:r>
              <a:rPr lang="en-US" sz="1150" b="1" dirty="0">
                <a:solidFill>
                  <a:srgbClr val="334155"/>
                </a:solidFill>
              </a:rPr>
              <a:t>Rev: $285K   Net: $128K</a:t>
            </a:r>
            <a:endParaRPr lang="en-US" sz="1150" dirty="0"/>
          </a:p>
        </p:txBody>
      </p:sp>
      <p:sp>
        <p:nvSpPr>
          <p:cNvPr id="22" name="Text 19"/>
          <p:cNvSpPr/>
          <p:nvPr/>
        </p:nvSpPr>
        <p:spPr>
          <a:xfrm>
            <a:off x="6172200" y="4361688"/>
            <a:ext cx="2651760" cy="438912"/>
          </a:xfrm>
          <a:prstGeom prst="rect">
            <a:avLst/>
          </a:prstGeom>
          <a:noFill/>
          <a:ln/>
        </p:spPr>
        <p:txBody>
          <a:bodyPr wrap="square" lIns="0" tIns="0" rIns="0" bIns="0" rtlCol="0" anchor="ctr"/>
          <a:lstStyle/>
          <a:p>
            <a:pPr indent="0" marL="0">
              <a:buNone/>
            </a:pPr>
            <a:r>
              <a:rPr lang="en-US" sz="950" dirty="0">
                <a:solidFill>
                  <a:srgbClr val="94A3B8"/>
                </a:solidFill>
              </a:rPr>
              <a:t>~1,100 jobs  ·  2 employees, AI ops</a:t>
            </a:r>
            <a:endParaRPr lang="en-US" sz="950" dirty="0"/>
          </a:p>
        </p:txBody>
      </p:sp>
      <p:sp>
        <p:nvSpPr>
          <p:cNvPr id="23" name="Shape 20"/>
          <p:cNvSpPr/>
          <p:nvPr/>
        </p:nvSpPr>
        <p:spPr>
          <a:xfrm>
            <a:off x="274320" y="4251960"/>
            <a:ext cx="8595360" cy="731520"/>
          </a:xfrm>
          <a:prstGeom prst="rect">
            <a:avLst/>
          </a:prstGeom>
          <a:solidFill>
            <a:srgbClr val="E2E8F0"/>
          </a:solidFill>
          <a:ln w="12700">
            <a:solidFill>
              <a:srgbClr val="E2E8F0"/>
            </a:solidFill>
            <a:prstDash val="solid"/>
          </a:ln>
        </p:spPr>
      </p:sp>
      <p:sp>
        <p:nvSpPr>
          <p:cNvPr id="24" name="Text 21"/>
          <p:cNvSpPr/>
          <p:nvPr/>
        </p:nvSpPr>
        <p:spPr>
          <a:xfrm>
            <a:off x="365760" y="4279392"/>
            <a:ext cx="8412480" cy="685800"/>
          </a:xfrm>
          <a:prstGeom prst="rect">
            <a:avLst/>
          </a:prstGeom>
          <a:noFill/>
          <a:ln/>
        </p:spPr>
        <p:txBody>
          <a:bodyPr wrap="square" lIns="0" tIns="0" rIns="0" bIns="0" rtlCol="0" anchor="t"/>
          <a:lstStyle/>
          <a:p>
            <a:pPr indent="0" marL="0">
              <a:buNone/>
            </a:pPr>
            <a:r>
              <a:rPr lang="en-US" sz="950" dirty="0">
                <a:solidFill>
                  <a:srgbClr val="334155"/>
                </a:solidFill>
              </a:rPr>
              <a:t>Assumptions: Avg job $215 residential · HOA at $75/home · 2×/yr residential + 4×/yr HOA · Part-time (Sat/Sun) Y1 Q1–Q2 · Full-time from month 6 · Emp#1 month 9 · Emp#2 month 18 · AI marketing CAC &lt;$15 · 35% subscriber conversion · 5 HOA contracts by Month 12</a:t>
            </a:r>
            <a:endParaRPr lang="en-US" sz="9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F4B942"/>
          </a:solidFill>
          <a:ln w="12700">
            <a:solidFill>
              <a:srgbClr val="F4B942"/>
            </a:solidFill>
            <a:prstDash val="solid"/>
          </a:ln>
        </p:spPr>
      </p:sp>
      <p:sp>
        <p:nvSpPr>
          <p:cNvPr id="3" name="Text 1"/>
          <p:cNvSpPr/>
          <p:nvPr/>
        </p:nvSpPr>
        <p:spPr>
          <a:xfrm>
            <a:off x="457200" y="0"/>
            <a:ext cx="8412480" cy="658368"/>
          </a:xfrm>
          <a:prstGeom prst="rect">
            <a:avLst/>
          </a:prstGeom>
          <a:noFill/>
          <a:ln/>
        </p:spPr>
        <p:txBody>
          <a:bodyPr wrap="square" lIns="0" tIns="0" rIns="0" bIns="0" rtlCol="0" anchor="ctr"/>
          <a:lstStyle/>
          <a:p>
            <a:pPr indent="0" marL="0">
              <a:buNone/>
            </a:pPr>
            <a:r>
              <a:rPr lang="en-US" sz="1200" b="1" spc="300" kern="0" dirty="0">
                <a:solidFill>
                  <a:srgbClr val="0B1F3A"/>
                </a:solidFill>
              </a:rPr>
              <a:t>ROGER'S WEEK-BY-WEEK ACTION PLAN — START THIS WEEKEND</a:t>
            </a:r>
            <a:endParaRPr lang="en-US" sz="1200" dirty="0"/>
          </a:p>
        </p:txBody>
      </p:sp>
      <p:sp>
        <p:nvSpPr>
          <p:cNvPr id="4" name="Shape 2"/>
          <p:cNvSpPr/>
          <p:nvPr/>
        </p:nvSpPr>
        <p:spPr>
          <a:xfrm>
            <a:off x="256032" y="777240"/>
            <a:ext cx="4160520" cy="2011680"/>
          </a:xfrm>
          <a:prstGeom prst="rect">
            <a:avLst/>
          </a:prstGeom>
          <a:solidFill>
            <a:srgbClr val="FFFFFF"/>
          </a:solidFill>
          <a:ln w="10160">
            <a:solidFill>
              <a:srgbClr val="E2E8F0"/>
            </a:solidFill>
            <a:prstDash val="solid"/>
          </a:ln>
        </p:spPr>
      </p:sp>
      <p:sp>
        <p:nvSpPr>
          <p:cNvPr id="5" name="Shape 3"/>
          <p:cNvSpPr/>
          <p:nvPr/>
        </p:nvSpPr>
        <p:spPr>
          <a:xfrm>
            <a:off x="256032" y="777240"/>
            <a:ext cx="4160520" cy="347472"/>
          </a:xfrm>
          <a:prstGeom prst="rect">
            <a:avLst/>
          </a:prstGeom>
          <a:solidFill>
            <a:srgbClr val="02C39A"/>
          </a:solidFill>
          <a:ln w="12700">
            <a:solidFill>
              <a:srgbClr val="02C39A"/>
            </a:solidFill>
            <a:prstDash val="solid"/>
          </a:ln>
        </p:spPr>
      </p:sp>
      <p:sp>
        <p:nvSpPr>
          <p:cNvPr id="6" name="Text 4"/>
          <p:cNvSpPr/>
          <p:nvPr/>
        </p:nvSpPr>
        <p:spPr>
          <a:xfrm>
            <a:off x="256032" y="777240"/>
            <a:ext cx="4160520" cy="347472"/>
          </a:xfrm>
          <a:prstGeom prst="rect">
            <a:avLst/>
          </a:prstGeom>
          <a:noFill/>
          <a:ln/>
        </p:spPr>
        <p:txBody>
          <a:bodyPr wrap="square" lIns="0" tIns="0" rIns="0" bIns="0" rtlCol="0" anchor="ctr"/>
          <a:lstStyle/>
          <a:p>
            <a:pPr algn="ctr" indent="0" marL="0">
              <a:buNone/>
            </a:pPr>
            <a:r>
              <a:rPr lang="en-US" sz="1200" b="1" dirty="0">
                <a:solidFill>
                  <a:srgbClr val="0B1F3A"/>
                </a:solidFill>
              </a:rPr>
              <a:t>Week 1</a:t>
            </a:r>
            <a:endParaRPr lang="en-US" sz="1200" dirty="0"/>
          </a:p>
        </p:txBody>
      </p:sp>
      <p:sp>
        <p:nvSpPr>
          <p:cNvPr id="7" name="Text 5"/>
          <p:cNvSpPr/>
          <p:nvPr/>
        </p:nvSpPr>
        <p:spPr>
          <a:xfrm>
            <a:off x="365760" y="1170432"/>
            <a:ext cx="3950208" cy="292608"/>
          </a:xfrm>
          <a:prstGeom prst="rect">
            <a:avLst/>
          </a:prstGeom>
          <a:noFill/>
          <a:ln/>
        </p:spPr>
        <p:txBody>
          <a:bodyPr wrap="square" lIns="0" tIns="0" rIns="0" bIns="0" rtlCol="0" anchor="t"/>
          <a:lstStyle/>
          <a:p>
            <a:pPr indent="0" marL="0">
              <a:buNone/>
            </a:pPr>
            <a:r>
              <a:rPr lang="en-US" sz="950" dirty="0">
                <a:solidFill>
                  <a:srgbClr val="334155"/>
                </a:solidFill>
              </a:rPr>
              <a:t>✓  Order DI water system + pole brush + safety gear ($1,800 Amazon/Jetter)</a:t>
            </a:r>
            <a:endParaRPr lang="en-US" sz="950" dirty="0"/>
          </a:p>
        </p:txBody>
      </p:sp>
      <p:sp>
        <p:nvSpPr>
          <p:cNvPr id="8" name="Text 6"/>
          <p:cNvSpPr/>
          <p:nvPr/>
        </p:nvSpPr>
        <p:spPr>
          <a:xfrm>
            <a:off x="365760" y="1481328"/>
            <a:ext cx="3950208" cy="292608"/>
          </a:xfrm>
          <a:prstGeom prst="rect">
            <a:avLst/>
          </a:prstGeom>
          <a:noFill/>
          <a:ln/>
        </p:spPr>
        <p:txBody>
          <a:bodyPr wrap="square" lIns="0" tIns="0" rIns="0" bIns="0" rtlCol="0" anchor="t"/>
          <a:lstStyle/>
          <a:p>
            <a:pPr indent="0" marL="0">
              <a:buNone/>
            </a:pPr>
            <a:r>
              <a:rPr lang="en-US" sz="950" dirty="0">
                <a:solidFill>
                  <a:srgbClr val="334155"/>
                </a:solidFill>
              </a:rPr>
              <a:t>✓  Register SunRoute LLC on CA BIZFILE ($70 online, takes 5 min)</a:t>
            </a:r>
            <a:endParaRPr lang="en-US" sz="950" dirty="0"/>
          </a:p>
        </p:txBody>
      </p:sp>
      <p:sp>
        <p:nvSpPr>
          <p:cNvPr id="9" name="Text 7"/>
          <p:cNvSpPr/>
          <p:nvPr/>
        </p:nvSpPr>
        <p:spPr>
          <a:xfrm>
            <a:off x="365760" y="1792224"/>
            <a:ext cx="3950208" cy="292608"/>
          </a:xfrm>
          <a:prstGeom prst="rect">
            <a:avLst/>
          </a:prstGeom>
          <a:noFill/>
          <a:ln/>
        </p:spPr>
        <p:txBody>
          <a:bodyPr wrap="square" lIns="0" tIns="0" rIns="0" bIns="0" rtlCol="0" anchor="t"/>
          <a:lstStyle/>
          <a:p>
            <a:pPr indent="0" marL="0">
              <a:buNone/>
            </a:pPr>
            <a:r>
              <a:rPr lang="en-US" sz="950" dirty="0">
                <a:solidFill>
                  <a:srgbClr val="334155"/>
                </a:solidFill>
              </a:rPr>
              <a:t>✓  Get GL insurance quote on Next Insurance (~$75–100/mo)</a:t>
            </a:r>
            <a:endParaRPr lang="en-US" sz="950" dirty="0"/>
          </a:p>
        </p:txBody>
      </p:sp>
      <p:sp>
        <p:nvSpPr>
          <p:cNvPr id="10" name="Text 8"/>
          <p:cNvSpPr/>
          <p:nvPr/>
        </p:nvSpPr>
        <p:spPr>
          <a:xfrm>
            <a:off x="365760" y="2103120"/>
            <a:ext cx="3950208" cy="292608"/>
          </a:xfrm>
          <a:prstGeom prst="rect">
            <a:avLst/>
          </a:prstGeom>
          <a:noFill/>
          <a:ln/>
        </p:spPr>
        <p:txBody>
          <a:bodyPr wrap="square" lIns="0" tIns="0" rIns="0" bIns="0" rtlCol="0" anchor="t"/>
          <a:lstStyle/>
          <a:p>
            <a:pPr indent="0" marL="0">
              <a:buNone/>
            </a:pPr>
            <a:r>
              <a:rPr lang="en-US" sz="950" dirty="0">
                <a:solidFill>
                  <a:srgbClr val="334155"/>
                </a:solidFill>
              </a:rPr>
              <a:t>✓  Identify target subdivision: Whitney Ranch or Placer One (Google Maps solar layer)</a:t>
            </a:r>
            <a:endParaRPr lang="en-US" sz="950" dirty="0"/>
          </a:p>
        </p:txBody>
      </p:sp>
      <p:sp>
        <p:nvSpPr>
          <p:cNvPr id="11" name="Text 9"/>
          <p:cNvSpPr/>
          <p:nvPr/>
        </p:nvSpPr>
        <p:spPr>
          <a:xfrm>
            <a:off x="365760" y="2414016"/>
            <a:ext cx="3950208" cy="292608"/>
          </a:xfrm>
          <a:prstGeom prst="rect">
            <a:avLst/>
          </a:prstGeom>
          <a:noFill/>
          <a:ln/>
        </p:spPr>
        <p:txBody>
          <a:bodyPr wrap="square" lIns="0" tIns="0" rIns="0" bIns="0" rtlCol="0" anchor="t"/>
          <a:lstStyle/>
          <a:p>
            <a:pPr indent="0" marL="0">
              <a:buNone/>
            </a:pPr>
            <a:r>
              <a:rPr lang="en-US" sz="950" dirty="0">
                <a:solidFill>
                  <a:srgbClr val="334155"/>
                </a:solidFill>
              </a:rPr>
              <a:t>✓  Text 3 friends/neighbors about free demo clean this weekend</a:t>
            </a:r>
            <a:endParaRPr lang="en-US" sz="950" dirty="0"/>
          </a:p>
        </p:txBody>
      </p:sp>
      <p:sp>
        <p:nvSpPr>
          <p:cNvPr id="12" name="Shape 10"/>
          <p:cNvSpPr/>
          <p:nvPr/>
        </p:nvSpPr>
        <p:spPr>
          <a:xfrm>
            <a:off x="4718304" y="777240"/>
            <a:ext cx="4160520" cy="2011680"/>
          </a:xfrm>
          <a:prstGeom prst="rect">
            <a:avLst/>
          </a:prstGeom>
          <a:solidFill>
            <a:srgbClr val="FFFFFF"/>
          </a:solidFill>
          <a:ln w="10160">
            <a:solidFill>
              <a:srgbClr val="E2E8F0"/>
            </a:solidFill>
            <a:prstDash val="solid"/>
          </a:ln>
        </p:spPr>
      </p:sp>
      <p:sp>
        <p:nvSpPr>
          <p:cNvPr id="13" name="Shape 11"/>
          <p:cNvSpPr/>
          <p:nvPr/>
        </p:nvSpPr>
        <p:spPr>
          <a:xfrm>
            <a:off x="4718304" y="777240"/>
            <a:ext cx="4160520" cy="347472"/>
          </a:xfrm>
          <a:prstGeom prst="rect">
            <a:avLst/>
          </a:prstGeom>
          <a:solidFill>
            <a:srgbClr val="028090"/>
          </a:solidFill>
          <a:ln w="12700">
            <a:solidFill>
              <a:srgbClr val="028090"/>
            </a:solidFill>
            <a:prstDash val="solid"/>
          </a:ln>
        </p:spPr>
      </p:sp>
      <p:sp>
        <p:nvSpPr>
          <p:cNvPr id="14" name="Text 12"/>
          <p:cNvSpPr/>
          <p:nvPr/>
        </p:nvSpPr>
        <p:spPr>
          <a:xfrm>
            <a:off x="4718304" y="777240"/>
            <a:ext cx="4160520" cy="347472"/>
          </a:xfrm>
          <a:prstGeom prst="rect">
            <a:avLst/>
          </a:prstGeom>
          <a:noFill/>
          <a:ln/>
        </p:spPr>
        <p:txBody>
          <a:bodyPr wrap="square" lIns="0" tIns="0" rIns="0" bIns="0" rtlCol="0" anchor="ctr"/>
          <a:lstStyle/>
          <a:p>
            <a:pPr algn="ctr" indent="0" marL="0">
              <a:buNone/>
            </a:pPr>
            <a:r>
              <a:rPr lang="en-US" sz="1200" b="1" dirty="0">
                <a:solidFill>
                  <a:srgbClr val="FFFFFF"/>
                </a:solidFill>
              </a:rPr>
              <a:t>Week 2</a:t>
            </a:r>
            <a:endParaRPr lang="en-US" sz="1200" dirty="0"/>
          </a:p>
        </p:txBody>
      </p:sp>
      <p:sp>
        <p:nvSpPr>
          <p:cNvPr id="15" name="Text 13"/>
          <p:cNvSpPr/>
          <p:nvPr/>
        </p:nvSpPr>
        <p:spPr>
          <a:xfrm>
            <a:off x="4828032" y="1170432"/>
            <a:ext cx="3950208" cy="292608"/>
          </a:xfrm>
          <a:prstGeom prst="rect">
            <a:avLst/>
          </a:prstGeom>
          <a:noFill/>
          <a:ln/>
        </p:spPr>
        <p:txBody>
          <a:bodyPr wrap="square" lIns="0" tIns="0" rIns="0" bIns="0" rtlCol="0" anchor="t"/>
          <a:lstStyle/>
          <a:p>
            <a:pPr indent="0" marL="0">
              <a:buNone/>
            </a:pPr>
            <a:r>
              <a:rPr lang="en-US" sz="950" dirty="0">
                <a:solidFill>
                  <a:srgbClr val="334155"/>
                </a:solidFill>
              </a:rPr>
              <a:t>✓  Register Google Business Profile for 'SunRoute Solar Cleaning Rocklin'</a:t>
            </a:r>
            <a:endParaRPr lang="en-US" sz="950" dirty="0"/>
          </a:p>
        </p:txBody>
      </p:sp>
      <p:sp>
        <p:nvSpPr>
          <p:cNvPr id="16" name="Text 14"/>
          <p:cNvSpPr/>
          <p:nvPr/>
        </p:nvSpPr>
        <p:spPr>
          <a:xfrm>
            <a:off x="4828032" y="1481328"/>
            <a:ext cx="3950208" cy="292608"/>
          </a:xfrm>
          <a:prstGeom prst="rect">
            <a:avLst/>
          </a:prstGeom>
          <a:noFill/>
          <a:ln/>
        </p:spPr>
        <p:txBody>
          <a:bodyPr wrap="square" lIns="0" tIns="0" rIns="0" bIns="0" rtlCol="0" anchor="t"/>
          <a:lstStyle/>
          <a:p>
            <a:pPr indent="0" marL="0">
              <a:buNone/>
            </a:pPr>
            <a:r>
              <a:rPr lang="en-US" sz="950" dirty="0">
                <a:solidFill>
                  <a:srgbClr val="334155"/>
                </a:solidFill>
              </a:rPr>
              <a:t>✓  Build one-page website on Carrd ($12) with Tidio chatbot (free tier)</a:t>
            </a:r>
            <a:endParaRPr lang="en-US" sz="950" dirty="0"/>
          </a:p>
        </p:txBody>
      </p:sp>
      <p:sp>
        <p:nvSpPr>
          <p:cNvPr id="17" name="Text 15"/>
          <p:cNvSpPr/>
          <p:nvPr/>
        </p:nvSpPr>
        <p:spPr>
          <a:xfrm>
            <a:off x="4828032" y="1792224"/>
            <a:ext cx="3950208" cy="292608"/>
          </a:xfrm>
          <a:prstGeom prst="rect">
            <a:avLst/>
          </a:prstGeom>
          <a:noFill/>
          <a:ln/>
        </p:spPr>
        <p:txBody>
          <a:bodyPr wrap="square" lIns="0" tIns="0" rIns="0" bIns="0" rtlCol="0" anchor="t"/>
          <a:lstStyle/>
          <a:p>
            <a:pPr indent="0" marL="0">
              <a:buNone/>
            </a:pPr>
            <a:r>
              <a:rPr lang="en-US" sz="950" dirty="0">
                <a:solidFill>
                  <a:srgbClr val="334155"/>
                </a:solidFill>
              </a:rPr>
              <a:t>✓  Set up Stripe + Square for instant payment (residential + commercial)</a:t>
            </a:r>
            <a:endParaRPr lang="en-US" sz="950" dirty="0"/>
          </a:p>
        </p:txBody>
      </p:sp>
      <p:sp>
        <p:nvSpPr>
          <p:cNvPr id="18" name="Text 16"/>
          <p:cNvSpPr/>
          <p:nvPr/>
        </p:nvSpPr>
        <p:spPr>
          <a:xfrm>
            <a:off x="4828032" y="2103120"/>
            <a:ext cx="3950208" cy="292608"/>
          </a:xfrm>
          <a:prstGeom prst="rect">
            <a:avLst/>
          </a:prstGeom>
          <a:noFill/>
          <a:ln/>
        </p:spPr>
        <p:txBody>
          <a:bodyPr wrap="square" lIns="0" tIns="0" rIns="0" bIns="0" rtlCol="0" anchor="t"/>
          <a:lstStyle/>
          <a:p>
            <a:pPr indent="0" marL="0">
              <a:buNone/>
            </a:pPr>
            <a:r>
              <a:rPr lang="en-US" sz="950" dirty="0">
                <a:solidFill>
                  <a:srgbClr val="334155"/>
                </a:solidFill>
              </a:rPr>
              <a:t>✓  Deploy Buster: Nextdoor + Facebook Group presence begins posting daily</a:t>
            </a:r>
            <a:endParaRPr lang="en-US" sz="950" dirty="0"/>
          </a:p>
        </p:txBody>
      </p:sp>
      <p:sp>
        <p:nvSpPr>
          <p:cNvPr id="19" name="Text 17"/>
          <p:cNvSpPr/>
          <p:nvPr/>
        </p:nvSpPr>
        <p:spPr>
          <a:xfrm>
            <a:off x="4828032" y="2414016"/>
            <a:ext cx="3950208" cy="292608"/>
          </a:xfrm>
          <a:prstGeom prst="rect">
            <a:avLst/>
          </a:prstGeom>
          <a:noFill/>
          <a:ln/>
        </p:spPr>
        <p:txBody>
          <a:bodyPr wrap="square" lIns="0" tIns="0" rIns="0" bIns="0" rtlCol="0" anchor="t"/>
          <a:lstStyle/>
          <a:p>
            <a:pPr indent="0" marL="0">
              <a:buNone/>
            </a:pPr>
            <a:r>
              <a:rPr lang="en-US" sz="950" dirty="0">
                <a:solidFill>
                  <a:srgbClr val="334155"/>
                </a:solidFill>
              </a:rPr>
              <a:t>✓  Activate Solar Scout AI — start monitoring Rocklin/Roseville intent signals</a:t>
            </a:r>
            <a:endParaRPr lang="en-US" sz="950" dirty="0"/>
          </a:p>
        </p:txBody>
      </p:sp>
      <p:sp>
        <p:nvSpPr>
          <p:cNvPr id="20" name="Shape 18"/>
          <p:cNvSpPr/>
          <p:nvPr/>
        </p:nvSpPr>
        <p:spPr>
          <a:xfrm>
            <a:off x="256032" y="2898648"/>
            <a:ext cx="4160520" cy="2011680"/>
          </a:xfrm>
          <a:prstGeom prst="rect">
            <a:avLst/>
          </a:prstGeom>
          <a:solidFill>
            <a:srgbClr val="FFFFFF"/>
          </a:solidFill>
          <a:ln w="10160">
            <a:solidFill>
              <a:srgbClr val="E2E8F0"/>
            </a:solidFill>
            <a:prstDash val="solid"/>
          </a:ln>
        </p:spPr>
      </p:sp>
      <p:sp>
        <p:nvSpPr>
          <p:cNvPr id="21" name="Shape 19"/>
          <p:cNvSpPr/>
          <p:nvPr/>
        </p:nvSpPr>
        <p:spPr>
          <a:xfrm>
            <a:off x="256032" y="2898648"/>
            <a:ext cx="4160520" cy="347472"/>
          </a:xfrm>
          <a:prstGeom prst="rect">
            <a:avLst/>
          </a:prstGeom>
          <a:solidFill>
            <a:srgbClr val="0B1F3A"/>
          </a:solidFill>
          <a:ln w="12700">
            <a:solidFill>
              <a:srgbClr val="0B1F3A"/>
            </a:solidFill>
            <a:prstDash val="solid"/>
          </a:ln>
        </p:spPr>
      </p:sp>
      <p:sp>
        <p:nvSpPr>
          <p:cNvPr id="22" name="Text 20"/>
          <p:cNvSpPr/>
          <p:nvPr/>
        </p:nvSpPr>
        <p:spPr>
          <a:xfrm>
            <a:off x="256032" y="2898648"/>
            <a:ext cx="4160520" cy="347472"/>
          </a:xfrm>
          <a:prstGeom prst="rect">
            <a:avLst/>
          </a:prstGeom>
          <a:noFill/>
          <a:ln/>
        </p:spPr>
        <p:txBody>
          <a:bodyPr wrap="square" lIns="0" tIns="0" rIns="0" bIns="0" rtlCol="0" anchor="ctr"/>
          <a:lstStyle/>
          <a:p>
            <a:pPr algn="ctr" indent="0" marL="0">
              <a:buNone/>
            </a:pPr>
            <a:r>
              <a:rPr lang="en-US" sz="1200" b="1" dirty="0">
                <a:solidFill>
                  <a:srgbClr val="FFFFFF"/>
                </a:solidFill>
              </a:rPr>
              <a:t>Week 3</a:t>
            </a:r>
            <a:endParaRPr lang="en-US" sz="1200" dirty="0"/>
          </a:p>
        </p:txBody>
      </p:sp>
      <p:sp>
        <p:nvSpPr>
          <p:cNvPr id="23" name="Text 21"/>
          <p:cNvSpPr/>
          <p:nvPr/>
        </p:nvSpPr>
        <p:spPr>
          <a:xfrm>
            <a:off x="365760" y="3291840"/>
            <a:ext cx="3950208" cy="292608"/>
          </a:xfrm>
          <a:prstGeom prst="rect">
            <a:avLst/>
          </a:prstGeom>
          <a:noFill/>
          <a:ln/>
        </p:spPr>
        <p:txBody>
          <a:bodyPr wrap="square" lIns="0" tIns="0" rIns="0" bIns="0" rtlCol="0" anchor="t"/>
          <a:lstStyle/>
          <a:p>
            <a:pPr indent="0" marL="0">
              <a:buNone/>
            </a:pPr>
            <a:r>
              <a:rPr lang="en-US" sz="950" dirty="0">
                <a:solidFill>
                  <a:srgbClr val="334155"/>
                </a:solidFill>
              </a:rPr>
              <a:t>✓  Do 3 free/discounted jobs in target subdivision → photograph everything</a:t>
            </a:r>
            <a:endParaRPr lang="en-US" sz="950" dirty="0"/>
          </a:p>
        </p:txBody>
      </p:sp>
      <p:sp>
        <p:nvSpPr>
          <p:cNvPr id="24" name="Text 22"/>
          <p:cNvSpPr/>
          <p:nvPr/>
        </p:nvSpPr>
        <p:spPr>
          <a:xfrm>
            <a:off x="365760" y="3602736"/>
            <a:ext cx="3950208" cy="292608"/>
          </a:xfrm>
          <a:prstGeom prst="rect">
            <a:avLst/>
          </a:prstGeom>
          <a:noFill/>
          <a:ln/>
        </p:spPr>
        <p:txBody>
          <a:bodyPr wrap="square" lIns="0" tIns="0" rIns="0" bIns="0" rtlCol="0" anchor="t"/>
          <a:lstStyle/>
          <a:p>
            <a:pPr indent="0" marL="0">
              <a:buNone/>
            </a:pPr>
            <a:r>
              <a:rPr lang="en-US" sz="950" dirty="0">
                <a:solidFill>
                  <a:srgbClr val="334155"/>
                </a:solidFill>
              </a:rPr>
              <a:t>✓  Drop 200 door hangers on adjacent homes with QR code to AI quote bot</a:t>
            </a:r>
            <a:endParaRPr lang="en-US" sz="950" dirty="0"/>
          </a:p>
        </p:txBody>
      </p:sp>
      <p:sp>
        <p:nvSpPr>
          <p:cNvPr id="25" name="Text 23"/>
          <p:cNvSpPr/>
          <p:nvPr/>
        </p:nvSpPr>
        <p:spPr>
          <a:xfrm>
            <a:off x="365760" y="3913632"/>
            <a:ext cx="3950208" cy="292608"/>
          </a:xfrm>
          <a:prstGeom prst="rect">
            <a:avLst/>
          </a:prstGeom>
          <a:noFill/>
          <a:ln/>
        </p:spPr>
        <p:txBody>
          <a:bodyPr wrap="square" lIns="0" tIns="0" rIns="0" bIns="0" rtlCol="0" anchor="t"/>
          <a:lstStyle/>
          <a:p>
            <a:pPr indent="0" marL="0">
              <a:buNone/>
            </a:pPr>
            <a:r>
              <a:rPr lang="en-US" sz="950" dirty="0">
                <a:solidFill>
                  <a:srgbClr val="334155"/>
                </a:solidFill>
              </a:rPr>
              <a:t>✓  Buster posts 'Neighborhood Solar Special' — first paid leads arrive</a:t>
            </a:r>
            <a:endParaRPr lang="en-US" sz="950" dirty="0"/>
          </a:p>
        </p:txBody>
      </p:sp>
      <p:sp>
        <p:nvSpPr>
          <p:cNvPr id="26" name="Text 24"/>
          <p:cNvSpPr/>
          <p:nvPr/>
        </p:nvSpPr>
        <p:spPr>
          <a:xfrm>
            <a:off x="365760" y="4224528"/>
            <a:ext cx="3950208" cy="292608"/>
          </a:xfrm>
          <a:prstGeom prst="rect">
            <a:avLst/>
          </a:prstGeom>
          <a:noFill/>
          <a:ln/>
        </p:spPr>
        <p:txBody>
          <a:bodyPr wrap="square" lIns="0" tIns="0" rIns="0" bIns="0" rtlCol="0" anchor="t"/>
          <a:lstStyle/>
          <a:p>
            <a:pPr indent="0" marL="0">
              <a:buNone/>
            </a:pPr>
            <a:r>
              <a:rPr lang="en-US" sz="950" dirty="0">
                <a:solidFill>
                  <a:srgbClr val="334155"/>
                </a:solidFill>
              </a:rPr>
              <a:t>✓  Book 6–8 paid jobs for upcoming weekend</a:t>
            </a:r>
            <a:endParaRPr lang="en-US" sz="950" dirty="0"/>
          </a:p>
        </p:txBody>
      </p:sp>
      <p:sp>
        <p:nvSpPr>
          <p:cNvPr id="27" name="Text 25"/>
          <p:cNvSpPr/>
          <p:nvPr/>
        </p:nvSpPr>
        <p:spPr>
          <a:xfrm>
            <a:off x="365760" y="4535424"/>
            <a:ext cx="3950208" cy="292608"/>
          </a:xfrm>
          <a:prstGeom prst="rect">
            <a:avLst/>
          </a:prstGeom>
          <a:noFill/>
          <a:ln/>
        </p:spPr>
        <p:txBody>
          <a:bodyPr wrap="square" lIns="0" tIns="0" rIns="0" bIns="0" rtlCol="0" anchor="t"/>
          <a:lstStyle/>
          <a:p>
            <a:pPr indent="0" marL="0">
              <a:buNone/>
            </a:pPr>
            <a:r>
              <a:rPr lang="en-US" sz="950" dirty="0">
                <a:solidFill>
                  <a:srgbClr val="334155"/>
                </a:solidFill>
              </a:rPr>
              <a:t>✓  Quote transparently: publish flat-rate pricing page (no Primetime pricing surprises)</a:t>
            </a:r>
            <a:endParaRPr lang="en-US" sz="950" dirty="0"/>
          </a:p>
        </p:txBody>
      </p:sp>
      <p:sp>
        <p:nvSpPr>
          <p:cNvPr id="28" name="Shape 26"/>
          <p:cNvSpPr/>
          <p:nvPr/>
        </p:nvSpPr>
        <p:spPr>
          <a:xfrm>
            <a:off x="4718304" y="2898648"/>
            <a:ext cx="4160520" cy="2011680"/>
          </a:xfrm>
          <a:prstGeom prst="rect">
            <a:avLst/>
          </a:prstGeom>
          <a:solidFill>
            <a:srgbClr val="FFFFFF"/>
          </a:solidFill>
          <a:ln w="10160">
            <a:solidFill>
              <a:srgbClr val="E2E8F0"/>
            </a:solidFill>
            <a:prstDash val="solid"/>
          </a:ln>
        </p:spPr>
      </p:sp>
      <p:sp>
        <p:nvSpPr>
          <p:cNvPr id="29" name="Shape 27"/>
          <p:cNvSpPr/>
          <p:nvPr/>
        </p:nvSpPr>
        <p:spPr>
          <a:xfrm>
            <a:off x="4718304" y="2898648"/>
            <a:ext cx="4160520" cy="347472"/>
          </a:xfrm>
          <a:prstGeom prst="rect">
            <a:avLst/>
          </a:prstGeom>
          <a:solidFill>
            <a:srgbClr val="334155"/>
          </a:solidFill>
          <a:ln w="12700">
            <a:solidFill>
              <a:srgbClr val="334155"/>
            </a:solidFill>
            <a:prstDash val="solid"/>
          </a:ln>
        </p:spPr>
      </p:sp>
      <p:sp>
        <p:nvSpPr>
          <p:cNvPr id="30" name="Text 28"/>
          <p:cNvSpPr/>
          <p:nvPr/>
        </p:nvSpPr>
        <p:spPr>
          <a:xfrm>
            <a:off x="4718304" y="2898648"/>
            <a:ext cx="4160520" cy="347472"/>
          </a:xfrm>
          <a:prstGeom prst="rect">
            <a:avLst/>
          </a:prstGeom>
          <a:noFill/>
          <a:ln/>
        </p:spPr>
        <p:txBody>
          <a:bodyPr wrap="square" lIns="0" tIns="0" rIns="0" bIns="0" rtlCol="0" anchor="ctr"/>
          <a:lstStyle/>
          <a:p>
            <a:pPr algn="ctr" indent="0" marL="0">
              <a:buNone/>
            </a:pPr>
            <a:r>
              <a:rPr lang="en-US" sz="1200" b="1" dirty="0">
                <a:solidFill>
                  <a:srgbClr val="FFFFFF"/>
                </a:solidFill>
              </a:rPr>
              <a:t>Week 4</a:t>
            </a:r>
            <a:endParaRPr lang="en-US" sz="1200" dirty="0"/>
          </a:p>
        </p:txBody>
      </p:sp>
      <p:sp>
        <p:nvSpPr>
          <p:cNvPr id="31" name="Text 29"/>
          <p:cNvSpPr/>
          <p:nvPr/>
        </p:nvSpPr>
        <p:spPr>
          <a:xfrm>
            <a:off x="4828032" y="3291840"/>
            <a:ext cx="3950208" cy="292608"/>
          </a:xfrm>
          <a:prstGeom prst="rect">
            <a:avLst/>
          </a:prstGeom>
          <a:noFill/>
          <a:ln/>
        </p:spPr>
        <p:txBody>
          <a:bodyPr wrap="square" lIns="0" tIns="0" rIns="0" bIns="0" rtlCol="0" anchor="t"/>
          <a:lstStyle/>
          <a:p>
            <a:pPr indent="0" marL="0">
              <a:buNone/>
            </a:pPr>
            <a:r>
              <a:rPr lang="en-US" sz="950" dirty="0">
                <a:solidFill>
                  <a:srgbClr val="334155"/>
                </a:solidFill>
              </a:rPr>
              <a:t>✓  Complete first paid weekend: 6–8 jobs → deposit $900–$1,600</a:t>
            </a:r>
            <a:endParaRPr lang="en-US" sz="950" dirty="0"/>
          </a:p>
        </p:txBody>
      </p:sp>
      <p:sp>
        <p:nvSpPr>
          <p:cNvPr id="32" name="Text 30"/>
          <p:cNvSpPr/>
          <p:nvPr/>
        </p:nvSpPr>
        <p:spPr>
          <a:xfrm>
            <a:off x="4828032" y="3602736"/>
            <a:ext cx="3950208" cy="292608"/>
          </a:xfrm>
          <a:prstGeom prst="rect">
            <a:avLst/>
          </a:prstGeom>
          <a:noFill/>
          <a:ln/>
        </p:spPr>
        <p:txBody>
          <a:bodyPr wrap="square" lIns="0" tIns="0" rIns="0" bIns="0" rtlCol="0" anchor="t"/>
          <a:lstStyle/>
          <a:p>
            <a:pPr indent="0" marL="0">
              <a:buNone/>
            </a:pPr>
            <a:r>
              <a:rPr lang="en-US" sz="950" dirty="0">
                <a:solidFill>
                  <a:srgbClr val="334155"/>
                </a:solidFill>
              </a:rPr>
              <a:t>✓  Buster auto-texts every customer for Google review (review bot)</a:t>
            </a:r>
            <a:endParaRPr lang="en-US" sz="950" dirty="0"/>
          </a:p>
        </p:txBody>
      </p:sp>
      <p:sp>
        <p:nvSpPr>
          <p:cNvPr id="33" name="Text 31"/>
          <p:cNvSpPr/>
          <p:nvPr/>
        </p:nvSpPr>
        <p:spPr>
          <a:xfrm>
            <a:off x="4828032" y="3913632"/>
            <a:ext cx="3950208" cy="292608"/>
          </a:xfrm>
          <a:prstGeom prst="rect">
            <a:avLst/>
          </a:prstGeom>
          <a:noFill/>
          <a:ln/>
        </p:spPr>
        <p:txBody>
          <a:bodyPr wrap="square" lIns="0" tIns="0" rIns="0" bIns="0" rtlCol="0" anchor="t"/>
          <a:lstStyle/>
          <a:p>
            <a:pPr indent="0" marL="0">
              <a:buNone/>
            </a:pPr>
            <a:r>
              <a:rPr lang="en-US" sz="950" dirty="0">
                <a:solidFill>
                  <a:srgbClr val="334155"/>
                </a:solidFill>
              </a:rPr>
              <a:t>✓  Knock 6 neighbor doors after every job ('while I'm here' offer)</a:t>
            </a:r>
            <a:endParaRPr lang="en-US" sz="950" dirty="0"/>
          </a:p>
        </p:txBody>
      </p:sp>
      <p:sp>
        <p:nvSpPr>
          <p:cNvPr id="34" name="Text 32"/>
          <p:cNvSpPr/>
          <p:nvPr/>
        </p:nvSpPr>
        <p:spPr>
          <a:xfrm>
            <a:off x="4828032" y="4224528"/>
            <a:ext cx="3950208" cy="292608"/>
          </a:xfrm>
          <a:prstGeom prst="rect">
            <a:avLst/>
          </a:prstGeom>
          <a:noFill/>
          <a:ln/>
        </p:spPr>
        <p:txBody>
          <a:bodyPr wrap="square" lIns="0" tIns="0" rIns="0" bIns="0" rtlCol="0" anchor="t"/>
          <a:lstStyle/>
          <a:p>
            <a:pPr indent="0" marL="0">
              <a:buNone/>
            </a:pPr>
            <a:r>
              <a:rPr lang="en-US" sz="950" dirty="0">
                <a:solidFill>
                  <a:srgbClr val="334155"/>
                </a:solidFill>
              </a:rPr>
              <a:t>✓  Check CAC by channel — double Nextdoor/referral if winning there</a:t>
            </a:r>
            <a:endParaRPr lang="en-US" sz="950" dirty="0"/>
          </a:p>
        </p:txBody>
      </p:sp>
      <p:sp>
        <p:nvSpPr>
          <p:cNvPr id="35" name="Text 33"/>
          <p:cNvSpPr/>
          <p:nvPr/>
        </p:nvSpPr>
        <p:spPr>
          <a:xfrm>
            <a:off x="4828032" y="4535424"/>
            <a:ext cx="3950208" cy="292608"/>
          </a:xfrm>
          <a:prstGeom prst="rect">
            <a:avLst/>
          </a:prstGeom>
          <a:noFill/>
          <a:ln/>
        </p:spPr>
        <p:txBody>
          <a:bodyPr wrap="square" lIns="0" tIns="0" rIns="0" bIns="0" rtlCol="0" anchor="t"/>
          <a:lstStyle/>
          <a:p>
            <a:pPr indent="0" marL="0">
              <a:buNone/>
            </a:pPr>
            <a:r>
              <a:rPr lang="en-US" sz="950" dirty="0">
                <a:solidFill>
                  <a:srgbClr val="334155"/>
                </a:solidFill>
              </a:rPr>
              <a:t>✓  Offer every customer the $99 bi-annual subscription at checkout</a:t>
            </a:r>
            <a:endParaRPr lang="en-US" sz="9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9FB"/>
        </a:solidFill>
      </p:bgPr>
    </p:bg>
    <p:spTree>
      <p:nvGrpSpPr>
        <p:cNvPr id="1" name=""/>
        <p:cNvGrpSpPr/>
        <p:nvPr/>
      </p:nvGrpSpPr>
      <p:grpSpPr>
        <a:xfrm>
          <a:off x="0" y="0"/>
          <a:ext cx="0" cy="0"/>
          <a:chOff x="0" y="0"/>
          <a:chExt cx="0" cy="0"/>
        </a:xfrm>
      </p:grpSpPr>
      <p:sp>
        <p:nvSpPr>
          <p:cNvPr id="2" name="Shape 0"/>
          <p:cNvSpPr/>
          <p:nvPr/>
        </p:nvSpPr>
        <p:spPr>
          <a:xfrm>
            <a:off x="0" y="0"/>
            <a:ext cx="9144000" cy="658368"/>
          </a:xfrm>
          <a:prstGeom prst="rect">
            <a:avLst/>
          </a:prstGeom>
          <a:solidFill>
            <a:srgbClr val="0B1F3A"/>
          </a:solidFill>
          <a:ln w="12700">
            <a:solidFill>
              <a:srgbClr val="0B1F3A"/>
            </a:solidFill>
            <a:prstDash val="solid"/>
          </a:ln>
        </p:spPr>
      </p:sp>
      <p:sp>
        <p:nvSpPr>
          <p:cNvPr id="3" name="Text 1"/>
          <p:cNvSpPr/>
          <p:nvPr/>
        </p:nvSpPr>
        <p:spPr>
          <a:xfrm>
            <a:off x="457200" y="0"/>
            <a:ext cx="8412480" cy="658368"/>
          </a:xfrm>
          <a:prstGeom prst="rect">
            <a:avLst/>
          </a:prstGeom>
          <a:noFill/>
          <a:ln/>
        </p:spPr>
        <p:txBody>
          <a:bodyPr wrap="square" lIns="0" tIns="0" rIns="0" bIns="0" rtlCol="0" anchor="ctr"/>
          <a:lstStyle/>
          <a:p>
            <a:pPr indent="0" marL="0">
              <a:buNone/>
            </a:pPr>
            <a:r>
              <a:rPr lang="en-US" sz="1300" b="1" spc="500" kern="0" dirty="0">
                <a:solidFill>
                  <a:srgbClr val="F4B942"/>
                </a:solidFill>
              </a:rPr>
              <a:t>RISKS, GAPS &amp; MITIGATIONS — NOTHING MISSED</a:t>
            </a:r>
            <a:endParaRPr lang="en-US" sz="1300" dirty="0"/>
          </a:p>
        </p:txBody>
      </p:sp>
      <p:sp>
        <p:nvSpPr>
          <p:cNvPr id="4" name="Shape 2"/>
          <p:cNvSpPr/>
          <p:nvPr/>
        </p:nvSpPr>
        <p:spPr>
          <a:xfrm>
            <a:off x="274320" y="777240"/>
            <a:ext cx="4160520" cy="1005840"/>
          </a:xfrm>
          <a:prstGeom prst="rect">
            <a:avLst/>
          </a:prstGeom>
          <a:solidFill>
            <a:srgbClr val="FFFFFF"/>
          </a:solidFill>
          <a:ln w="6350">
            <a:solidFill>
              <a:srgbClr val="E2E8F0"/>
            </a:solidFill>
            <a:prstDash val="solid"/>
          </a:ln>
        </p:spPr>
      </p:sp>
      <p:sp>
        <p:nvSpPr>
          <p:cNvPr id="5" name="Shape 3"/>
          <p:cNvSpPr/>
          <p:nvPr/>
        </p:nvSpPr>
        <p:spPr>
          <a:xfrm>
            <a:off x="274320" y="777240"/>
            <a:ext cx="4160520" cy="73152"/>
          </a:xfrm>
          <a:prstGeom prst="rect">
            <a:avLst/>
          </a:prstGeom>
          <a:solidFill>
            <a:srgbClr val="E67E22"/>
          </a:solidFill>
          <a:ln w="12700">
            <a:solidFill>
              <a:srgbClr val="E67E22"/>
            </a:solidFill>
            <a:prstDash val="solid"/>
          </a:ln>
        </p:spPr>
      </p:sp>
      <p:sp>
        <p:nvSpPr>
          <p:cNvPr id="6" name="Text 4"/>
          <p:cNvSpPr/>
          <p:nvPr/>
        </p:nvSpPr>
        <p:spPr>
          <a:xfrm>
            <a:off x="365760" y="868680"/>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Pure Solar Clean retaliates with discounting</a:t>
            </a:r>
            <a:endParaRPr lang="en-US" sz="1000" dirty="0"/>
          </a:p>
        </p:txBody>
      </p:sp>
      <p:sp>
        <p:nvSpPr>
          <p:cNvPr id="7" name="Shape 5"/>
          <p:cNvSpPr/>
          <p:nvPr/>
        </p:nvSpPr>
        <p:spPr>
          <a:xfrm>
            <a:off x="3291840" y="868680"/>
            <a:ext cx="1051560" cy="228600"/>
          </a:xfrm>
          <a:prstGeom prst="rect">
            <a:avLst/>
          </a:prstGeom>
          <a:solidFill>
            <a:srgbClr val="E67E22"/>
          </a:solidFill>
          <a:ln w="12700">
            <a:solidFill>
              <a:srgbClr val="E67E22"/>
            </a:solidFill>
            <a:prstDash val="solid"/>
          </a:ln>
        </p:spPr>
      </p:sp>
      <p:sp>
        <p:nvSpPr>
          <p:cNvPr id="8" name="Text 6"/>
          <p:cNvSpPr/>
          <p:nvPr/>
        </p:nvSpPr>
        <p:spPr>
          <a:xfrm>
            <a:off x="3291840" y="868680"/>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MED risk</a:t>
            </a:r>
            <a:endParaRPr lang="en-US" sz="800" dirty="0"/>
          </a:p>
        </p:txBody>
      </p:sp>
      <p:sp>
        <p:nvSpPr>
          <p:cNvPr id="9" name="Text 7"/>
          <p:cNvSpPr/>
          <p:nvPr/>
        </p:nvSpPr>
        <p:spPr>
          <a:xfrm>
            <a:off x="365760" y="1161288"/>
            <a:ext cx="3977640" cy="548640"/>
          </a:xfrm>
          <a:prstGeom prst="rect">
            <a:avLst/>
          </a:prstGeom>
          <a:noFill/>
          <a:ln/>
        </p:spPr>
        <p:txBody>
          <a:bodyPr wrap="square" lIns="0" tIns="0" rIns="0" bIns="0" rtlCol="0" anchor="t"/>
          <a:lstStyle/>
          <a:p>
            <a:pPr indent="0" marL="0">
              <a:buNone/>
            </a:pPr>
            <a:r>
              <a:rPr lang="en-US" sz="900" dirty="0">
                <a:solidFill>
                  <a:srgbClr val="334155"/>
                </a:solidFill>
              </a:rPr>
              <a:t>Their 312-review moat and brand mean they won't slash prices for new market entrants. Roger's response: out-specialize and out-automate. Pure Solar can't replicate an AI stack overnight. Win on subscriptions and HOA contracts they don't offer.</a:t>
            </a:r>
            <a:endParaRPr lang="en-US" sz="900" dirty="0"/>
          </a:p>
        </p:txBody>
      </p:sp>
      <p:sp>
        <p:nvSpPr>
          <p:cNvPr id="10" name="Shape 8"/>
          <p:cNvSpPr/>
          <p:nvPr/>
        </p:nvSpPr>
        <p:spPr>
          <a:xfrm>
            <a:off x="4736592" y="777240"/>
            <a:ext cx="4160520" cy="1005840"/>
          </a:xfrm>
          <a:prstGeom prst="rect">
            <a:avLst/>
          </a:prstGeom>
          <a:solidFill>
            <a:srgbClr val="FFFFFF"/>
          </a:solidFill>
          <a:ln w="6350">
            <a:solidFill>
              <a:srgbClr val="E2E8F0"/>
            </a:solidFill>
            <a:prstDash val="solid"/>
          </a:ln>
        </p:spPr>
      </p:sp>
      <p:sp>
        <p:nvSpPr>
          <p:cNvPr id="11" name="Shape 9"/>
          <p:cNvSpPr/>
          <p:nvPr/>
        </p:nvSpPr>
        <p:spPr>
          <a:xfrm>
            <a:off x="4736592" y="777240"/>
            <a:ext cx="4160520" cy="73152"/>
          </a:xfrm>
          <a:prstGeom prst="rect">
            <a:avLst/>
          </a:prstGeom>
          <a:solidFill>
            <a:srgbClr val="E67E22"/>
          </a:solidFill>
          <a:ln w="12700">
            <a:solidFill>
              <a:srgbClr val="E67E22"/>
            </a:solidFill>
            <a:prstDash val="solid"/>
          </a:ln>
        </p:spPr>
      </p:sp>
      <p:sp>
        <p:nvSpPr>
          <p:cNvPr id="12" name="Text 10"/>
          <p:cNvSpPr/>
          <p:nvPr/>
        </p:nvSpPr>
        <p:spPr>
          <a:xfrm>
            <a:off x="4828032" y="868680"/>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HOA rejects vendor exclusivity pitch</a:t>
            </a:r>
            <a:endParaRPr lang="en-US" sz="1000" dirty="0"/>
          </a:p>
        </p:txBody>
      </p:sp>
      <p:sp>
        <p:nvSpPr>
          <p:cNvPr id="13" name="Shape 11"/>
          <p:cNvSpPr/>
          <p:nvPr/>
        </p:nvSpPr>
        <p:spPr>
          <a:xfrm>
            <a:off x="7754112" y="868680"/>
            <a:ext cx="1051560" cy="228600"/>
          </a:xfrm>
          <a:prstGeom prst="rect">
            <a:avLst/>
          </a:prstGeom>
          <a:solidFill>
            <a:srgbClr val="E67E22"/>
          </a:solidFill>
          <a:ln w="12700">
            <a:solidFill>
              <a:srgbClr val="E67E22"/>
            </a:solidFill>
            <a:prstDash val="solid"/>
          </a:ln>
        </p:spPr>
      </p:sp>
      <p:sp>
        <p:nvSpPr>
          <p:cNvPr id="14" name="Text 12"/>
          <p:cNvSpPr/>
          <p:nvPr/>
        </p:nvSpPr>
        <p:spPr>
          <a:xfrm>
            <a:off x="7754112" y="868680"/>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MED risk</a:t>
            </a:r>
            <a:endParaRPr lang="en-US" sz="800" dirty="0"/>
          </a:p>
        </p:txBody>
      </p:sp>
      <p:sp>
        <p:nvSpPr>
          <p:cNvPr id="15" name="Text 13"/>
          <p:cNvSpPr/>
          <p:nvPr/>
        </p:nvSpPr>
        <p:spPr>
          <a:xfrm>
            <a:off x="4828032" y="1161288"/>
            <a:ext cx="3977640" cy="548640"/>
          </a:xfrm>
          <a:prstGeom prst="rect">
            <a:avLst/>
          </a:prstGeom>
          <a:noFill/>
          <a:ln/>
        </p:spPr>
        <p:txBody>
          <a:bodyPr wrap="square" lIns="0" tIns="0" rIns="0" bIns="0" rtlCol="0" anchor="t"/>
          <a:lstStyle/>
          <a:p>
            <a:pPr indent="0" marL="0">
              <a:buNone/>
            </a:pPr>
            <a:r>
              <a:rPr lang="en-US" sz="900" dirty="0">
                <a:solidFill>
                  <a:srgbClr val="334155"/>
                </a:solidFill>
              </a:rPr>
              <a:t>Never ask for exclusivity in pitch meeting #1. Start with 'neighborhood cleaning day at bulk rate.' After 2 successful events, HOA boards almost always ask for ongoing arrangement. Let the service sell itself first.</a:t>
            </a:r>
            <a:endParaRPr lang="en-US" sz="900" dirty="0"/>
          </a:p>
        </p:txBody>
      </p:sp>
      <p:sp>
        <p:nvSpPr>
          <p:cNvPr id="16" name="Shape 14"/>
          <p:cNvSpPr/>
          <p:nvPr/>
        </p:nvSpPr>
        <p:spPr>
          <a:xfrm>
            <a:off x="274320" y="1847088"/>
            <a:ext cx="4160520" cy="1005840"/>
          </a:xfrm>
          <a:prstGeom prst="rect">
            <a:avLst/>
          </a:prstGeom>
          <a:solidFill>
            <a:srgbClr val="FFFFFF"/>
          </a:solidFill>
          <a:ln w="6350">
            <a:solidFill>
              <a:srgbClr val="E2E8F0"/>
            </a:solidFill>
            <a:prstDash val="solid"/>
          </a:ln>
        </p:spPr>
      </p:sp>
      <p:sp>
        <p:nvSpPr>
          <p:cNvPr id="17" name="Shape 15"/>
          <p:cNvSpPr/>
          <p:nvPr/>
        </p:nvSpPr>
        <p:spPr>
          <a:xfrm>
            <a:off x="274320" y="1847088"/>
            <a:ext cx="4160520" cy="73152"/>
          </a:xfrm>
          <a:prstGeom prst="rect">
            <a:avLst/>
          </a:prstGeom>
          <a:solidFill>
            <a:srgbClr val="27AE60"/>
          </a:solidFill>
          <a:ln w="12700">
            <a:solidFill>
              <a:srgbClr val="27AE60"/>
            </a:solidFill>
            <a:prstDash val="solid"/>
          </a:ln>
        </p:spPr>
      </p:sp>
      <p:sp>
        <p:nvSpPr>
          <p:cNvPr id="18" name="Text 16"/>
          <p:cNvSpPr/>
          <p:nvPr/>
        </p:nvSpPr>
        <p:spPr>
          <a:xfrm>
            <a:off x="365760" y="1938528"/>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Panel warranty claims if cleaning damages panels</a:t>
            </a:r>
            <a:endParaRPr lang="en-US" sz="1000" dirty="0"/>
          </a:p>
        </p:txBody>
      </p:sp>
      <p:sp>
        <p:nvSpPr>
          <p:cNvPr id="19" name="Shape 17"/>
          <p:cNvSpPr/>
          <p:nvPr/>
        </p:nvSpPr>
        <p:spPr>
          <a:xfrm>
            <a:off x="3291840" y="1938528"/>
            <a:ext cx="1051560" cy="228600"/>
          </a:xfrm>
          <a:prstGeom prst="rect">
            <a:avLst/>
          </a:prstGeom>
          <a:solidFill>
            <a:srgbClr val="27AE60"/>
          </a:solidFill>
          <a:ln w="12700">
            <a:solidFill>
              <a:srgbClr val="27AE60"/>
            </a:solidFill>
            <a:prstDash val="solid"/>
          </a:ln>
        </p:spPr>
      </p:sp>
      <p:sp>
        <p:nvSpPr>
          <p:cNvPr id="20" name="Text 18"/>
          <p:cNvSpPr/>
          <p:nvPr/>
        </p:nvSpPr>
        <p:spPr>
          <a:xfrm>
            <a:off x="3291840" y="1938528"/>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LOW risk</a:t>
            </a:r>
            <a:endParaRPr lang="en-US" sz="800" dirty="0"/>
          </a:p>
        </p:txBody>
      </p:sp>
      <p:sp>
        <p:nvSpPr>
          <p:cNvPr id="21" name="Text 19"/>
          <p:cNvSpPr/>
          <p:nvPr/>
        </p:nvSpPr>
        <p:spPr>
          <a:xfrm>
            <a:off x="365760" y="2231136"/>
            <a:ext cx="3977640" cy="548640"/>
          </a:xfrm>
          <a:prstGeom prst="rect">
            <a:avLst/>
          </a:prstGeom>
          <a:noFill/>
          <a:ln/>
        </p:spPr>
        <p:txBody>
          <a:bodyPr wrap="square" lIns="0" tIns="0" rIns="0" bIns="0" rtlCol="0" anchor="t"/>
          <a:lstStyle/>
          <a:p>
            <a:pPr indent="0" marL="0">
              <a:buNone/>
            </a:pPr>
            <a:r>
              <a:rPr lang="en-US" sz="900" dirty="0">
                <a:solidFill>
                  <a:srgbClr val="334155"/>
                </a:solidFill>
              </a:rPr>
              <a:t>DI water (deionized, &lt;5 PPM) is manufacturer-safe on all major solar brands. Never use tap water or chemicals. Get a written service guarantee. GL insurance covers any damage claims. Take before/after photos on every job.</a:t>
            </a:r>
            <a:endParaRPr lang="en-US" sz="900" dirty="0"/>
          </a:p>
        </p:txBody>
      </p:sp>
      <p:sp>
        <p:nvSpPr>
          <p:cNvPr id="22" name="Shape 20"/>
          <p:cNvSpPr/>
          <p:nvPr/>
        </p:nvSpPr>
        <p:spPr>
          <a:xfrm>
            <a:off x="4736592" y="1847088"/>
            <a:ext cx="4160520" cy="1005840"/>
          </a:xfrm>
          <a:prstGeom prst="rect">
            <a:avLst/>
          </a:prstGeom>
          <a:solidFill>
            <a:srgbClr val="FFFFFF"/>
          </a:solidFill>
          <a:ln w="6350">
            <a:solidFill>
              <a:srgbClr val="E2E8F0"/>
            </a:solidFill>
            <a:prstDash val="solid"/>
          </a:ln>
        </p:spPr>
      </p:sp>
      <p:sp>
        <p:nvSpPr>
          <p:cNvPr id="23" name="Shape 21"/>
          <p:cNvSpPr/>
          <p:nvPr/>
        </p:nvSpPr>
        <p:spPr>
          <a:xfrm>
            <a:off x="4736592" y="1847088"/>
            <a:ext cx="4160520" cy="73152"/>
          </a:xfrm>
          <a:prstGeom prst="rect">
            <a:avLst/>
          </a:prstGeom>
          <a:solidFill>
            <a:srgbClr val="E67E22"/>
          </a:solidFill>
          <a:ln w="12700">
            <a:solidFill>
              <a:srgbClr val="E67E22"/>
            </a:solidFill>
            <a:prstDash val="solid"/>
          </a:ln>
        </p:spPr>
      </p:sp>
      <p:sp>
        <p:nvSpPr>
          <p:cNvPr id="24" name="Text 22"/>
          <p:cNvSpPr/>
          <p:nvPr/>
        </p:nvSpPr>
        <p:spPr>
          <a:xfrm>
            <a:off x="4828032" y="1938528"/>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Roger gets overwhelmed managing AI tools solo</a:t>
            </a:r>
            <a:endParaRPr lang="en-US" sz="1000" dirty="0"/>
          </a:p>
        </p:txBody>
      </p:sp>
      <p:sp>
        <p:nvSpPr>
          <p:cNvPr id="25" name="Shape 23"/>
          <p:cNvSpPr/>
          <p:nvPr/>
        </p:nvSpPr>
        <p:spPr>
          <a:xfrm>
            <a:off x="7754112" y="1938528"/>
            <a:ext cx="1051560" cy="228600"/>
          </a:xfrm>
          <a:prstGeom prst="rect">
            <a:avLst/>
          </a:prstGeom>
          <a:solidFill>
            <a:srgbClr val="E67E22"/>
          </a:solidFill>
          <a:ln w="12700">
            <a:solidFill>
              <a:srgbClr val="E67E22"/>
            </a:solidFill>
            <a:prstDash val="solid"/>
          </a:ln>
        </p:spPr>
      </p:sp>
      <p:sp>
        <p:nvSpPr>
          <p:cNvPr id="26" name="Text 24"/>
          <p:cNvSpPr/>
          <p:nvPr/>
        </p:nvSpPr>
        <p:spPr>
          <a:xfrm>
            <a:off x="7754112" y="1938528"/>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MED risk</a:t>
            </a:r>
            <a:endParaRPr lang="en-US" sz="800" dirty="0"/>
          </a:p>
        </p:txBody>
      </p:sp>
      <p:sp>
        <p:nvSpPr>
          <p:cNvPr id="27" name="Text 25"/>
          <p:cNvSpPr/>
          <p:nvPr/>
        </p:nvSpPr>
        <p:spPr>
          <a:xfrm>
            <a:off x="4828032" y="2231136"/>
            <a:ext cx="3977640" cy="548640"/>
          </a:xfrm>
          <a:prstGeom prst="rect">
            <a:avLst/>
          </a:prstGeom>
          <a:noFill/>
          <a:ln/>
        </p:spPr>
        <p:txBody>
          <a:bodyPr wrap="square" lIns="0" tIns="0" rIns="0" bIns="0" rtlCol="0" anchor="t"/>
          <a:lstStyle/>
          <a:p>
            <a:pPr indent="0" marL="0">
              <a:buNone/>
            </a:pPr>
            <a:r>
              <a:rPr lang="en-US" sz="900" dirty="0">
                <a:solidFill>
                  <a:srgbClr val="334155"/>
                </a:solidFill>
              </a:rPr>
              <a:t>Buster and Penelope are pre-built and deployed by Guerilla Holdings. Roger only touches: (1) show up and clean, (2) review his Telegram for any Buster alerts. All lead gen, scheduling, invoicing, and review requests are automated from Day 1.</a:t>
            </a:r>
            <a:endParaRPr lang="en-US" sz="900" dirty="0"/>
          </a:p>
        </p:txBody>
      </p:sp>
      <p:sp>
        <p:nvSpPr>
          <p:cNvPr id="28" name="Shape 26"/>
          <p:cNvSpPr/>
          <p:nvPr/>
        </p:nvSpPr>
        <p:spPr>
          <a:xfrm>
            <a:off x="274320" y="2916936"/>
            <a:ext cx="4160520" cy="1005840"/>
          </a:xfrm>
          <a:prstGeom prst="rect">
            <a:avLst/>
          </a:prstGeom>
          <a:solidFill>
            <a:srgbClr val="FFFFFF"/>
          </a:solidFill>
          <a:ln w="6350">
            <a:solidFill>
              <a:srgbClr val="E2E8F0"/>
            </a:solidFill>
            <a:prstDash val="solid"/>
          </a:ln>
        </p:spPr>
      </p:sp>
      <p:sp>
        <p:nvSpPr>
          <p:cNvPr id="29" name="Shape 27"/>
          <p:cNvSpPr/>
          <p:nvPr/>
        </p:nvSpPr>
        <p:spPr>
          <a:xfrm>
            <a:off x="274320" y="2916936"/>
            <a:ext cx="4160520" cy="73152"/>
          </a:xfrm>
          <a:prstGeom prst="rect">
            <a:avLst/>
          </a:prstGeom>
          <a:solidFill>
            <a:srgbClr val="27AE60"/>
          </a:solidFill>
          <a:ln w="12700">
            <a:solidFill>
              <a:srgbClr val="27AE60"/>
            </a:solidFill>
            <a:prstDash val="solid"/>
          </a:ln>
        </p:spPr>
      </p:sp>
      <p:sp>
        <p:nvSpPr>
          <p:cNvPr id="30" name="Text 28"/>
          <p:cNvSpPr/>
          <p:nvPr/>
        </p:nvSpPr>
        <p:spPr>
          <a:xfrm>
            <a:off x="365760" y="3008376"/>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Competition from new entrant with more capital</a:t>
            </a:r>
            <a:endParaRPr lang="en-US" sz="1000" dirty="0"/>
          </a:p>
        </p:txBody>
      </p:sp>
      <p:sp>
        <p:nvSpPr>
          <p:cNvPr id="31" name="Shape 29"/>
          <p:cNvSpPr/>
          <p:nvPr/>
        </p:nvSpPr>
        <p:spPr>
          <a:xfrm>
            <a:off x="3291840" y="3008376"/>
            <a:ext cx="1051560" cy="228600"/>
          </a:xfrm>
          <a:prstGeom prst="rect">
            <a:avLst/>
          </a:prstGeom>
          <a:solidFill>
            <a:srgbClr val="27AE60"/>
          </a:solidFill>
          <a:ln w="12700">
            <a:solidFill>
              <a:srgbClr val="27AE60"/>
            </a:solidFill>
            <a:prstDash val="solid"/>
          </a:ln>
        </p:spPr>
      </p:sp>
      <p:sp>
        <p:nvSpPr>
          <p:cNvPr id="32" name="Text 30"/>
          <p:cNvSpPr/>
          <p:nvPr/>
        </p:nvSpPr>
        <p:spPr>
          <a:xfrm>
            <a:off x="3291840" y="3008376"/>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LOW risk</a:t>
            </a:r>
            <a:endParaRPr lang="en-US" sz="800" dirty="0"/>
          </a:p>
        </p:txBody>
      </p:sp>
      <p:sp>
        <p:nvSpPr>
          <p:cNvPr id="33" name="Text 31"/>
          <p:cNvSpPr/>
          <p:nvPr/>
        </p:nvSpPr>
        <p:spPr>
          <a:xfrm>
            <a:off x="365760" y="3300984"/>
            <a:ext cx="3977640" cy="548640"/>
          </a:xfrm>
          <a:prstGeom prst="rect">
            <a:avLst/>
          </a:prstGeom>
          <a:noFill/>
          <a:ln/>
        </p:spPr>
        <p:txBody>
          <a:bodyPr wrap="square" lIns="0" tIns="0" rIns="0" bIns="0" rtlCol="0" anchor="t"/>
          <a:lstStyle/>
          <a:p>
            <a:pPr indent="0" marL="0">
              <a:buNone/>
            </a:pPr>
            <a:r>
              <a:rPr lang="en-US" sz="900" dirty="0">
                <a:solidFill>
                  <a:srgbClr val="334155"/>
                </a:solidFill>
              </a:rPr>
              <a:t>Route density and HOA contracts are a geographic moat. Once Roger owns a neighborhood's recurring cleaning schedule, a new entrant can't access those homes without Roger choosing to leave. The moat grows every month.</a:t>
            </a:r>
            <a:endParaRPr lang="en-US" sz="900" dirty="0"/>
          </a:p>
        </p:txBody>
      </p:sp>
      <p:sp>
        <p:nvSpPr>
          <p:cNvPr id="34" name="Shape 32"/>
          <p:cNvSpPr/>
          <p:nvPr/>
        </p:nvSpPr>
        <p:spPr>
          <a:xfrm>
            <a:off x="4736592" y="2916936"/>
            <a:ext cx="4160520" cy="1005840"/>
          </a:xfrm>
          <a:prstGeom prst="rect">
            <a:avLst/>
          </a:prstGeom>
          <a:solidFill>
            <a:srgbClr val="FFFFFF"/>
          </a:solidFill>
          <a:ln w="6350">
            <a:solidFill>
              <a:srgbClr val="E2E8F0"/>
            </a:solidFill>
            <a:prstDash val="solid"/>
          </a:ln>
        </p:spPr>
      </p:sp>
      <p:sp>
        <p:nvSpPr>
          <p:cNvPr id="35" name="Shape 33"/>
          <p:cNvSpPr/>
          <p:nvPr/>
        </p:nvSpPr>
        <p:spPr>
          <a:xfrm>
            <a:off x="4736592" y="2916936"/>
            <a:ext cx="4160520" cy="73152"/>
          </a:xfrm>
          <a:prstGeom prst="rect">
            <a:avLst/>
          </a:prstGeom>
          <a:solidFill>
            <a:srgbClr val="E67E22"/>
          </a:solidFill>
          <a:ln w="12700">
            <a:solidFill>
              <a:srgbClr val="E67E22"/>
            </a:solidFill>
            <a:prstDash val="solid"/>
          </a:ln>
        </p:spPr>
      </p:sp>
      <p:sp>
        <p:nvSpPr>
          <p:cNvPr id="36" name="Text 34"/>
          <p:cNvSpPr/>
          <p:nvPr/>
        </p:nvSpPr>
        <p:spPr>
          <a:xfrm>
            <a:off x="4828032" y="3008376"/>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Seasonal slowdown (winter rain = 'panels self-clean')</a:t>
            </a:r>
            <a:endParaRPr lang="en-US" sz="1000" dirty="0"/>
          </a:p>
        </p:txBody>
      </p:sp>
      <p:sp>
        <p:nvSpPr>
          <p:cNvPr id="37" name="Shape 35"/>
          <p:cNvSpPr/>
          <p:nvPr/>
        </p:nvSpPr>
        <p:spPr>
          <a:xfrm>
            <a:off x="7754112" y="3008376"/>
            <a:ext cx="1051560" cy="228600"/>
          </a:xfrm>
          <a:prstGeom prst="rect">
            <a:avLst/>
          </a:prstGeom>
          <a:solidFill>
            <a:srgbClr val="E67E22"/>
          </a:solidFill>
          <a:ln w="12700">
            <a:solidFill>
              <a:srgbClr val="E67E22"/>
            </a:solidFill>
            <a:prstDash val="solid"/>
          </a:ln>
        </p:spPr>
      </p:sp>
      <p:sp>
        <p:nvSpPr>
          <p:cNvPr id="38" name="Text 36"/>
          <p:cNvSpPr/>
          <p:nvPr/>
        </p:nvSpPr>
        <p:spPr>
          <a:xfrm>
            <a:off x="7754112" y="3008376"/>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MED risk</a:t>
            </a:r>
            <a:endParaRPr lang="en-US" sz="800" dirty="0"/>
          </a:p>
        </p:txBody>
      </p:sp>
      <p:sp>
        <p:nvSpPr>
          <p:cNvPr id="39" name="Text 37"/>
          <p:cNvSpPr/>
          <p:nvPr/>
        </p:nvSpPr>
        <p:spPr>
          <a:xfrm>
            <a:off x="4828032" y="3300984"/>
            <a:ext cx="3977640" cy="548640"/>
          </a:xfrm>
          <a:prstGeom prst="rect">
            <a:avLst/>
          </a:prstGeom>
          <a:noFill/>
          <a:ln/>
        </p:spPr>
        <p:txBody>
          <a:bodyPr wrap="square" lIns="0" tIns="0" rIns="0" bIns="0" rtlCol="0" anchor="t"/>
          <a:lstStyle/>
          <a:p>
            <a:pPr indent="0" marL="0">
              <a:buNone/>
            </a:pPr>
            <a:r>
              <a:rPr lang="en-US" sz="900" dirty="0">
                <a:solidFill>
                  <a:srgbClr val="334155"/>
                </a:solidFill>
              </a:rPr>
              <a:t>Winter rain leaves mineral deposits and algae — post-rain cleaning is actually urgent (warranty compliance). Run Buster 'storm response' posts after every rain event. NorCal Solar Clean closes Nov–March. Roger stays open and captures their customers.</a:t>
            </a:r>
            <a:endParaRPr lang="en-US" sz="900" dirty="0"/>
          </a:p>
        </p:txBody>
      </p:sp>
      <p:sp>
        <p:nvSpPr>
          <p:cNvPr id="40" name="Shape 38"/>
          <p:cNvSpPr/>
          <p:nvPr/>
        </p:nvSpPr>
        <p:spPr>
          <a:xfrm>
            <a:off x="274320" y="3986784"/>
            <a:ext cx="4160520" cy="1005840"/>
          </a:xfrm>
          <a:prstGeom prst="rect">
            <a:avLst/>
          </a:prstGeom>
          <a:solidFill>
            <a:srgbClr val="FFFFFF"/>
          </a:solidFill>
          <a:ln w="6350">
            <a:solidFill>
              <a:srgbClr val="E2E8F0"/>
            </a:solidFill>
            <a:prstDash val="solid"/>
          </a:ln>
        </p:spPr>
      </p:sp>
      <p:sp>
        <p:nvSpPr>
          <p:cNvPr id="41" name="Shape 39"/>
          <p:cNvSpPr/>
          <p:nvPr/>
        </p:nvSpPr>
        <p:spPr>
          <a:xfrm>
            <a:off x="274320" y="3986784"/>
            <a:ext cx="4160520" cy="73152"/>
          </a:xfrm>
          <a:prstGeom prst="rect">
            <a:avLst/>
          </a:prstGeom>
          <a:solidFill>
            <a:srgbClr val="27AE60"/>
          </a:solidFill>
          <a:ln w="12700">
            <a:solidFill>
              <a:srgbClr val="27AE60"/>
            </a:solidFill>
            <a:prstDash val="solid"/>
          </a:ln>
        </p:spPr>
      </p:sp>
      <p:sp>
        <p:nvSpPr>
          <p:cNvPr id="42" name="Text 40"/>
          <p:cNvSpPr/>
          <p:nvPr/>
        </p:nvSpPr>
        <p:spPr>
          <a:xfrm>
            <a:off x="365760" y="4078224"/>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Physical injury on roof (liability)</a:t>
            </a:r>
            <a:endParaRPr lang="en-US" sz="1000" dirty="0"/>
          </a:p>
        </p:txBody>
      </p:sp>
      <p:sp>
        <p:nvSpPr>
          <p:cNvPr id="43" name="Shape 41"/>
          <p:cNvSpPr/>
          <p:nvPr/>
        </p:nvSpPr>
        <p:spPr>
          <a:xfrm>
            <a:off x="3291840" y="4078224"/>
            <a:ext cx="1051560" cy="228600"/>
          </a:xfrm>
          <a:prstGeom prst="rect">
            <a:avLst/>
          </a:prstGeom>
          <a:solidFill>
            <a:srgbClr val="27AE60"/>
          </a:solidFill>
          <a:ln w="12700">
            <a:solidFill>
              <a:srgbClr val="27AE60"/>
            </a:solidFill>
            <a:prstDash val="solid"/>
          </a:ln>
        </p:spPr>
      </p:sp>
      <p:sp>
        <p:nvSpPr>
          <p:cNvPr id="44" name="Text 42"/>
          <p:cNvSpPr/>
          <p:nvPr/>
        </p:nvSpPr>
        <p:spPr>
          <a:xfrm>
            <a:off x="3291840" y="4078224"/>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LOW risk</a:t>
            </a:r>
            <a:endParaRPr lang="en-US" sz="800" dirty="0"/>
          </a:p>
        </p:txBody>
      </p:sp>
      <p:sp>
        <p:nvSpPr>
          <p:cNvPr id="45" name="Text 43"/>
          <p:cNvSpPr/>
          <p:nvPr/>
        </p:nvSpPr>
        <p:spPr>
          <a:xfrm>
            <a:off x="365760" y="4370832"/>
            <a:ext cx="3977640" cy="548640"/>
          </a:xfrm>
          <a:prstGeom prst="rect">
            <a:avLst/>
          </a:prstGeom>
          <a:noFill/>
          <a:ln/>
        </p:spPr>
        <p:txBody>
          <a:bodyPr wrap="square" lIns="0" tIns="0" rIns="0" bIns="0" rtlCol="0" anchor="t"/>
          <a:lstStyle/>
          <a:p>
            <a:pPr indent="0" marL="0">
              <a:buNone/>
            </a:pPr>
            <a:r>
              <a:rPr lang="en-US" sz="900" dirty="0">
                <a:solidFill>
                  <a:srgbClr val="334155"/>
                </a:solidFill>
              </a:rPr>
              <a:t>GL insurance required from Day 1. Water-fed pole system means Roger cleans most panels from the ground or ladder without roof walking. Harness required for any elevated work. OSHA-compliant protocol documented and followed.</a:t>
            </a:r>
            <a:endParaRPr lang="en-US" sz="900" dirty="0"/>
          </a:p>
        </p:txBody>
      </p:sp>
      <p:sp>
        <p:nvSpPr>
          <p:cNvPr id="46" name="Shape 44"/>
          <p:cNvSpPr/>
          <p:nvPr/>
        </p:nvSpPr>
        <p:spPr>
          <a:xfrm>
            <a:off x="4736592" y="3986784"/>
            <a:ext cx="4160520" cy="1005840"/>
          </a:xfrm>
          <a:prstGeom prst="rect">
            <a:avLst/>
          </a:prstGeom>
          <a:solidFill>
            <a:srgbClr val="FFFFFF"/>
          </a:solidFill>
          <a:ln w="6350">
            <a:solidFill>
              <a:srgbClr val="E2E8F0"/>
            </a:solidFill>
            <a:prstDash val="solid"/>
          </a:ln>
        </p:spPr>
      </p:sp>
      <p:sp>
        <p:nvSpPr>
          <p:cNvPr id="47" name="Shape 45"/>
          <p:cNvSpPr/>
          <p:nvPr/>
        </p:nvSpPr>
        <p:spPr>
          <a:xfrm>
            <a:off x="4736592" y="3986784"/>
            <a:ext cx="4160520" cy="73152"/>
          </a:xfrm>
          <a:prstGeom prst="rect">
            <a:avLst/>
          </a:prstGeom>
          <a:solidFill>
            <a:srgbClr val="27AE60"/>
          </a:solidFill>
          <a:ln w="12700">
            <a:solidFill>
              <a:srgbClr val="27AE60"/>
            </a:solidFill>
            <a:prstDash val="solid"/>
          </a:ln>
        </p:spPr>
      </p:sp>
      <p:sp>
        <p:nvSpPr>
          <p:cNvPr id="48" name="Text 46"/>
          <p:cNvSpPr/>
          <p:nvPr/>
        </p:nvSpPr>
        <p:spPr>
          <a:xfrm>
            <a:off x="4828032" y="4078224"/>
            <a:ext cx="2834640" cy="274320"/>
          </a:xfrm>
          <a:prstGeom prst="rect">
            <a:avLst/>
          </a:prstGeom>
          <a:noFill/>
          <a:ln/>
        </p:spPr>
        <p:txBody>
          <a:bodyPr wrap="square" lIns="0" tIns="0" rIns="0" bIns="0" rtlCol="0" anchor="ctr"/>
          <a:lstStyle/>
          <a:p>
            <a:pPr indent="0" marL="0">
              <a:buNone/>
            </a:pPr>
            <a:r>
              <a:rPr lang="en-US" sz="1000" b="1" dirty="0">
                <a:solidFill>
                  <a:srgbClr val="0B1F3A"/>
                </a:solidFill>
              </a:rPr>
              <a:t>Customer churns after first clean</a:t>
            </a:r>
            <a:endParaRPr lang="en-US" sz="1000" dirty="0"/>
          </a:p>
        </p:txBody>
      </p:sp>
      <p:sp>
        <p:nvSpPr>
          <p:cNvPr id="49" name="Shape 47"/>
          <p:cNvSpPr/>
          <p:nvPr/>
        </p:nvSpPr>
        <p:spPr>
          <a:xfrm>
            <a:off x="7754112" y="4078224"/>
            <a:ext cx="1051560" cy="228600"/>
          </a:xfrm>
          <a:prstGeom prst="rect">
            <a:avLst/>
          </a:prstGeom>
          <a:solidFill>
            <a:srgbClr val="27AE60"/>
          </a:solidFill>
          <a:ln w="12700">
            <a:solidFill>
              <a:srgbClr val="27AE60"/>
            </a:solidFill>
            <a:prstDash val="solid"/>
          </a:ln>
        </p:spPr>
      </p:sp>
      <p:sp>
        <p:nvSpPr>
          <p:cNvPr id="50" name="Text 48"/>
          <p:cNvSpPr/>
          <p:nvPr/>
        </p:nvSpPr>
        <p:spPr>
          <a:xfrm>
            <a:off x="7754112" y="4078224"/>
            <a:ext cx="1051560" cy="228600"/>
          </a:xfrm>
          <a:prstGeom prst="rect">
            <a:avLst/>
          </a:prstGeom>
          <a:noFill/>
          <a:ln/>
        </p:spPr>
        <p:txBody>
          <a:bodyPr wrap="square" lIns="0" tIns="0" rIns="0" bIns="0" rtlCol="0" anchor="ctr"/>
          <a:lstStyle/>
          <a:p>
            <a:pPr algn="ctr" indent="0" marL="0">
              <a:buNone/>
            </a:pPr>
            <a:r>
              <a:rPr lang="en-US" sz="800" b="1" dirty="0">
                <a:solidFill>
                  <a:srgbClr val="FFFFFF"/>
                </a:solidFill>
              </a:rPr>
              <a:t>LOW risk</a:t>
            </a:r>
            <a:endParaRPr lang="en-US" sz="800" dirty="0"/>
          </a:p>
        </p:txBody>
      </p:sp>
      <p:sp>
        <p:nvSpPr>
          <p:cNvPr id="51" name="Text 49"/>
          <p:cNvSpPr/>
          <p:nvPr/>
        </p:nvSpPr>
        <p:spPr>
          <a:xfrm>
            <a:off x="4828032" y="4370832"/>
            <a:ext cx="3977640" cy="548640"/>
          </a:xfrm>
          <a:prstGeom prst="rect">
            <a:avLst/>
          </a:prstGeom>
          <a:noFill/>
          <a:ln/>
        </p:spPr>
        <p:txBody>
          <a:bodyPr wrap="square" lIns="0" tIns="0" rIns="0" bIns="0" rtlCol="0" anchor="t"/>
          <a:lstStyle/>
          <a:p>
            <a:pPr indent="0" marL="0">
              <a:buNone/>
            </a:pPr>
            <a:r>
              <a:rPr lang="en-US" sz="900" dirty="0">
                <a:solidFill>
                  <a:srgbClr val="334155"/>
                </a:solidFill>
              </a:rPr>
              <a:t>Auto-text after each job: 'Thanks for choosing SunRoute! Your next cleaning is in 6 months — we'll remind you. Lock in our subscriber rate: [link].' 35% first-service subscriber conversion expected. Annual savings report emailed each January keeps subscribers.</a:t>
            </a:r>
            <a:endParaRPr lang="en-US" sz="9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0B1F3A"/>
        </a:solidFill>
      </p:bgPr>
    </p:bg>
    <p:spTree>
      <p:nvGrpSpPr>
        <p:cNvPr id="1" name=""/>
        <p:cNvGrpSpPr/>
        <p:nvPr/>
      </p:nvGrpSpPr>
      <p:grpSpPr>
        <a:xfrm>
          <a:off x="0" y="0"/>
          <a:ext cx="0" cy="0"/>
          <a:chOff x="0" y="0"/>
          <a:chExt cx="0" cy="0"/>
        </a:xfrm>
      </p:grpSpPr>
      <p:sp>
        <p:nvSpPr>
          <p:cNvPr id="2" name="Shape 0"/>
          <p:cNvSpPr/>
          <p:nvPr/>
        </p:nvSpPr>
        <p:spPr>
          <a:xfrm>
            <a:off x="-457200" y="2926080"/>
            <a:ext cx="3840480" cy="3840480"/>
          </a:xfrm>
          <a:prstGeom prst="ellipse">
            <a:avLst/>
          </a:prstGeom>
          <a:solidFill>
            <a:srgbClr val="028090">
              <a:alpha val="10000"/>
            </a:srgbClr>
          </a:solidFill>
          <a:ln w="12700">
            <a:solidFill>
              <a:srgbClr val="028090">
                <a:alpha val="20000"/>
              </a:srgbClr>
            </a:solidFill>
            <a:prstDash val="solid"/>
          </a:ln>
        </p:spPr>
      </p:sp>
      <p:sp>
        <p:nvSpPr>
          <p:cNvPr id="3" name="Shape 1"/>
          <p:cNvSpPr/>
          <p:nvPr/>
        </p:nvSpPr>
        <p:spPr>
          <a:xfrm>
            <a:off x="6675120" y="-1097280"/>
            <a:ext cx="4389120" cy="4389120"/>
          </a:xfrm>
          <a:prstGeom prst="ellipse">
            <a:avLst/>
          </a:prstGeom>
          <a:solidFill>
            <a:srgbClr val="F4B942">
              <a:alpha val="12000"/>
            </a:srgbClr>
          </a:solidFill>
          <a:ln w="12700">
            <a:solidFill>
              <a:srgbClr val="F4B942">
                <a:alpha val="22000"/>
              </a:srgbClr>
            </a:solidFill>
            <a:prstDash val="solid"/>
          </a:ln>
        </p:spPr>
      </p:sp>
      <p:sp>
        <p:nvSpPr>
          <p:cNvPr id="4" name="Shape 2"/>
          <p:cNvSpPr/>
          <p:nvPr/>
        </p:nvSpPr>
        <p:spPr>
          <a:xfrm>
            <a:off x="0" y="0"/>
            <a:ext cx="137160" cy="5143500"/>
          </a:xfrm>
          <a:prstGeom prst="rect">
            <a:avLst/>
          </a:prstGeom>
          <a:solidFill>
            <a:srgbClr val="F4B942"/>
          </a:solidFill>
          <a:ln w="12700">
            <a:solidFill>
              <a:srgbClr val="F4B942"/>
            </a:solidFill>
            <a:prstDash val="solid"/>
          </a:ln>
        </p:spPr>
      </p:sp>
      <p:sp>
        <p:nvSpPr>
          <p:cNvPr id="5" name="Shape 3"/>
          <p:cNvSpPr/>
          <p:nvPr/>
        </p:nvSpPr>
        <p:spPr>
          <a:xfrm>
            <a:off x="0" y="4846320"/>
            <a:ext cx="9144000" cy="292608"/>
          </a:xfrm>
          <a:prstGeom prst="rect">
            <a:avLst/>
          </a:prstGeom>
          <a:solidFill>
            <a:srgbClr val="028090"/>
          </a:solidFill>
          <a:ln w="12700">
            <a:solidFill>
              <a:srgbClr val="028090"/>
            </a:solidFill>
            <a:prstDash val="solid"/>
          </a:ln>
        </p:spPr>
      </p:sp>
      <p:sp>
        <p:nvSpPr>
          <p:cNvPr id="6" name="Text 4"/>
          <p:cNvSpPr/>
          <p:nvPr/>
        </p:nvSpPr>
        <p:spPr>
          <a:xfrm>
            <a:off x="411480" y="822960"/>
            <a:ext cx="8229600" cy="502920"/>
          </a:xfrm>
          <a:prstGeom prst="rect">
            <a:avLst/>
          </a:prstGeom>
          <a:noFill/>
          <a:ln/>
        </p:spPr>
        <p:txBody>
          <a:bodyPr wrap="square" lIns="0" tIns="0" rIns="0" bIns="0" rtlCol="0" anchor="ctr"/>
          <a:lstStyle/>
          <a:p>
            <a:pPr indent="0" marL="0">
              <a:buNone/>
            </a:pPr>
            <a:r>
              <a:rPr lang="en-US" sz="2400" b="1" dirty="0">
                <a:solidFill>
                  <a:srgbClr val="94A3B8"/>
                </a:solidFill>
              </a:rPr>
              <a:t>8 competitors in this market.</a:t>
            </a:r>
            <a:endParaRPr lang="en-US" sz="2400" dirty="0"/>
          </a:p>
        </p:txBody>
      </p:sp>
      <p:sp>
        <p:nvSpPr>
          <p:cNvPr id="7" name="Text 5"/>
          <p:cNvSpPr/>
          <p:nvPr/>
        </p:nvSpPr>
        <p:spPr>
          <a:xfrm>
            <a:off x="411480" y="1325880"/>
            <a:ext cx="8229600" cy="502920"/>
          </a:xfrm>
          <a:prstGeom prst="rect">
            <a:avLst/>
          </a:prstGeom>
          <a:noFill/>
          <a:ln/>
        </p:spPr>
        <p:txBody>
          <a:bodyPr wrap="square" lIns="0" tIns="0" rIns="0" bIns="0" rtlCol="0" anchor="ctr"/>
          <a:lstStyle/>
          <a:p>
            <a:pPr indent="0" marL="0">
              <a:buNone/>
            </a:pPr>
            <a:r>
              <a:rPr lang="en-US" sz="2400" b="1" dirty="0">
                <a:solidFill>
                  <a:srgbClr val="FFFFFF"/>
                </a:solidFill>
              </a:rPr>
              <a:t>None have subscriptions.</a:t>
            </a:r>
            <a:endParaRPr lang="en-US" sz="2400" dirty="0"/>
          </a:p>
        </p:txBody>
      </p:sp>
      <p:sp>
        <p:nvSpPr>
          <p:cNvPr id="8" name="Text 6"/>
          <p:cNvSpPr/>
          <p:nvPr/>
        </p:nvSpPr>
        <p:spPr>
          <a:xfrm>
            <a:off x="411480" y="1810512"/>
            <a:ext cx="8229600" cy="502920"/>
          </a:xfrm>
          <a:prstGeom prst="rect">
            <a:avLst/>
          </a:prstGeom>
          <a:noFill/>
          <a:ln/>
        </p:spPr>
        <p:txBody>
          <a:bodyPr wrap="square" lIns="0" tIns="0" rIns="0" bIns="0" rtlCol="0" anchor="ctr"/>
          <a:lstStyle/>
          <a:p>
            <a:pPr indent="0" marL="0">
              <a:buNone/>
            </a:pPr>
            <a:r>
              <a:rPr lang="en-US" sz="2400" b="1" dirty="0">
                <a:solidFill>
                  <a:srgbClr val="FFFFFF"/>
                </a:solidFill>
              </a:rPr>
              <a:t>None are in new subdivisions.</a:t>
            </a:r>
            <a:endParaRPr lang="en-US" sz="2400" dirty="0"/>
          </a:p>
        </p:txBody>
      </p:sp>
      <p:sp>
        <p:nvSpPr>
          <p:cNvPr id="9" name="Text 7"/>
          <p:cNvSpPr/>
          <p:nvPr/>
        </p:nvSpPr>
        <p:spPr>
          <a:xfrm>
            <a:off x="411480" y="2295144"/>
            <a:ext cx="8229600" cy="502920"/>
          </a:xfrm>
          <a:prstGeom prst="rect">
            <a:avLst/>
          </a:prstGeom>
          <a:noFill/>
          <a:ln/>
        </p:spPr>
        <p:txBody>
          <a:bodyPr wrap="square" lIns="0" tIns="0" rIns="0" bIns="0" rtlCol="0" anchor="ctr"/>
          <a:lstStyle/>
          <a:p>
            <a:pPr indent="0" marL="0">
              <a:buNone/>
            </a:pPr>
            <a:r>
              <a:rPr lang="en-US" sz="2400" b="1" dirty="0">
                <a:solidFill>
                  <a:srgbClr val="F4B942"/>
                </a:solidFill>
              </a:rPr>
              <a:t>None have AI.</a:t>
            </a:r>
            <a:endParaRPr lang="en-US" sz="2400" dirty="0"/>
          </a:p>
        </p:txBody>
      </p:sp>
      <p:sp>
        <p:nvSpPr>
          <p:cNvPr id="10" name="Text 8"/>
          <p:cNvSpPr/>
          <p:nvPr/>
        </p:nvSpPr>
        <p:spPr>
          <a:xfrm>
            <a:off x="411480" y="2834640"/>
            <a:ext cx="8229600" cy="566928"/>
          </a:xfrm>
          <a:prstGeom prst="rect">
            <a:avLst/>
          </a:prstGeom>
          <a:noFill/>
          <a:ln/>
        </p:spPr>
        <p:txBody>
          <a:bodyPr wrap="square" lIns="0" tIns="0" rIns="0" bIns="0" rtlCol="0" anchor="ctr"/>
          <a:lstStyle/>
          <a:p>
            <a:pPr indent="0" marL="0">
              <a:buNone/>
            </a:pPr>
            <a:r>
              <a:rPr lang="en-US" sz="3000" b="1" dirty="0">
                <a:solidFill>
                  <a:srgbClr val="02C39A"/>
                </a:solidFill>
              </a:rPr>
              <a:t>Roger does.</a:t>
            </a:r>
            <a:endParaRPr lang="en-US" sz="3000" dirty="0"/>
          </a:p>
        </p:txBody>
      </p:sp>
      <p:sp>
        <p:nvSpPr>
          <p:cNvPr id="11" name="Shape 9"/>
          <p:cNvSpPr/>
          <p:nvPr/>
        </p:nvSpPr>
        <p:spPr>
          <a:xfrm>
            <a:off x="411480" y="3547872"/>
            <a:ext cx="3200400" cy="594360"/>
          </a:xfrm>
          <a:prstGeom prst="rect">
            <a:avLst/>
          </a:prstGeom>
          <a:solidFill>
            <a:srgbClr val="028090"/>
          </a:solidFill>
          <a:ln w="12700">
            <a:solidFill>
              <a:srgbClr val="028090"/>
            </a:solidFill>
            <a:prstDash val="solid"/>
          </a:ln>
        </p:spPr>
      </p:sp>
      <p:sp>
        <p:nvSpPr>
          <p:cNvPr id="12" name="Text 10"/>
          <p:cNvSpPr/>
          <p:nvPr/>
        </p:nvSpPr>
        <p:spPr>
          <a:xfrm>
            <a:off x="411480" y="3547872"/>
            <a:ext cx="3200400" cy="594360"/>
          </a:xfrm>
          <a:prstGeom prst="rect">
            <a:avLst/>
          </a:prstGeom>
          <a:noFill/>
          <a:ln/>
        </p:spPr>
        <p:txBody>
          <a:bodyPr wrap="square" lIns="0" tIns="0" rIns="0" bIns="0" rtlCol="0" anchor="ctr"/>
          <a:lstStyle/>
          <a:p>
            <a:pPr algn="ctr" indent="0" marL="0">
              <a:buNone/>
            </a:pPr>
            <a:r>
              <a:rPr lang="en-US" sz="1200" b="1" dirty="0">
                <a:solidFill>
                  <a:srgbClr val="FFFFFF"/>
                </a:solidFill>
              </a:rPr>
              <a:t>START THIS WEEKEND →</a:t>
            </a:r>
            <a:endParaRPr lang="en-US" sz="1200" dirty="0"/>
          </a:p>
        </p:txBody>
      </p:sp>
      <p:sp>
        <p:nvSpPr>
          <p:cNvPr id="13" name="Shape 11"/>
          <p:cNvSpPr/>
          <p:nvPr/>
        </p:nvSpPr>
        <p:spPr>
          <a:xfrm>
            <a:off x="3794760" y="3547872"/>
            <a:ext cx="3474720" cy="594360"/>
          </a:xfrm>
          <a:prstGeom prst="rect">
            <a:avLst/>
          </a:prstGeom>
          <a:solidFill>
            <a:srgbClr val="F4B942"/>
          </a:solidFill>
          <a:ln w="12700">
            <a:solidFill>
              <a:srgbClr val="F4B942"/>
            </a:solidFill>
            <a:prstDash val="solid"/>
          </a:ln>
        </p:spPr>
      </p:sp>
      <p:sp>
        <p:nvSpPr>
          <p:cNvPr id="14" name="Text 12"/>
          <p:cNvSpPr/>
          <p:nvPr/>
        </p:nvSpPr>
        <p:spPr>
          <a:xfrm>
            <a:off x="3794760" y="3547872"/>
            <a:ext cx="3474720" cy="594360"/>
          </a:xfrm>
          <a:prstGeom prst="rect">
            <a:avLst/>
          </a:prstGeom>
          <a:noFill/>
          <a:ln/>
        </p:spPr>
        <p:txBody>
          <a:bodyPr wrap="square" lIns="0" tIns="0" rIns="0" bIns="0" rtlCol="0" anchor="ctr"/>
          <a:lstStyle/>
          <a:p>
            <a:pPr algn="ctr" indent="0" marL="0">
              <a:buNone/>
            </a:pPr>
            <a:r>
              <a:rPr lang="en-US" sz="1200" b="1" dirty="0">
                <a:solidFill>
                  <a:srgbClr val="0B1F3A"/>
                </a:solidFill>
              </a:rPr>
              <a:t>DEPLOY BUSTER IN 24 HOURS →</a:t>
            </a:r>
            <a:endParaRPr lang="en-US" sz="1200" dirty="0"/>
          </a:p>
        </p:txBody>
      </p:sp>
      <p:sp>
        <p:nvSpPr>
          <p:cNvPr id="15" name="Text 13"/>
          <p:cNvSpPr/>
          <p:nvPr/>
        </p:nvSpPr>
        <p:spPr>
          <a:xfrm>
            <a:off x="411480" y="4645152"/>
            <a:ext cx="8229600" cy="274320"/>
          </a:xfrm>
          <a:prstGeom prst="rect">
            <a:avLst/>
          </a:prstGeom>
          <a:noFill/>
          <a:ln/>
        </p:spPr>
        <p:txBody>
          <a:bodyPr wrap="square" lIns="0" tIns="0" rIns="0" bIns="0" rtlCol="0" anchor="ctr"/>
          <a:lstStyle/>
          <a:p>
            <a:pPr indent="0" marL="0">
              <a:buNone/>
            </a:pPr>
            <a:r>
              <a:rPr lang="en-US" sz="1000" dirty="0">
                <a:solidFill>
                  <a:srgbClr val="94A3B8"/>
                </a:solidFill>
              </a:rPr>
              <a:t>Guerilla Holdings LLC  ·  AI-Native Business Operations  ·  Rocklin, CA  ·  May 2026</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SunRoute Solar Cleaning — Full Competitive Intelligence + 3-Year Plan v2</dc:title>
  <dc:subject>PptxGenJS Presentation</dc:subject>
  <dc:creator>Guerilla Holdings LLC / Roger</dc:creator>
  <cp:lastModifiedBy>Guerilla Holdings LLC / Roger</cp:lastModifiedBy>
  <cp:revision>1</cp:revision>
  <dcterms:created xsi:type="dcterms:W3CDTF">2026-05-04T22:46:48Z</dcterms:created>
  <dcterms:modified xsi:type="dcterms:W3CDTF">2026-05-04T22:46:48Z</dcterms:modified>
</cp:coreProperties>
</file>